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e25d0569-9644-69f8-9e77-a50a0ae7c823}">
          <p14:sldIdLst>
            <p14:sldId id="256"/>
            <p14:sldId id="257"/>
          </p14:sldIdLst>
        </p14:section>
        <p14:section name="Requirements" id="{c9a4f528-db4e-87c6-ba8e-659c481d8088}">
          <p14:sldIdLst>
            <p14:sldId id="258"/>
            <p14:sldId id="259"/>
            <p14:sldId id="260"/>
            <p14:sldId id="261"/>
          </p14:sldIdLst>
        </p14:section>
        <p14:section name="Testing" id="{3a673ffe-8a9c-850f-48c6-a81a61770e61}">
          <p14:sldIdLst>
            <p14:sldId id="262"/>
            <p14:sldId id="263"/>
          </p14:sldIdLst>
        </p14:section>
        <p14:section name="Results" id="{5a8bd55c-4d76-4a10-a022-e6f0290755c3}">
          <p14:sldIdLst>
            <p14:sldId id="264"/>
            <p14:sldId id="265"/>
          </p14:sldIdLst>
        </p14:section>
        <p14:section name="Recommendation" id="{91e47869-de7e-591d-9d9b-2427193c912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343B"/>
                </a:solidFill>
                <a:latin typeface="+mn-lt"/>
              </a:defRPr>
            </a:pPr>
            <a:r>
              <a:rPr sz="1100" b="0" i="0" u="none" strike="noStrike">
                <a:solidFill>
                  <a:srgbClr val="12343B"/>
                </a:solidFill>
                <a:latin typeface="+mn-lt"/>
              </a:rPr>
              <a:t>Ticket length, words (rows 9000–9999) [M]</a:t>
            </a:r>
          </a:p>
        </c:rich>
      </c:tx>
      <c:layout/>
      <c:overlay val="0"/>
    </c:title>
    <c:autoTitleDeleted val="0"/>
    <c:plotArea>
      <c:layout/>
      <c:barChart>
        <c:barDir val="col"/>
        <c:grouping val="clustered"/>
        <c:varyColors val="0"/>
        <c:ser>
          <c:idx val="0"/>
          <c:order val="0"/>
          <c:tx>
            <c:strRef>
              <c:f>Sheet1!$B$1</c:f>
              <c:strCache>
                <c:ptCount val="1"/>
                <c:pt idx="0">
                  <c:v>Tickets</c:v>
                </c:pt>
              </c:strCache>
            </c:strRef>
          </c:tx>
          <c:spPr>
            <a:solidFill>
              <a:srgbClr val="3D6B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lvl>
              </c:multiLvlStrCache>
            </c:multiLvlStrRef>
          </c:cat>
          <c:val>
            <c:numRef>
              <c:f>Sheet1!$B$2:$B$15</c:f>
              <c:numCache>
                <c:formatCode>General</c:formatCode>
                <c:ptCount val="14"/>
                <c:pt idx="0">
                  <c:v>56</c:v>
                </c:pt>
                <c:pt idx="1">
                  <c:v>114</c:v>
                </c:pt>
                <c:pt idx="2">
                  <c:v>129</c:v>
                </c:pt>
                <c:pt idx="3">
                  <c:v>137</c:v>
                </c:pt>
                <c:pt idx="4">
                  <c:v>97</c:v>
                </c:pt>
                <c:pt idx="5">
                  <c:v>101</c:v>
                </c:pt>
                <c:pt idx="6">
                  <c:v>90</c:v>
                </c:pt>
                <c:pt idx="7">
                  <c:v>71</c:v>
                </c:pt>
                <c:pt idx="8">
                  <c:v>56</c:v>
                </c:pt>
                <c:pt idx="9">
                  <c:v>41</c:v>
                </c:pt>
                <c:pt idx="10">
                  <c:v>42</c:v>
                </c:pt>
                <c:pt idx="11">
                  <c:v>36</c:v>
                </c:pt>
                <c:pt idx="12">
                  <c:v>16</c:v>
                </c:pt>
                <c:pt idx="13">
                  <c:v>14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2343B"/>
                </a:solidFill>
                <a:latin typeface="+mn-lt"/>
              </a:defRPr>
            </a:pPr>
            <a:r>
              <a:rPr sz="1000" b="0" i="0" u="none" strike="noStrike">
                <a:solidFill>
                  <a:srgbClr val="12343B"/>
                </a:solidFill>
                <a:latin typeface="+mn-lt"/>
              </a:rPr>
              <a:t>Qwen3 4B stress ramp: POST per minute</a:t>
            </a:r>
          </a:p>
        </c:rich>
      </c:tx>
      <c:layout/>
      <c:overlay val="0"/>
    </c:title>
    <c:autoTitleDeleted val="0"/>
    <c:plotArea>
      <c:layout/>
      <c:lineChart>
        <c:varyColors val="0"/>
        <c:ser>
          <c:idx val="0"/>
          <c:order val="0"/>
          <c:tx>
            <c:strRef>
              <c:f>Sheet1!$B$1</c:f>
              <c:strCache>
                <c:ptCount val="1"/>
                <c:pt idx="0">
                  <c:v>Offered/min</c:v>
                </c:pt>
              </c:strCache>
            </c:strRef>
          </c:tx>
          <c:spPr>
            <a:solidFill>
              <a:srgbClr val="8E9AA3"/>
            </a:solidFill>
            <a:ln w="19050" cap="flat">
              <a:solidFill>
                <a:srgbClr val="8E9A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E9AA3"/>
              </a:solidFill>
              <a:ln w="9525" cap="flat">
                <a:solidFill>
                  <a:srgbClr val="8E9AA3"/>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lvl>
              </c:multiLvlStrCache>
            </c:multiLvlStrRef>
          </c:cat>
          <c:val>
            <c:numRef>
              <c:f>Sheet1!$B$2:$B$43</c:f>
              <c:numCache>
                <c:formatCode>General</c:formatCode>
                <c:ptCount val="42"/>
                <c:pt idx="0">
                  <c:v>1</c:v>
                </c:pt>
                <c:pt idx="1">
                  <c:v>1</c:v>
                </c:pt>
                <c:pt idx="2">
                  <c:v>3</c:v>
                </c:pt>
                <c:pt idx="3">
                  <c:v>0</c:v>
                </c:pt>
                <c:pt idx="4">
                  <c:v>0</c:v>
                </c:pt>
                <c:pt idx="5">
                  <c:v>2</c:v>
                </c:pt>
                <c:pt idx="6">
                  <c:v>2</c:v>
                </c:pt>
                <c:pt idx="7">
                  <c:v>2</c:v>
                </c:pt>
                <c:pt idx="8">
                  <c:v>10</c:v>
                </c:pt>
                <c:pt idx="9">
                  <c:v>6</c:v>
                </c:pt>
                <c:pt idx="10">
                  <c:v>6</c:v>
                </c:pt>
                <c:pt idx="11">
                  <c:v>8</c:v>
                </c:pt>
                <c:pt idx="12">
                  <c:v>8</c:v>
                </c:pt>
                <c:pt idx="13">
                  <c:v>5</c:v>
                </c:pt>
                <c:pt idx="14">
                  <c:v>6</c:v>
                </c:pt>
                <c:pt idx="15">
                  <c:v>9</c:v>
                </c:pt>
                <c:pt idx="16">
                  <c:v>8</c:v>
                </c:pt>
                <c:pt idx="17">
                  <c:v>6</c:v>
                </c:pt>
                <c:pt idx="18">
                  <c:v>10</c:v>
                </c:pt>
                <c:pt idx="19">
                  <c:v>3</c:v>
                </c:pt>
                <c:pt idx="20">
                  <c:v>9</c:v>
                </c:pt>
                <c:pt idx="21">
                  <c:v>14</c:v>
                </c:pt>
                <c:pt idx="22">
                  <c:v>12</c:v>
                </c:pt>
                <c:pt idx="23">
                  <c:v>8</c:v>
                </c:pt>
                <c:pt idx="24">
                  <c:v>14</c:v>
                </c:pt>
                <c:pt idx="25">
                  <c:v>11</c:v>
                </c:pt>
                <c:pt idx="26">
                  <c:v>14</c:v>
                </c:pt>
                <c:pt idx="27">
                  <c:v>5</c:v>
                </c:pt>
                <c:pt idx="28">
                  <c:v>15</c:v>
                </c:pt>
                <c:pt idx="29">
                  <c:v>14</c:v>
                </c:pt>
                <c:pt idx="30">
                  <c:v>13</c:v>
                </c:pt>
                <c:pt idx="31">
                  <c:v>15</c:v>
                </c:pt>
                <c:pt idx="32">
                  <c:v>13</c:v>
                </c:pt>
                <c:pt idx="33">
                  <c:v>20</c:v>
                </c:pt>
                <c:pt idx="34">
                  <c:v>18</c:v>
                </c:pt>
                <c:pt idx="35">
                  <c:v>23</c:v>
                </c:pt>
                <c:pt idx="36">
                  <c:v>17</c:v>
                </c:pt>
                <c:pt idx="37">
                  <c:v>20</c:v>
                </c:pt>
                <c:pt idx="38">
                  <c:v>14</c:v>
                </c:pt>
                <c:pt idx="39">
                  <c:v>22</c:v>
                </c:pt>
                <c:pt idx="40">
                  <c:v>19</c:v>
                </c:pt>
                <c:pt idx="41">
                  <c:v>16</c:v>
                </c:pt>
              </c:numCache>
            </c:numRef>
          </c:val>
          <c:smooth val="0"/>
        </c:ser>
        <c:ser>
          <c:idx val="1"/>
          <c:order val="1"/>
          <c:tx>
            <c:strRef>
              <c:f>Sheet1!$C$1</c:f>
              <c:strCache>
                <c:ptCount val="1"/>
                <c:pt idx="0">
                  <c:v>Completed OK/min</c:v>
                </c:pt>
              </c:strCache>
            </c:strRef>
          </c:tx>
          <c:spPr>
            <a:solidFill>
              <a:srgbClr val="2A9D8F"/>
            </a:solidFill>
            <a:ln w="19050" cap="flat">
              <a:solidFill>
                <a:srgbClr val="2A9D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9D8F"/>
              </a:solidFill>
              <a:ln w="9525" cap="flat">
                <a:solidFill>
                  <a:srgbClr val="2A9D8F"/>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lvl>
              </c:multiLvlStrCache>
            </c:multiLvlStrRef>
          </c:cat>
          <c:val>
            <c:numRef>
              <c:f>Sheet1!$C$2:$C$43</c:f>
              <c:numCache>
                <c:formatCode>General</c:formatCode>
                <c:ptCount val="42"/>
                <c:pt idx="0">
                  <c:v>1</c:v>
                </c:pt>
                <c:pt idx="1">
                  <c:v>1</c:v>
                </c:pt>
                <c:pt idx="2">
                  <c:v>3</c:v>
                </c:pt>
                <c:pt idx="3">
                  <c:v>0</c:v>
                </c:pt>
                <c:pt idx="4">
                  <c:v>0</c:v>
                </c:pt>
                <c:pt idx="5">
                  <c:v>2</c:v>
                </c:pt>
                <c:pt idx="6">
                  <c:v>2</c:v>
                </c:pt>
                <c:pt idx="7">
                  <c:v>2</c:v>
                </c:pt>
                <c:pt idx="8">
                  <c:v>7</c:v>
                </c:pt>
                <c:pt idx="9">
                  <c:v>8</c:v>
                </c:pt>
                <c:pt idx="10">
                  <c:v>7</c:v>
                </c:pt>
                <c:pt idx="11">
                  <c:v>6</c:v>
                </c:pt>
                <c:pt idx="12">
                  <c:v>7</c:v>
                </c:pt>
                <c:pt idx="13">
                  <c:v>8</c:v>
                </c:pt>
                <c:pt idx="14">
                  <c:v>6</c:v>
                </c:pt>
                <c:pt idx="15">
                  <c:v>6</c:v>
                </c:pt>
                <c:pt idx="16">
                  <c:v>9</c:v>
                </c:pt>
                <c:pt idx="17">
                  <c:v>6</c:v>
                </c:pt>
                <c:pt idx="18">
                  <c:v>9</c:v>
                </c:pt>
                <c:pt idx="19">
                  <c:v>6</c:v>
                </c:pt>
                <c:pt idx="20">
                  <c:v>7</c:v>
                </c:pt>
                <c:pt idx="21">
                  <c:v>6</c:v>
                </c:pt>
                <c:pt idx="22">
                  <c:v>8</c:v>
                </c:pt>
                <c:pt idx="23">
                  <c:v>10</c:v>
                </c:pt>
                <c:pt idx="24">
                  <c:v>7</c:v>
                </c:pt>
                <c:pt idx="25">
                  <c:v>10</c:v>
                </c:pt>
                <c:pt idx="26">
                  <c:v>7</c:v>
                </c:pt>
                <c:pt idx="27">
                  <c:v>11</c:v>
                </c:pt>
                <c:pt idx="28">
                  <c:v>8</c:v>
                </c:pt>
                <c:pt idx="29">
                  <c:v>7</c:v>
                </c:pt>
                <c:pt idx="30">
                  <c:v>6</c:v>
                </c:pt>
                <c:pt idx="31">
                  <c:v>7</c:v>
                </c:pt>
                <c:pt idx="32">
                  <c:v>9</c:v>
                </c:pt>
                <c:pt idx="33">
                  <c:v>8</c:v>
                </c:pt>
                <c:pt idx="34">
                  <c:v>8</c:v>
                </c:pt>
                <c:pt idx="35">
                  <c:v>6</c:v>
                </c:pt>
                <c:pt idx="36">
                  <c:v>1</c:v>
                </c:pt>
                <c:pt idx="37">
                  <c:v>4</c:v>
                </c:pt>
                <c:pt idx="38">
                  <c:v>4</c:v>
                </c:pt>
                <c:pt idx="39">
                  <c:v>1</c:v>
                </c:pt>
                <c:pt idx="40">
                  <c:v>0</c:v>
                </c:pt>
                <c:pt idx="41">
                  <c:v>2</c:v>
                </c:pt>
              </c:numCache>
            </c:numRef>
          </c:val>
          <c:smooth val="0"/>
        </c:ser>
        <c:ser>
          <c:idx val="2"/>
          <c:order val="2"/>
          <c:tx>
            <c:strRef>
              <c:f>Sheet1!$D$1</c:f>
              <c:strCache>
                <c:ptCount val="1"/>
                <c:pt idx="0">
                  <c:v>Backlog</c:v>
                </c:pt>
              </c:strCache>
            </c:strRef>
          </c:tx>
          <c:spPr>
            <a:solidFill>
              <a:srgbClr val="C0392B"/>
            </a:solidFill>
            <a:ln w="190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lvl>
              </c:multiLvlStrCache>
            </c:multiLvlStrRef>
          </c:cat>
          <c:val>
            <c:numRef>
              <c:f>Sheet1!$D$2:$D$43</c:f>
              <c:numCache>
                <c:formatCode>General</c:formatCode>
                <c:ptCount val="42"/>
                <c:pt idx="0">
                  <c:v>0</c:v>
                </c:pt>
                <c:pt idx="1">
                  <c:v>0</c:v>
                </c:pt>
                <c:pt idx="2">
                  <c:v>0</c:v>
                </c:pt>
                <c:pt idx="3">
                  <c:v>0</c:v>
                </c:pt>
                <c:pt idx="4">
                  <c:v>0</c:v>
                </c:pt>
                <c:pt idx="5">
                  <c:v>0</c:v>
                </c:pt>
                <c:pt idx="6">
                  <c:v>0</c:v>
                </c:pt>
                <c:pt idx="7">
                  <c:v>0</c:v>
                </c:pt>
                <c:pt idx="8">
                  <c:v>3</c:v>
                </c:pt>
                <c:pt idx="9">
                  <c:v>1</c:v>
                </c:pt>
                <c:pt idx="10">
                  <c:v>0</c:v>
                </c:pt>
                <c:pt idx="11">
                  <c:v>2</c:v>
                </c:pt>
                <c:pt idx="12">
                  <c:v>3</c:v>
                </c:pt>
                <c:pt idx="13">
                  <c:v>0</c:v>
                </c:pt>
                <c:pt idx="14">
                  <c:v>0</c:v>
                </c:pt>
                <c:pt idx="15">
                  <c:v>3</c:v>
                </c:pt>
                <c:pt idx="16">
                  <c:v>2</c:v>
                </c:pt>
                <c:pt idx="17">
                  <c:v>2</c:v>
                </c:pt>
                <c:pt idx="18">
                  <c:v>3</c:v>
                </c:pt>
                <c:pt idx="19">
                  <c:v>0</c:v>
                </c:pt>
                <c:pt idx="20">
                  <c:v>2</c:v>
                </c:pt>
                <c:pt idx="21">
                  <c:v>10</c:v>
                </c:pt>
                <c:pt idx="22">
                  <c:v>14</c:v>
                </c:pt>
                <c:pt idx="23">
                  <c:v>12</c:v>
                </c:pt>
                <c:pt idx="24">
                  <c:v>19</c:v>
                </c:pt>
                <c:pt idx="25">
                  <c:v>20</c:v>
                </c:pt>
                <c:pt idx="26">
                  <c:v>26</c:v>
                </c:pt>
                <c:pt idx="27">
                  <c:v>20</c:v>
                </c:pt>
                <c:pt idx="28">
                  <c:v>27</c:v>
                </c:pt>
                <c:pt idx="29">
                  <c:v>34</c:v>
                </c:pt>
                <c:pt idx="30">
                  <c:v>38</c:v>
                </c:pt>
                <c:pt idx="31">
                  <c:v>32</c:v>
                </c:pt>
                <c:pt idx="32">
                  <c:v>27</c:v>
                </c:pt>
                <c:pt idx="33">
                  <c:v>23</c:v>
                </c:pt>
                <c:pt idx="34">
                  <c:v>16</c:v>
                </c:pt>
                <c:pt idx="35">
                  <c:v>10</c:v>
                </c:pt>
                <c:pt idx="36">
                  <c:v>11</c:v>
                </c:pt>
                <c:pt idx="37">
                  <c:v>7</c:v>
                </c:pt>
                <c:pt idx="38">
                  <c:v>3</c:v>
                </c:pt>
                <c:pt idx="39">
                  <c:v>2</c:v>
                </c:pt>
                <c:pt idx="40">
                  <c:v>2</c:v>
                </c:pt>
                <c:pt idx="41">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5A6A70"/>
                    </a:solidFill>
                    <a:latin typeface="Arial"/>
                  </a:defRPr>
                </a:pPr>
                <a:r>
                  <a:rPr sz="800" b="0" i="0" u="none" strike="noStrike">
                    <a:solidFill>
                      <a:srgbClr val="5A6A70"/>
                    </a:solidFill>
                    <a:latin typeface="Arial"/>
                  </a:rPr>
                  <a:t>minute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6350"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8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2343B"/>
                </a:solidFill>
                <a:latin typeface="+mn-lt"/>
              </a:defRPr>
            </a:pPr>
            <a:r>
              <a:rPr sz="1000" b="0" i="0" u="none" strike="noStrike">
                <a:solidFill>
                  <a:srgbClr val="12343B"/>
                </a:solidFill>
                <a:latin typeface="+mn-lt"/>
              </a:rPr>
              <a:t>Accuracy on the golden set (%). R6 needs ≥ 70 per category, R5 ≥ 85 overall</a:t>
            </a:r>
          </a:p>
        </c:rich>
      </c:tx>
      <c:layout/>
      <c:overlay val="0"/>
    </c:title>
    <c:autoTitleDeleted val="0"/>
    <c:plotArea>
      <c:layout/>
      <c:barChart>
        <c:barDir val="col"/>
        <c:grouping val="clustered"/>
        <c:varyColors val="0"/>
        <c:ser>
          <c:idx val="0"/>
          <c:order val="0"/>
          <c:tx>
            <c:strRef>
              <c:f>Sheet1!$B$1</c:f>
              <c:strCache>
                <c:ptCount val="1"/>
                <c:pt idx="0">
                  <c:v>Gemma 3 1B</c:v>
                </c:pt>
              </c:strCache>
            </c:strRef>
          </c:tx>
          <c:spPr>
            <a:solidFill>
              <a:srgbClr val="8E9AA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Credit reporting</c:v>
                  </c:pt>
                  <c:pt idx="1">
                    <c:v>Debt collection</c:v>
                  </c:pt>
                  <c:pt idx="2">
                    <c:v>Mortgage</c:v>
                  </c:pt>
                  <c:pt idx="3">
                    <c:v>Credit card</c:v>
                  </c:pt>
                  <c:pt idx="4">
                    <c:v>Bank account</c:v>
                  </c:pt>
                  <c:pt idx="5">
                    <c:v>Consumer loan</c:v>
                  </c:pt>
                  <c:pt idx="6">
                    <c:v>Money transfer</c:v>
                  </c:pt>
                  <c:pt idx="7">
                    <c:v>Overall</c:v>
                  </c:pt>
                </c:lvl>
              </c:multiLvlStrCache>
            </c:multiLvlStrRef>
          </c:cat>
          <c:val>
            <c:numRef>
              <c:f>Sheet1!$B$2:$B$9</c:f>
              <c:numCache>
                <c:formatCode>General</c:formatCode>
                <c:ptCount val="8"/>
                <c:pt idx="0">
                  <c:v>69.7</c:v>
                </c:pt>
                <c:pt idx="1">
                  <c:v>29.2</c:v>
                </c:pt>
                <c:pt idx="2">
                  <c:v>61.1</c:v>
                </c:pt>
                <c:pt idx="3">
                  <c:v>9.1</c:v>
                </c:pt>
                <c:pt idx="4">
                  <c:v>13.3</c:v>
                </c:pt>
                <c:pt idx="5">
                  <c:v>12.5</c:v>
                </c:pt>
                <c:pt idx="6">
                  <c:v>0</c:v>
                </c:pt>
                <c:pt idx="7">
                  <c:v>30</c:v>
                </c:pt>
              </c:numCache>
            </c:numRef>
          </c:val>
        </c:ser>
        <c:ser>
          <c:idx val="1"/>
          <c:order val="1"/>
          <c:tx>
            <c:strRef>
              <c:f>Sheet1!$C$1</c:f>
              <c:strCache>
                <c:ptCount val="1"/>
                <c:pt idx="0">
                  <c:v>Qwen3 4B</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Credit reporting</c:v>
                  </c:pt>
                  <c:pt idx="1">
                    <c:v>Debt collection</c:v>
                  </c:pt>
                  <c:pt idx="2">
                    <c:v>Mortgage</c:v>
                  </c:pt>
                  <c:pt idx="3">
                    <c:v>Credit card</c:v>
                  </c:pt>
                  <c:pt idx="4">
                    <c:v>Bank account</c:v>
                  </c:pt>
                  <c:pt idx="5">
                    <c:v>Consumer loan</c:v>
                  </c:pt>
                  <c:pt idx="6">
                    <c:v>Money transfer</c:v>
                  </c:pt>
                  <c:pt idx="7">
                    <c:v>Overall</c:v>
                  </c:pt>
                </c:lvl>
              </c:multiLvlStrCache>
            </c:multiLvlStrRef>
          </c:cat>
          <c:val>
            <c:numRef>
              <c:f>Sheet1!$C$2:$C$9</c:f>
              <c:numCache>
                <c:formatCode>General</c:formatCode>
                <c:ptCount val="8"/>
                <c:pt idx="0">
                  <c:v>51.5</c:v>
                </c:pt>
                <c:pt idx="1">
                  <c:v>62.5</c:v>
                </c:pt>
                <c:pt idx="2">
                  <c:v>83.3</c:v>
                </c:pt>
                <c:pt idx="3">
                  <c:v>90.9</c:v>
                </c:pt>
                <c:pt idx="4">
                  <c:v>66.7</c:v>
                </c:pt>
                <c:pt idx="5">
                  <c:v>81.2</c:v>
                </c:pt>
                <c:pt idx="6">
                  <c:v>71.4</c:v>
                </c:pt>
                <c:pt idx="7">
                  <c:v>68.8</c:v>
                </c:pt>
              </c:numCache>
            </c:numRef>
          </c:val>
        </c:ser>
        <c:ser>
          <c:idx val="2"/>
          <c:order val="2"/>
          <c:tx>
            <c:strRef>
              <c:f>Sheet1!$D$1</c:f>
              <c:strCache>
                <c:ptCount val="1"/>
                <c:pt idx="0">
                  <c:v>Llama 3.1 8B</c:v>
                </c:pt>
              </c:strCache>
            </c:strRef>
          </c:tx>
          <c:spPr>
            <a:solidFill>
              <a:srgbClr val="E07A1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Credit reporting</c:v>
                  </c:pt>
                  <c:pt idx="1">
                    <c:v>Debt collection</c:v>
                  </c:pt>
                  <c:pt idx="2">
                    <c:v>Mortgage</c:v>
                  </c:pt>
                  <c:pt idx="3">
                    <c:v>Credit card</c:v>
                  </c:pt>
                  <c:pt idx="4">
                    <c:v>Bank account</c:v>
                  </c:pt>
                  <c:pt idx="5">
                    <c:v>Consumer loan</c:v>
                  </c:pt>
                  <c:pt idx="6">
                    <c:v>Money transfer</c:v>
                  </c:pt>
                  <c:pt idx="7">
                    <c:v>Overall</c:v>
                  </c:pt>
                </c:lvl>
              </c:multiLvlStrCache>
            </c:multiLvlStrRef>
          </c:cat>
          <c:val>
            <c:numRef>
              <c:f>Sheet1!$D$2:$D$9</c:f>
              <c:numCache>
                <c:formatCode>General</c:formatCode>
                <c:ptCount val="8"/>
                <c:pt idx="0">
                  <c:v>69.7</c:v>
                </c:pt>
                <c:pt idx="1">
                  <c:v>75</c:v>
                </c:pt>
                <c:pt idx="2">
                  <c:v>83.3</c:v>
                </c:pt>
                <c:pt idx="3">
                  <c:v>100</c:v>
                </c:pt>
                <c:pt idx="4">
                  <c:v>66.7</c:v>
                </c:pt>
                <c:pt idx="5">
                  <c:v>68.8</c:v>
                </c:pt>
                <c:pt idx="6">
                  <c:v>82.1</c:v>
                </c:pt>
                <c:pt idx="7">
                  <c:v>75.6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P1-9. Members and student IDs to be filled in. The repository contains the service, docker compose file, golden set, frozen prediction record (STEP4.md, freeze commit 3567f80), all JMeter .jtl files and service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fixed system prompt listing the seven exact category names, JSON output mode, temperature 0, num_ctx 4096 (app/classifier.py). JMeter runs on a separate PC; logs are kept in evidence/step5/logs.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R1 Barclays UK complaints Jan–Jun 2026 (94,535 opened); R3 CFPB daily counts (busiest day 1.25× weekly mean); R5 FIDReC +32% claims against banks; R6 Call Centre Helper (40% of an hour's calls in the first 15 min → 1.6× burst, 130/h); R7 Taylor 2012 (busiest half-hour ~2× median, upper bound for the 1.5× hour factor). Estimates: 12-hour arrival window, 1.5× busiest hour, 30 min agent time per complaint, 6 searches per agent-hour, 3× incident surge (243/h).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and justifications in STEP4.md section 4 (frozen at commit 3567f80). Thresholds are the same for all three candidates and were not changed after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weights digests: gemma 7cd4618c1faf8b7233c6c906dac1694b6a47684b37b8895d470ac688520b9c01; qwen 85e4a5b7b8ef0e48af0e8658f5aaab9c2324c76c1641493f4d1e25fce54b18b9; llama 667b0c1932bc6ffc593ed1d03f895bf2dc8dc6df21db3042284a6f4416b06a29. Local IDs match the ollama.com registry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distribution: Credit reporting 33, Bank account 30, Money transfer 28, Debt collection 24, Mortgage 18, Consumer loan 16, Credit card 11. Disagreements: labeller won 8, reviewer won 6. kappa from scripts/agreement.py → evidence/step1/agreement.txt. Raw consumer label vs final golden: kappa 0.751. Golden set committed before any model saw it (commit 0013266; freeze 3567f80).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evidence/step4/service-hardware.txt, load-generator-hardware.txt, jmeter-version.txt, ollama-server-config.txt; evidence/step5/deploy-*.txt (ollama ps shows 100% CPU, context 4096). The Intel Arc iGPU is unused: Ollama runs in a Linux container without GPU passthrough. The 34 ms network overhead was measured over 2,956 successful load-test requests by matching JMeter samples to API log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definitions (analyse_jtl.py): window = [t0 + warm-up, t0 + warm-up + 20 min) by request start time; p50/p95/p99 = nearest-rank over all samples in the window, failures included; achieved/h = successful requests completing inside the window; error % = JMeter success=false. Each run reuses the same ticket order, so content is controlled and only arrival timing varies between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step5/results/levels.csv, runs.csv, summary.md and the stress timeline.csv. Llama headroom per run: p95 18.2 s / 34.7 s / 89.7 s; run 3 had 5 arrivals within ~1.2 min. Reconciliation: 3,640 JMeter samples across 28 runs, every one matched to a service-log line; 73 status mismatches, all JMeter test-end aborts (71 in the stress run, 2 in Llama headroom run 3), where the server log shows the real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matrices: step5/results/&lt;model&gt;/accuracy/summary.md and confusion_matrix.csv. Sequential single-request latency (p50): Gemma 2.4 s, Qwen 7.9 s, Llama 13.2 s. Categories ≥ 70%: Gemma 0/7, Qwen 4/7 (fails Credit reporting 51.5%, Debt collection 62.5%, Bank 66.7%), Llama 4/7 (fails Credit reporting 69.7%, Bank 66.7%, Consumer loan 68.8%).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verdict reasoning in step5/RESULTS.md sections 5–7. Predictions frozen in STEP4.md at commit 3567f80. Hardest-category outcome: Gemma Money transfer 0% (as predicted); Qwen's hardest was Credit reporting 51.5% (9 to Credit card, and only 4 of those 9 mention a card, so the cause is not yet diagnosed); Llama's hardest was Bank account 66.7%. Assisted routing: at 68.8% accuracy, about 2 in 3 tickets need only a confirmation; a misroute costs one agent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URLs: workload/WORKLOAD.md references section and STEP4.md section 2 (licence links). The Llama 3.1 Community License requires displaying 'Built with 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343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rtlCol="0"/>
          <a:lstStyle>
            <a:lvl1pPr algn="l" indent="0" marL="0">
              <a:buNone/>
              <a:defRPr lang="en-US" sz="2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846320"/>
            <a:ext cx="4572000" cy="228600"/>
          </a:xfrm>
          <a:prstGeom prst="rect">
            <a:avLst/>
          </a:prstGeom>
          <a:noFill/>
          <a:ln/>
        </p:spPr>
        <p:txBody>
          <a:bodyPr wrap="square" lIns="0" tIns="0" rIns="0" bIns="0" rtlCol="0" anchor="ctr"/>
          <a:lstStyle/>
          <a:p>
            <a:pPr indent="0" marL="0">
              <a:buNone/>
            </a:pPr>
            <a:r>
              <a:rPr lang="en-US" sz="900" dirty="0">
                <a:solidFill>
                  <a:schemeClr val="accent3"/>
                </a:solidFill>
              </a:rPr>
              <a:t>Group P1-9 · ICT3113 Assignment 1</a:t>
            </a:r>
            <a:endParaRPr lang="en-US" sz="9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narchygene/ICT3113_Assignment_1"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046720" cy="274320"/>
          </a:xfrm>
          <a:prstGeom prst="rect">
            <a:avLst/>
          </a:prstGeom>
          <a:noFill/>
          <a:ln/>
        </p:spPr>
        <p:txBody>
          <a:bodyPr wrap="square" lIns="0" tIns="0" rIns="0" bIns="0" rtlCol="0" anchor="t"/>
          <a:lstStyle/>
          <a:p>
            <a:pPr indent="0" marL="0">
              <a:buNone/>
            </a:pPr>
            <a:r>
              <a:rPr lang="en-US" sz="1200" dirty="0">
                <a:solidFill>
                  <a:srgbClr val="CFE3E0"/>
                </a:solidFill>
              </a:rPr>
              <a:t>ICT3113 Assignment 1 · Performance Requirements &amp; Testing</a:t>
            </a:r>
            <a:endParaRPr lang="en-US" sz="1200" dirty="0"/>
          </a:p>
        </p:txBody>
      </p:sp>
      <p:sp>
        <p:nvSpPr>
          <p:cNvPr id="3" name="Text 1"/>
          <p:cNvSpPr txBox="1"/>
          <p:nvPr/>
        </p:nvSpPr>
        <p:spPr>
          <a:xfrm>
            <a:off x="548640" y="868680"/>
            <a:ext cx="804672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Complaint Triage on CPU-Only Hardware</a:t>
            </a:r>
            <a:endParaRPr lang="en-US" sz="3000" dirty="0"/>
          </a:p>
        </p:txBody>
      </p:sp>
      <p:sp>
        <p:nvSpPr>
          <p:cNvPr id="4" name="Text 2"/>
          <p:cNvSpPr txBox="1"/>
          <p:nvPr/>
        </p:nvSpPr>
        <p:spPr>
          <a:xfrm>
            <a:off x="548640" y="1572768"/>
            <a:ext cx="8046720" cy="365760"/>
          </a:xfrm>
          <a:prstGeom prst="rect">
            <a:avLst/>
          </a:prstGeom>
          <a:noFill/>
          <a:ln/>
        </p:spPr>
        <p:txBody>
          <a:bodyPr wrap="square" lIns="0" tIns="0" rIns="0" bIns="0" rtlCol="0" anchor="t"/>
          <a:lstStyle/>
          <a:p>
            <a:pPr indent="0" marL="0">
              <a:buNone/>
            </a:pPr>
            <a:r>
              <a:rPr lang="en-US" sz="1600" i="1" dirty="0">
                <a:solidFill>
                  <a:srgbClr val="CFE3E0"/>
                </a:solidFill>
              </a:rPr>
              <a:t>Which local model to deploy, and what service quality can be promised</a:t>
            </a:r>
            <a:endParaRPr lang="en-US" sz="1600" dirty="0"/>
          </a:p>
        </p:txBody>
      </p:sp>
      <p:sp>
        <p:nvSpPr>
          <p:cNvPr id="5" name="Text 3"/>
          <p:cNvSpPr txBox="1"/>
          <p:nvPr/>
        </p:nvSpPr>
        <p:spPr>
          <a:xfrm>
            <a:off x="548640" y="2286000"/>
            <a:ext cx="3657600" cy="365760"/>
          </a:xfrm>
          <a:prstGeom prst="rect">
            <a:avLst/>
          </a:prstGeom>
          <a:noFill/>
          <a:ln/>
        </p:spPr>
        <p:txBody>
          <a:bodyPr wrap="square" lIns="0" tIns="0" rIns="0" bIns="0" rtlCol="0" anchor="t"/>
          <a:lstStyle/>
          <a:p>
            <a:pPr indent="0" marL="0">
              <a:buNone/>
            </a:pPr>
            <a:r>
              <a:rPr lang="en-US" sz="2000" b="1" dirty="0">
                <a:solidFill>
                  <a:srgbClr val="F2C14E"/>
                </a:solidFill>
                <a:latin typeface="Cambria" pitchFamily="34" charset="0"/>
                <a:ea typeface="Cambria" pitchFamily="34" charset="-122"/>
                <a:cs typeface="Cambria" pitchFamily="34" charset="-120"/>
              </a:rPr>
              <a:t>Group P1-9</a:t>
            </a:r>
            <a:endParaRPr lang="en-US" sz="2000" dirty="0"/>
          </a:p>
        </p:txBody>
      </p:sp>
      <p:sp>
        <p:nvSpPr>
          <p:cNvPr id="6" name="Text 4"/>
          <p:cNvSpPr txBox="1"/>
          <p:nvPr/>
        </p:nvSpPr>
        <p:spPr>
          <a:xfrm>
            <a:off x="548640" y="2697480"/>
            <a:ext cx="4754880" cy="1463040"/>
          </a:xfrm>
          <a:prstGeom prst="rect">
            <a:avLst/>
          </a:prstGeom>
          <a:noFill/>
          <a:ln/>
        </p:spPr>
        <p:txBody>
          <a:bodyPr wrap="square" lIns="0" tIns="0" rIns="0" bIns="0" rtlCol="0" anchor="t"/>
          <a:lstStyle/>
          <a:p>
            <a:pPr indent="0" marL="0">
              <a:spcAft>
                <a:spcPts val="400"/>
              </a:spcAft>
              <a:buNone/>
            </a:pPr>
            <a:r>
              <a:rPr lang="en-US" sz="1300" dirty="0">
                <a:solidFill>
                  <a:srgbClr val="FFFFFF"/>
                </a:solidFill>
              </a:rPr>
              <a:t>[Member 1 name] · [Student ID]</a:t>
            </a:r>
            <a:endParaRPr lang="en-US" sz="1300" dirty="0"/>
          </a:p>
          <a:p>
            <a:pPr indent="0" marL="0">
              <a:spcAft>
                <a:spcPts val="400"/>
              </a:spcAft>
              <a:buNone/>
            </a:pPr>
            <a:r>
              <a:rPr lang="en-US" sz="1300" dirty="0">
                <a:solidFill>
                  <a:srgbClr val="FFFFFF"/>
                </a:solidFill>
              </a:rPr>
              <a:t>[Member 2 name] · [Student ID]</a:t>
            </a:r>
            <a:endParaRPr lang="en-US" sz="1300" dirty="0"/>
          </a:p>
          <a:p>
            <a:pPr indent="0" marL="0">
              <a:spcAft>
                <a:spcPts val="400"/>
              </a:spcAft>
              <a:buNone/>
            </a:pPr>
            <a:r>
              <a:rPr lang="en-US" sz="1300" dirty="0">
                <a:solidFill>
                  <a:srgbClr val="FFFFFF"/>
                </a:solidFill>
              </a:rPr>
              <a:t>[Member 3 name] · [Student ID]</a:t>
            </a:r>
            <a:endParaRPr lang="en-US" sz="1300" dirty="0"/>
          </a:p>
          <a:p>
            <a:pPr indent="0" marL="0">
              <a:spcAft>
                <a:spcPts val="400"/>
              </a:spcAft>
              <a:buNone/>
            </a:pPr>
            <a:r>
              <a:rPr lang="en-US" sz="1300" dirty="0">
                <a:solidFill>
                  <a:srgbClr val="FFFFFF"/>
                </a:solidFill>
              </a:rPr>
              <a:t>[Member 4 name] · [Student ID]</a:t>
            </a:r>
            <a:endParaRPr lang="en-US" sz="1300" dirty="0"/>
          </a:p>
          <a:p>
            <a:pPr indent="0" marL="0">
              <a:spcAft>
                <a:spcPts val="400"/>
              </a:spcAft>
              <a:buNone/>
            </a:pPr>
            <a:r>
              <a:rPr lang="en-US" sz="1300" dirty="0">
                <a:solidFill>
                  <a:srgbClr val="FFFFFF"/>
                </a:solidFill>
              </a:rPr>
              <a:t>[Member 5 name] · [Student ID]</a:t>
            </a:r>
            <a:endParaRPr lang="en-US" sz="1300" dirty="0"/>
          </a:p>
        </p:txBody>
      </p:sp>
      <p:sp>
        <p:nvSpPr>
          <p:cNvPr id="7" name="Text 5"/>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200" dirty="0">
                <a:solidFill>
                  <a:srgbClr val="CFE3E0"/>
                </a:solidFill>
              </a:rPr>
              <a:t>Repository: </a:t>
            </a:r>
            <a:pPr indent="0" marL="0">
              <a:buNone/>
            </a:pPr>
            <a:r>
              <a:rPr lang="en-US" sz="1200"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github.com/anarchygene/ICT3113_Assignment_1</a:t>
            </a:r>
            <a:endParaRPr lang="en-US" sz="1200" dirty="0"/>
          </a:p>
        </p:txBody>
      </p:sp>
      <p:sp>
        <p:nvSpPr>
          <p:cNvPr id="8" name="Shape 6"/>
          <p:cNvSpPr/>
          <p:nvPr/>
        </p:nvSpPr>
        <p:spPr>
          <a:xfrm>
            <a:off x="5760720" y="2286000"/>
            <a:ext cx="2834640" cy="1783080"/>
          </a:xfrm>
          <a:prstGeom prst="roundRect">
            <a:avLst>
              <a:gd name="adj" fmla="val 4103"/>
            </a:avLst>
          </a:prstGeom>
          <a:solidFill>
            <a:srgbClr val="1D4A52"/>
          </a:solidFill>
          <a:ln w="12700">
            <a:solidFill>
              <a:srgbClr val="1D4A52"/>
            </a:solidFill>
            <a:prstDash val="solid"/>
          </a:ln>
        </p:spPr>
      </p:sp>
      <p:sp>
        <p:nvSpPr>
          <p:cNvPr id="9" name="Text 7"/>
          <p:cNvSpPr txBox="1"/>
          <p:nvPr/>
        </p:nvSpPr>
        <p:spPr>
          <a:xfrm>
            <a:off x="5943600" y="2423160"/>
            <a:ext cx="2560320" cy="1554480"/>
          </a:xfrm>
          <a:prstGeom prst="rect">
            <a:avLst/>
          </a:prstGeom>
          <a:noFill/>
          <a:ln/>
        </p:spPr>
        <p:txBody>
          <a:bodyPr wrap="square" lIns="0" tIns="0" rIns="0" bIns="0" rtlCol="0" anchor="t"/>
          <a:lstStyle/>
          <a:p>
            <a:pPr indent="0" marL="0">
              <a:spcAft>
                <a:spcPts val="300"/>
              </a:spcAft>
              <a:buNone/>
            </a:pPr>
            <a:r>
              <a:rPr lang="en-US" sz="1100" b="1" dirty="0">
                <a:solidFill>
                  <a:srgbClr val="F2C14E"/>
                </a:solidFill>
                <a:latin typeface="Courier New" pitchFamily="34" charset="0"/>
                <a:ea typeface="Courier New" pitchFamily="34" charset="-122"/>
                <a:cs typeface="Courier New" pitchFamily="34" charset="-120"/>
              </a:rPr>
              <a:t>Rebuild &amp; run</a:t>
            </a:r>
            <a:endParaRPr lang="en-US" sz="1100" dirty="0"/>
          </a:p>
          <a:p>
            <a:pPr indent="0" marL="0">
              <a:spcAft>
                <a:spcPts val="300"/>
              </a:spcAft>
              <a:buNone/>
            </a:pPr>
            <a:r>
              <a:rPr lang="en-US" sz="1100" dirty="0">
                <a:solidFill>
                  <a:srgbClr val="FFFFFF"/>
                </a:solidFill>
                <a:latin typeface="Courier New" pitchFamily="34" charset="0"/>
                <a:ea typeface="Courier New" pitchFamily="34" charset="-122"/>
                <a:cs typeface="Courier New" pitchFamily="34" charset="-120"/>
              </a:rPr>
              <a:t>cp .env.example .env</a:t>
            </a:r>
            <a:endParaRPr lang="en-US" sz="1100" dirty="0"/>
          </a:p>
          <a:p>
            <a:pPr indent="0" marL="0">
              <a:spcAft>
                <a:spcPts val="300"/>
              </a:spcAft>
              <a:buNone/>
            </a:pPr>
            <a:r>
              <a:rPr lang="en-US" sz="1100" dirty="0">
                <a:solidFill>
                  <a:srgbClr val="FFFFFF"/>
                </a:solidFill>
                <a:latin typeface="Courier New" pitchFamily="34" charset="0"/>
                <a:ea typeface="Courier New" pitchFamily="34" charset="-122"/>
                <a:cs typeface="Courier New" pitchFamily="34" charset="-120"/>
              </a:rPr>
              <a:t>docker compose up -d --build</a:t>
            </a:r>
            <a:endParaRPr lang="en-US" sz="1100" dirty="0"/>
          </a:p>
          <a:p>
            <a:pPr indent="0" marL="0">
              <a:spcAft>
                <a:spcPts val="300"/>
              </a:spcAft>
              <a:buNone/>
            </a:pPr>
            <a:r>
              <a:rPr lang="en-US" sz="1100" dirty="0">
                <a:solidFill>
                  <a:srgbClr val="FFFFFF"/>
                </a:solidFill>
                <a:latin typeface="Courier New" pitchFamily="34" charset="0"/>
                <a:ea typeface="Courier New" pitchFamily="34" charset="-122"/>
                <a:cs typeface="Courier New" pitchFamily="34" charset="-120"/>
              </a:rPr>
              <a:t>Step 5 playbook: step5/README.md</a:t>
            </a:r>
            <a:endParaRPr lang="en-US" sz="1100" dirty="0"/>
          </a:p>
          <a:p>
            <a:pPr indent="0" marL="0">
              <a:spcAft>
                <a:spcPts val="300"/>
              </a:spcAft>
              <a:buNone/>
            </a:pPr>
            <a:r>
              <a:rPr lang="en-US" sz="1100" dirty="0">
                <a:solidFill>
                  <a:srgbClr val="FFFFFF"/>
                </a:solidFill>
                <a:latin typeface="Courier New" pitchFamily="34" charset="0"/>
                <a:ea typeface="Courier New" pitchFamily="34" charset="-122"/>
                <a:cs typeface="Courier New" pitchFamily="34" charset="-120"/>
              </a:rPr>
              <a:t>Results: step5/RESULTS.md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Architecture: one synchronous model call per ticket</a:t>
            </a:r>
            <a:endParaRPr lang="en-US" sz="2200" dirty="0"/>
          </a:p>
        </p:txBody>
      </p:sp>
      <p:sp>
        <p:nvSpPr>
          <p:cNvPr id="3" name="Shape 1"/>
          <p:cNvSpPr/>
          <p:nvPr/>
        </p:nvSpPr>
        <p:spPr>
          <a:xfrm>
            <a:off x="457200" y="1051560"/>
            <a:ext cx="1600200" cy="1188720"/>
          </a:xfrm>
          <a:prstGeom prst="roundRect">
            <a:avLst>
              <a:gd name="adj" fmla="val 6154"/>
            </a:avLst>
          </a:prstGeom>
          <a:solidFill>
            <a:srgbClr val="FBEBDD"/>
          </a:solidFill>
          <a:ln w="12700">
            <a:solidFill>
              <a:srgbClr val="FBEBDD"/>
            </a:solidFill>
            <a:prstDash val="solid"/>
          </a:ln>
        </p:spPr>
      </p:sp>
      <p:sp>
        <p:nvSpPr>
          <p:cNvPr id="4" name="Text 2"/>
          <p:cNvSpPr txBox="1"/>
          <p:nvPr/>
        </p:nvSpPr>
        <p:spPr>
          <a:xfrm>
            <a:off x="566928" y="1143000"/>
            <a:ext cx="1417320" cy="1005840"/>
          </a:xfrm>
          <a:prstGeom prst="rect">
            <a:avLst/>
          </a:prstGeom>
          <a:noFill/>
          <a:ln/>
        </p:spPr>
        <p:txBody>
          <a:bodyPr wrap="square" lIns="0" tIns="0" rIns="0" bIns="0" rtlCol="0" anchor="t"/>
          <a:lstStyle/>
          <a:p>
            <a:pPr indent="0" marL="0">
              <a:buNone/>
            </a:pPr>
            <a:r>
              <a:rPr lang="en-US" sz="1100" b="1" dirty="0">
                <a:solidFill>
                  <a:schemeClr val="tx1"/>
                </a:solidFill>
              </a:rPr>
              <a:t>Load-generator PC</a:t>
            </a:r>
            <a:endParaRPr lang="en-US" sz="1100" dirty="0"/>
          </a:p>
          <a:p>
            <a:pPr indent="0" marL="0">
              <a:buNone/>
            </a:pPr>
            <a:r>
              <a:rPr lang="en-US" sz="1100" dirty="0">
                <a:solidFill>
                  <a:schemeClr val="tx1"/>
                </a:solidFill>
              </a:rPr>
              <a:t>Apache JMeter 5.6.3, open-loop Open Model Thread Groups</a:t>
            </a:r>
            <a:endParaRPr lang="en-US" sz="1100" dirty="0"/>
          </a:p>
        </p:txBody>
      </p:sp>
      <p:sp>
        <p:nvSpPr>
          <p:cNvPr id="5" name="Shape 3"/>
          <p:cNvSpPr/>
          <p:nvPr/>
        </p:nvSpPr>
        <p:spPr>
          <a:xfrm>
            <a:off x="2514600" y="868680"/>
            <a:ext cx="3154680" cy="3611880"/>
          </a:xfrm>
          <a:prstGeom prst="roundRect">
            <a:avLst>
              <a:gd name="adj" fmla="val 2319"/>
            </a:avLst>
          </a:prstGeom>
          <a:solidFill>
            <a:srgbClr val="F6F9F9"/>
          </a:solidFill>
          <a:ln w="12700">
            <a:solidFill>
              <a:srgbClr val="8E9AA3"/>
            </a:solidFill>
            <a:prstDash val="dash"/>
          </a:ln>
        </p:spPr>
      </p:sp>
      <p:sp>
        <p:nvSpPr>
          <p:cNvPr id="6" name="Text 4"/>
          <p:cNvSpPr txBox="1"/>
          <p:nvPr/>
        </p:nvSpPr>
        <p:spPr>
          <a:xfrm>
            <a:off x="2651760" y="932688"/>
            <a:ext cx="2926080" cy="228600"/>
          </a:xfrm>
          <a:prstGeom prst="rect">
            <a:avLst/>
          </a:prstGeom>
          <a:noFill/>
          <a:ln/>
        </p:spPr>
        <p:txBody>
          <a:bodyPr wrap="square" lIns="0" tIns="0" rIns="0" bIns="0" rtlCol="0" anchor="t"/>
          <a:lstStyle/>
          <a:p>
            <a:pPr indent="0" marL="0">
              <a:buNone/>
            </a:pPr>
            <a:r>
              <a:rPr lang="en-US" sz="1000" b="1" dirty="0">
                <a:solidFill>
                  <a:schemeClr val="accent5"/>
                </a:solidFill>
              </a:rPr>
              <a:t>Service PC · Docker Compose</a:t>
            </a:r>
            <a:endParaRPr lang="en-US" sz="1000" dirty="0"/>
          </a:p>
        </p:txBody>
      </p:sp>
      <p:sp>
        <p:nvSpPr>
          <p:cNvPr id="7" name="Shape 5"/>
          <p:cNvSpPr/>
          <p:nvPr/>
        </p:nvSpPr>
        <p:spPr>
          <a:xfrm>
            <a:off x="2743200" y="1234440"/>
            <a:ext cx="2697480" cy="868680"/>
          </a:xfrm>
          <a:prstGeom prst="roundRect">
            <a:avLst>
              <a:gd name="adj" fmla="val 8421"/>
            </a:avLst>
          </a:prstGeom>
          <a:solidFill>
            <a:srgbClr val="DDF0EE"/>
          </a:solidFill>
          <a:ln w="12700">
            <a:solidFill>
              <a:srgbClr val="DDF0EE"/>
            </a:solidFill>
            <a:prstDash val="solid"/>
          </a:ln>
        </p:spPr>
      </p:sp>
      <p:sp>
        <p:nvSpPr>
          <p:cNvPr id="8" name="Text 6"/>
          <p:cNvSpPr txBox="1"/>
          <p:nvPr/>
        </p:nvSpPr>
        <p:spPr>
          <a:xfrm>
            <a:off x="2852928" y="1307592"/>
            <a:ext cx="2514600" cy="749808"/>
          </a:xfrm>
          <a:prstGeom prst="rect">
            <a:avLst/>
          </a:prstGeom>
          <a:noFill/>
          <a:ln/>
        </p:spPr>
        <p:txBody>
          <a:bodyPr wrap="square" lIns="0" tIns="0" rIns="0" bIns="0" rtlCol="0" anchor="t"/>
          <a:lstStyle/>
          <a:p>
            <a:pPr indent="0" marL="0">
              <a:buNone/>
            </a:pPr>
            <a:r>
              <a:rPr lang="en-US" sz="1100" b="1" dirty="0">
                <a:solidFill>
                  <a:schemeClr val="tx1"/>
                </a:solidFill>
              </a:rPr>
              <a:t>Triage service (FastAPI)</a:t>
            </a:r>
            <a:endParaRPr lang="en-US" sz="1100" dirty="0"/>
          </a:p>
          <a:p>
            <a:pPr indent="0" marL="0">
              <a:buNone/>
            </a:pPr>
            <a:r>
              <a:rPr lang="en-US" sz="1100" dirty="0">
                <a:solidFill>
                  <a:schemeClr val="tx1"/>
                </a:solidFill>
              </a:rPr>
              <a:t>Validates, calls Ollama, stores, logs every request (id, path, status, duration)</a:t>
            </a:r>
            <a:endParaRPr lang="en-US" sz="1100" dirty="0"/>
          </a:p>
        </p:txBody>
      </p:sp>
      <p:sp>
        <p:nvSpPr>
          <p:cNvPr id="9" name="Shape 7"/>
          <p:cNvSpPr/>
          <p:nvPr/>
        </p:nvSpPr>
        <p:spPr>
          <a:xfrm>
            <a:off x="2743200" y="2331720"/>
            <a:ext cx="2697480" cy="868680"/>
          </a:xfrm>
          <a:prstGeom prst="roundRect">
            <a:avLst>
              <a:gd name="adj" fmla="val 8421"/>
            </a:avLst>
          </a:prstGeom>
          <a:solidFill>
            <a:srgbClr val="FBEBDD"/>
          </a:solidFill>
          <a:ln w="12700">
            <a:solidFill>
              <a:srgbClr val="FBEBDD"/>
            </a:solidFill>
            <a:prstDash val="solid"/>
          </a:ln>
        </p:spPr>
      </p:sp>
      <p:sp>
        <p:nvSpPr>
          <p:cNvPr id="10" name="Text 8"/>
          <p:cNvSpPr txBox="1"/>
          <p:nvPr/>
        </p:nvSpPr>
        <p:spPr>
          <a:xfrm>
            <a:off x="2852928" y="2404872"/>
            <a:ext cx="2514600" cy="749808"/>
          </a:xfrm>
          <a:prstGeom prst="rect">
            <a:avLst/>
          </a:prstGeom>
          <a:noFill/>
          <a:ln/>
        </p:spPr>
        <p:txBody>
          <a:bodyPr wrap="square" lIns="0" tIns="0" rIns="0" bIns="0" rtlCol="0" anchor="t"/>
          <a:lstStyle/>
          <a:p>
            <a:pPr indent="0" marL="0">
              <a:buNone/>
            </a:pPr>
            <a:r>
              <a:rPr lang="en-US" sz="1100" b="1" dirty="0">
                <a:solidFill>
                  <a:schemeClr val="tx1"/>
                </a:solidFill>
              </a:rPr>
              <a:t>Ollama 0.12.3 · CPU only</a:t>
            </a:r>
            <a:endParaRPr lang="en-US" sz="1100" dirty="0"/>
          </a:p>
          <a:p>
            <a:pPr indent="0" marL="0">
              <a:buNone/>
            </a:pPr>
            <a:r>
              <a:rPr lang="en-US" sz="1100" dirty="0">
                <a:solidFill>
                  <a:schemeClr val="tx1"/>
                </a:solidFill>
              </a:rPr>
              <a:t>One model loaded; NUM_PARALLEL = 1, so tickets are classified one at a time</a:t>
            </a:r>
            <a:endParaRPr lang="en-US" sz="1100" dirty="0"/>
          </a:p>
        </p:txBody>
      </p:sp>
      <p:sp>
        <p:nvSpPr>
          <p:cNvPr id="11" name="Shape 9"/>
          <p:cNvSpPr/>
          <p:nvPr/>
        </p:nvSpPr>
        <p:spPr>
          <a:xfrm>
            <a:off x="2743200" y="3429000"/>
            <a:ext cx="2697480" cy="868680"/>
          </a:xfrm>
          <a:prstGeom prst="roundRect">
            <a:avLst>
              <a:gd name="adj" fmla="val 8421"/>
            </a:avLst>
          </a:prstGeom>
          <a:solidFill>
            <a:srgbClr val="E4E9EC"/>
          </a:solidFill>
          <a:ln w="12700">
            <a:solidFill>
              <a:srgbClr val="E4E9EC"/>
            </a:solidFill>
            <a:prstDash val="solid"/>
          </a:ln>
        </p:spPr>
      </p:sp>
      <p:sp>
        <p:nvSpPr>
          <p:cNvPr id="12" name="Text 10"/>
          <p:cNvSpPr txBox="1"/>
          <p:nvPr/>
        </p:nvSpPr>
        <p:spPr>
          <a:xfrm>
            <a:off x="2852928" y="3502152"/>
            <a:ext cx="2514600" cy="749808"/>
          </a:xfrm>
          <a:prstGeom prst="rect">
            <a:avLst/>
          </a:prstGeom>
          <a:noFill/>
          <a:ln/>
        </p:spPr>
        <p:txBody>
          <a:bodyPr wrap="square" lIns="0" tIns="0" rIns="0" bIns="0" rtlCol="0" anchor="t"/>
          <a:lstStyle/>
          <a:p>
            <a:pPr indent="0" marL="0">
              <a:buNone/>
            </a:pPr>
            <a:r>
              <a:rPr lang="en-US" sz="1100" b="1" dirty="0">
                <a:solidFill>
                  <a:schemeClr val="tx1"/>
                </a:solidFill>
              </a:rPr>
              <a:t>PostgreSQL 16</a:t>
            </a:r>
            <a:endParaRPr lang="en-US" sz="1100" dirty="0"/>
          </a:p>
          <a:p>
            <a:pPr indent="0" marL="0">
              <a:buNone/>
            </a:pPr>
            <a:r>
              <a:rPr lang="en-US" sz="1100" dirty="0">
                <a:solidFill>
                  <a:schemeClr val="tx1"/>
                </a:solidFill>
              </a:rPr>
              <a:t>Starts empty; filled only through POST /tickets</a:t>
            </a:r>
            <a:endParaRPr lang="en-US" sz="1100" dirty="0"/>
          </a:p>
        </p:txBody>
      </p:sp>
      <p:sp>
        <p:nvSpPr>
          <p:cNvPr id="13" name="Shape 11"/>
          <p:cNvSpPr/>
          <p:nvPr/>
        </p:nvSpPr>
        <p:spPr>
          <a:xfrm>
            <a:off x="2057400" y="1645920"/>
            <a:ext cx="685800" cy="0"/>
          </a:xfrm>
          <a:prstGeom prst="line">
            <a:avLst/>
          </a:prstGeom>
          <a:noFill/>
          <a:ln w="19050">
            <a:solidFill>
              <a:srgbClr val="12343B"/>
            </a:solidFill>
            <a:prstDash val="solid"/>
            <a:tailEnd type="triangle"/>
          </a:ln>
        </p:spPr>
      </p:sp>
      <p:sp>
        <p:nvSpPr>
          <p:cNvPr id="14" name="Shape 12"/>
          <p:cNvSpPr/>
          <p:nvPr/>
        </p:nvSpPr>
        <p:spPr>
          <a:xfrm>
            <a:off x="4091940" y="2103120"/>
            <a:ext cx="0" cy="228600"/>
          </a:xfrm>
          <a:prstGeom prst="line">
            <a:avLst/>
          </a:prstGeom>
          <a:noFill/>
          <a:ln w="19050">
            <a:solidFill>
              <a:srgbClr val="12343B"/>
            </a:solidFill>
            <a:prstDash val="solid"/>
            <a:tailEnd type="triangle"/>
          </a:ln>
        </p:spPr>
      </p:sp>
      <p:sp>
        <p:nvSpPr>
          <p:cNvPr id="15" name="Shape 13"/>
          <p:cNvSpPr/>
          <p:nvPr/>
        </p:nvSpPr>
        <p:spPr>
          <a:xfrm>
            <a:off x="5440680" y="1664208"/>
            <a:ext cx="137160" cy="0"/>
          </a:xfrm>
          <a:prstGeom prst="line">
            <a:avLst/>
          </a:prstGeom>
          <a:noFill/>
          <a:ln w="19050">
            <a:solidFill>
              <a:srgbClr val="12343B"/>
            </a:solidFill>
            <a:prstDash val="solid"/>
          </a:ln>
        </p:spPr>
      </p:sp>
      <p:sp>
        <p:nvSpPr>
          <p:cNvPr id="16" name="Shape 14"/>
          <p:cNvSpPr/>
          <p:nvPr/>
        </p:nvSpPr>
        <p:spPr>
          <a:xfrm>
            <a:off x="5577840" y="1664208"/>
            <a:ext cx="0" cy="2194560"/>
          </a:xfrm>
          <a:prstGeom prst="line">
            <a:avLst/>
          </a:prstGeom>
          <a:noFill/>
          <a:ln w="19050">
            <a:solidFill>
              <a:srgbClr val="12343B"/>
            </a:solidFill>
            <a:prstDash val="solid"/>
          </a:ln>
        </p:spPr>
      </p:sp>
      <p:sp>
        <p:nvSpPr>
          <p:cNvPr id="17" name="Shape 15"/>
          <p:cNvSpPr/>
          <p:nvPr/>
        </p:nvSpPr>
        <p:spPr>
          <a:xfrm>
            <a:off x="5440680" y="3858768"/>
            <a:ext cx="137160" cy="0"/>
          </a:xfrm>
          <a:prstGeom prst="line">
            <a:avLst/>
          </a:prstGeom>
          <a:noFill/>
          <a:ln w="19050">
            <a:solidFill>
              <a:srgbClr val="12343B"/>
            </a:solidFill>
            <a:prstDash val="solid"/>
            <a:headEnd type="triangle"/>
          </a:ln>
        </p:spPr>
      </p:sp>
      <p:sp>
        <p:nvSpPr>
          <p:cNvPr id="18" name="Text 16"/>
          <p:cNvSpPr txBox="1"/>
          <p:nvPr/>
        </p:nvSpPr>
        <p:spPr>
          <a:xfrm>
            <a:off x="457200" y="2331720"/>
            <a:ext cx="2011680" cy="274320"/>
          </a:xfrm>
          <a:prstGeom prst="rect">
            <a:avLst/>
          </a:prstGeom>
          <a:noFill/>
          <a:ln/>
        </p:spPr>
        <p:txBody>
          <a:bodyPr wrap="square" lIns="0" tIns="0" rIns="0" bIns="0" rtlCol="0" anchor="t"/>
          <a:lstStyle/>
          <a:p>
            <a:pPr indent="0" marL="0">
              <a:buNone/>
            </a:pPr>
            <a:r>
              <a:rPr lang="en-US" sz="1000" dirty="0">
                <a:solidFill>
                  <a:schemeClr val="accent5"/>
                </a:solidFill>
              </a:rPr>
              <a:t>HTTP :8000, home LAN</a:t>
            </a:r>
            <a:endParaRPr lang="en-US" sz="1000" dirty="0"/>
          </a:p>
        </p:txBody>
      </p:sp>
      <p:sp>
        <p:nvSpPr>
          <p:cNvPr id="19" name="Text 17"/>
          <p:cNvSpPr txBox="1"/>
          <p:nvPr/>
        </p:nvSpPr>
        <p:spPr>
          <a:xfrm>
            <a:off x="5989320" y="914400"/>
            <a:ext cx="2743200" cy="274320"/>
          </a:xfrm>
          <a:prstGeom prst="rect">
            <a:avLst/>
          </a:prstGeom>
          <a:noFill/>
          <a:ln/>
        </p:spPr>
        <p:txBody>
          <a:bodyPr wrap="square" lIns="0" tIns="0" rIns="0" bIns="0" rtlCol="0" anchor="t"/>
          <a:lstStyle/>
          <a:p>
            <a:pPr indent="0" marL="0">
              <a:buNone/>
            </a:pPr>
            <a:r>
              <a:rPr lang="en-US" sz="1400" b="1" dirty="0">
                <a:solidFill>
                  <a:schemeClr val="tx2"/>
                </a:solidFill>
              </a:rPr>
              <a:t>Endpoints</a:t>
            </a:r>
            <a:endParaRPr lang="en-US" sz="1400" dirty="0"/>
          </a:p>
        </p:txBody>
      </p:sp>
      <p:sp>
        <p:nvSpPr>
          <p:cNvPr id="20" name="Text 18"/>
          <p:cNvSpPr txBox="1"/>
          <p:nvPr/>
        </p:nvSpPr>
        <p:spPr>
          <a:xfrm>
            <a:off x="5989320" y="1234440"/>
            <a:ext cx="2697480" cy="2103120"/>
          </a:xfrm>
          <a:prstGeom prst="rect">
            <a:avLst/>
          </a:prstGeom>
          <a:noFill/>
          <a:ln/>
        </p:spPr>
        <p:txBody>
          <a:bodyPr wrap="square" lIns="0" tIns="0" rIns="0" bIns="0" rtlCol="0" anchor="t"/>
          <a:lstStyle/>
          <a:p>
            <a:pPr indent="0" marL="0">
              <a:spcAft>
                <a:spcPts val="300"/>
              </a:spcAft>
              <a:buNone/>
            </a:pPr>
            <a:r>
              <a:rPr lang="en-US" sz="1100" b="1" dirty="0">
                <a:solidFill>
                  <a:schemeClr val="tx1"/>
                </a:solidFill>
              </a:rPr>
              <a:t>POST /tickets</a:t>
            </a:r>
            <a:endParaRPr lang="en-US" sz="1100" dirty="0"/>
          </a:p>
          <a:p>
            <a:pPr indent="0" marL="0">
              <a:spcAft>
                <a:spcPts val="300"/>
              </a:spcAft>
              <a:buNone/>
            </a:pPr>
            <a:r>
              <a:rPr lang="en-US" sz="1100" dirty="0">
                <a:solidFill>
                  <a:schemeClr val="tx1"/>
                </a:solidFill>
              </a:rPr>
              <a:t>Classifies one narrative into one of 7 categories, stores it, returns the category (201). Invalid model output → 502, not stored.</a:t>
            </a:r>
            <a:endParaRPr lang="en-US" sz="1100" dirty="0"/>
          </a:p>
          <a:p>
            <a:pPr indent="0" marL="0">
              <a:spcAft>
                <a:spcPts val="300"/>
              </a:spcAft>
              <a:buNone/>
            </a:pPr>
            <a:r>
              <a:rPr lang="en-US" sz="1100" b="1" dirty="0">
                <a:solidFill>
                  <a:schemeClr val="tx1"/>
                </a:solidFill>
              </a:rPr>
              <a:t>GET /search?q=</a:t>
            </a:r>
            <a:endParaRPr lang="en-US" sz="1100" dirty="0"/>
          </a:p>
          <a:p>
            <a:pPr indent="0" marL="0">
              <a:spcAft>
                <a:spcPts val="300"/>
              </a:spcAft>
              <a:buNone/>
            </a:pPr>
            <a:r>
              <a:rPr lang="en-US" sz="1100" dirty="0">
                <a:solidFill>
                  <a:schemeClr val="tx1"/>
                </a:solidFill>
              </a:rPr>
              <a:t>Case-insensitive substring search of stored narratives.</a:t>
            </a:r>
            <a:endParaRPr lang="en-US" sz="1100" dirty="0"/>
          </a:p>
          <a:p>
            <a:pPr indent="0" marL="0">
              <a:spcAft>
                <a:spcPts val="300"/>
              </a:spcAft>
              <a:buNone/>
            </a:pPr>
            <a:r>
              <a:rPr lang="en-US" sz="1100" b="1" dirty="0">
                <a:solidFill>
                  <a:schemeClr val="tx1"/>
                </a:solidFill>
              </a:rPr>
              <a:t>GET /stats</a:t>
            </a:r>
            <a:endParaRPr lang="en-US" sz="1100" dirty="0"/>
          </a:p>
          <a:p>
            <a:pPr indent="0" marL="0">
              <a:spcAft>
                <a:spcPts val="300"/>
              </a:spcAft>
              <a:buNone/>
            </a:pPr>
            <a:r>
              <a:rPr lang="en-US" sz="1100" dirty="0">
                <a:solidFill>
                  <a:schemeClr val="tx1"/>
                </a:solidFill>
              </a:rPr>
              <a:t>Count of stored tickets per category.</a:t>
            </a:r>
            <a:endParaRPr lang="en-US" sz="1100" dirty="0"/>
          </a:p>
        </p:txBody>
      </p:sp>
      <p:sp>
        <p:nvSpPr>
          <p:cNvPr id="21" name="Shape 19"/>
          <p:cNvSpPr/>
          <p:nvPr/>
        </p:nvSpPr>
        <p:spPr>
          <a:xfrm>
            <a:off x="5989320" y="3429000"/>
            <a:ext cx="2697480" cy="1051560"/>
          </a:xfrm>
          <a:prstGeom prst="roundRect">
            <a:avLst>
              <a:gd name="adj" fmla="val 6957"/>
            </a:avLst>
          </a:prstGeom>
          <a:solidFill>
            <a:srgbClr val="DDF0EE"/>
          </a:solidFill>
          <a:ln w="12700">
            <a:solidFill>
              <a:srgbClr val="DDF0EE"/>
            </a:solidFill>
            <a:prstDash val="solid"/>
          </a:ln>
        </p:spPr>
      </p:sp>
      <p:sp>
        <p:nvSpPr>
          <p:cNvPr id="22" name="Text 20"/>
          <p:cNvSpPr txBox="1"/>
          <p:nvPr/>
        </p:nvSpPr>
        <p:spPr>
          <a:xfrm>
            <a:off x="6099048" y="3520440"/>
            <a:ext cx="2514600" cy="914400"/>
          </a:xfrm>
          <a:prstGeom prst="rect">
            <a:avLst/>
          </a:prstGeom>
          <a:noFill/>
          <a:ln/>
        </p:spPr>
        <p:txBody>
          <a:bodyPr wrap="square" lIns="0" tIns="0" rIns="0" bIns="0" rtlCol="0" anchor="t"/>
          <a:lstStyle/>
          <a:p>
            <a:pPr indent="0" marL="0">
              <a:buNone/>
            </a:pPr>
            <a:r>
              <a:rPr lang="en-US" sz="1100" b="1" dirty="0">
                <a:solidFill>
                  <a:schemeClr val="accent5"/>
                </a:solidFill>
              </a:rPr>
              <a:t>Baseline, unoptimised</a:t>
            </a:r>
            <a:endParaRPr lang="en-US" sz="1100" dirty="0"/>
          </a:p>
          <a:p>
            <a:pPr indent="0" marL="0">
              <a:buNone/>
            </a:pPr>
            <a:r>
              <a:rPr lang="en-US" sz="1100" dirty="0">
                <a:solidFill>
                  <a:schemeClr val="tx1"/>
                </a:solidFill>
              </a:rPr>
              <a:t>POST /tickets blocks until Ollama answers. No cache, no queue, no retries, no batching.</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Workload: 81 tickets/h at peak, 105/h with growth headroom</a:t>
            </a:r>
            <a:endParaRPr lang="en-US" sz="2200" dirty="0"/>
          </a:p>
        </p:txBody>
      </p:sp>
      <p:sp>
        <p:nvSpPr>
          <p:cNvPr id="3" name="Text 1"/>
          <p:cNvSpPr txBox="1"/>
          <p:nvPr/>
        </p:nvSpPr>
        <p:spPr>
          <a:xfrm>
            <a:off x="457200" y="914400"/>
            <a:ext cx="192024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189,070</a:t>
            </a:r>
            <a:endParaRPr lang="en-US" sz="2600" dirty="0"/>
          </a:p>
        </p:txBody>
      </p:sp>
      <p:sp>
        <p:nvSpPr>
          <p:cNvPr id="4" name="Text 2"/>
          <p:cNvSpPr txBox="1"/>
          <p:nvPr/>
        </p:nvSpPr>
        <p:spPr>
          <a:xfrm>
            <a:off x="457200" y="1371600"/>
            <a:ext cx="1920240" cy="411480"/>
          </a:xfrm>
          <a:prstGeom prst="rect">
            <a:avLst/>
          </a:prstGeom>
          <a:noFill/>
          <a:ln/>
        </p:spPr>
        <p:txBody>
          <a:bodyPr wrap="square" lIns="0" tIns="0" rIns="0" bIns="0" rtlCol="0" anchor="t"/>
          <a:lstStyle/>
          <a:p>
            <a:pPr indent="0" marL="0">
              <a:buNone/>
            </a:pPr>
            <a:r>
              <a:rPr lang="en-US" sz="1000" dirty="0">
                <a:solidFill>
                  <a:schemeClr val="tx1"/>
                </a:solidFill>
              </a:rPr>
              <a:t>complaints/year: Barclays Bank UK, H1 2026 × 2 [S: R1]</a:t>
            </a:r>
            <a:endParaRPr lang="en-US" sz="1000" dirty="0"/>
          </a:p>
        </p:txBody>
      </p:sp>
      <p:sp>
        <p:nvSpPr>
          <p:cNvPr id="5" name="Text 3"/>
          <p:cNvSpPr txBox="1"/>
          <p:nvPr/>
        </p:nvSpPr>
        <p:spPr>
          <a:xfrm>
            <a:off x="2468880" y="914400"/>
            <a:ext cx="192024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81 / h</a:t>
            </a:r>
            <a:endParaRPr lang="en-US" sz="2600" dirty="0"/>
          </a:p>
        </p:txBody>
      </p:sp>
      <p:sp>
        <p:nvSpPr>
          <p:cNvPr id="6" name="Text 4"/>
          <p:cNvSpPr txBox="1"/>
          <p:nvPr/>
        </p:nvSpPr>
        <p:spPr>
          <a:xfrm>
            <a:off x="2468880" y="1371600"/>
            <a:ext cx="1920240" cy="411480"/>
          </a:xfrm>
          <a:prstGeom prst="rect">
            <a:avLst/>
          </a:prstGeom>
          <a:noFill/>
          <a:ln/>
        </p:spPr>
        <p:txBody>
          <a:bodyPr wrap="square" lIns="0" tIns="0" rIns="0" bIns="0" rtlCol="0" anchor="t"/>
          <a:lstStyle/>
          <a:p>
            <a:pPr indent="0" marL="0">
              <a:buNone/>
            </a:pPr>
            <a:r>
              <a:rPr lang="en-US" sz="1000" dirty="0">
                <a:solidFill>
                  <a:schemeClr val="tx1"/>
                </a:solidFill>
              </a:rPr>
              <a:t>present-day peak hour [E]</a:t>
            </a:r>
            <a:endParaRPr lang="en-US" sz="1000" dirty="0"/>
          </a:p>
        </p:txBody>
      </p:sp>
      <p:sp>
        <p:nvSpPr>
          <p:cNvPr id="7" name="Text 5"/>
          <p:cNvSpPr txBox="1"/>
          <p:nvPr/>
        </p:nvSpPr>
        <p:spPr>
          <a:xfrm>
            <a:off x="457200" y="1783080"/>
            <a:ext cx="192024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105 / h</a:t>
            </a:r>
            <a:endParaRPr lang="en-US" sz="2600" dirty="0"/>
          </a:p>
        </p:txBody>
      </p:sp>
      <p:sp>
        <p:nvSpPr>
          <p:cNvPr id="8" name="Text 6"/>
          <p:cNvSpPr txBox="1"/>
          <p:nvPr/>
        </p:nvSpPr>
        <p:spPr>
          <a:xfrm>
            <a:off x="457200" y="2240280"/>
            <a:ext cx="1920240" cy="411480"/>
          </a:xfrm>
          <a:prstGeom prst="rect">
            <a:avLst/>
          </a:prstGeom>
          <a:noFill/>
          <a:ln/>
        </p:spPr>
        <p:txBody>
          <a:bodyPr wrap="square" lIns="0" tIns="0" rIns="0" bIns="0" rtlCol="0" anchor="t"/>
          <a:lstStyle/>
          <a:p>
            <a:pPr indent="0" marL="0">
              <a:buNone/>
            </a:pPr>
            <a:r>
              <a:rPr lang="en-US" sz="1000" dirty="0">
                <a:solidFill>
                  <a:schemeClr val="tx1"/>
                </a:solidFill>
              </a:rPr>
              <a:t>requirement load: peak + 30% growth [S: R5]</a:t>
            </a:r>
            <a:endParaRPr lang="en-US" sz="1000" dirty="0"/>
          </a:p>
        </p:txBody>
      </p:sp>
      <p:sp>
        <p:nvSpPr>
          <p:cNvPr id="9" name="Text 7"/>
          <p:cNvSpPr txBox="1"/>
          <p:nvPr/>
        </p:nvSpPr>
        <p:spPr>
          <a:xfrm>
            <a:off x="2468880" y="1783080"/>
            <a:ext cx="192024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316 / h</a:t>
            </a:r>
            <a:endParaRPr lang="en-US" sz="2600" dirty="0"/>
          </a:p>
        </p:txBody>
      </p:sp>
      <p:sp>
        <p:nvSpPr>
          <p:cNvPr id="10" name="Text 8"/>
          <p:cNvSpPr txBox="1"/>
          <p:nvPr/>
        </p:nvSpPr>
        <p:spPr>
          <a:xfrm>
            <a:off x="2468880" y="2240280"/>
            <a:ext cx="1920240" cy="411480"/>
          </a:xfrm>
          <a:prstGeom prst="rect">
            <a:avLst/>
          </a:prstGeom>
          <a:noFill/>
          <a:ln/>
        </p:spPr>
        <p:txBody>
          <a:bodyPr wrap="square" lIns="0" tIns="0" rIns="0" bIns="0" rtlCol="0" anchor="t"/>
          <a:lstStyle/>
          <a:p>
            <a:pPr indent="0" marL="0">
              <a:buNone/>
            </a:pPr>
            <a:r>
              <a:rPr lang="en-US" sz="1000" dirty="0">
                <a:solidFill>
                  <a:schemeClr val="tx1"/>
                </a:solidFill>
              </a:rPr>
              <a:t>agent searches at 105/h (6 per agent-hour) [E]</a:t>
            </a:r>
            <a:endParaRPr lang="en-US" sz="1000" dirty="0"/>
          </a:p>
        </p:txBody>
      </p:sp>
      <p:sp>
        <p:nvSpPr>
          <p:cNvPr id="11" name="Text 9"/>
          <p:cNvSpPr txBox="1"/>
          <p:nvPr/>
        </p:nvSpPr>
        <p:spPr>
          <a:xfrm>
            <a:off x="457200" y="2651760"/>
            <a:ext cx="4023360" cy="640080"/>
          </a:xfrm>
          <a:prstGeom prst="rect">
            <a:avLst/>
          </a:prstGeom>
          <a:noFill/>
          <a:ln/>
        </p:spPr>
        <p:txBody>
          <a:bodyPr wrap="square" lIns="0" tIns="0" rIns="0" bIns="0" rtlCol="0" anchor="t"/>
          <a:lstStyle/>
          <a:p>
            <a:pPr indent="0" marL="0">
              <a:buNone/>
            </a:pPr>
            <a:r>
              <a:rPr lang="en-US" sz="1000" b="1" dirty="0">
                <a:solidFill>
                  <a:schemeClr val="tx1"/>
                </a:solidFill>
              </a:rPr>
              <a:t>Derivation: </a:t>
            </a:r>
            <a:pPr indent="0" marL="0">
              <a:buNone/>
            </a:pPr>
            <a:r>
              <a:rPr lang="en-US" sz="1000" dirty="0">
                <a:solidFill>
                  <a:schemeClr val="tx1"/>
                </a:solidFill>
              </a:rPr>
              <a:t>189,070 ÷ 365 = 518/day × 1.25 busiest day [S: CFPB daily counts, R3] = 648/day ÷ 12-h arrival window [E] × 1.5 busiest hour [E, bounded by R6/R7] = 81/h.</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310128"/>
          <a:ext cx="4023360" cy="914400"/>
        </p:xfrm>
        <a:graphic>
          <a:graphicData uri="http://schemas.openxmlformats.org/drawingml/2006/table">
            <a:tbl>
              <a:tblPr/>
              <a:tblGrid>
                <a:gridCol w="1554480"/>
                <a:gridCol w="777240"/>
                <a:gridCol w="777240"/>
                <a:gridCol w="914400"/>
              </a:tblGrid>
              <a:tr h="201168">
                <a:tc>
                  <a:txBody>
                    <a:bodyPr/>
                    <a:lstStyle/>
                    <a:p>
                      <a:pPr indent="0" marL="0">
                        <a:buNone/>
                      </a:pPr>
                      <a:r>
                        <a:rPr lang="en-US" sz="950" b="1" dirty="0">
                          <a:solidFill>
                            <a:srgbClr val="FFFFFF"/>
                          </a:solidFill>
                        </a:rPr>
                        <a:t>Level</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POST/h</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Search/h</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Tested</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r>
              <a:tr h="201168">
                <a:tc>
                  <a:txBody>
                    <a:bodyPr/>
                    <a:lstStyle/>
                    <a:p>
                      <a:pPr indent="0" marL="0">
                        <a:buNone/>
                      </a:pPr>
                      <a:r>
                        <a:rPr lang="en-US" sz="950" dirty="0">
                          <a:solidFill>
                            <a:srgbClr val="000000"/>
                          </a:solidFill>
                        </a:rPr>
                        <a:t>Off-peak (Sunday)</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18</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55</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01168">
                <a:tc>
                  <a:txBody>
                    <a:bodyPr/>
                    <a:lstStyle/>
                    <a:p>
                      <a:pPr indent="0" marL="0">
                        <a:buNone/>
                      </a:pPr>
                      <a:r>
                        <a:rPr lang="en-US" sz="950" dirty="0">
                          <a:solidFill>
                            <a:srgbClr val="000000"/>
                          </a:solidFill>
                        </a:rPr>
                        <a:t>Average</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43</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130</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 runs</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01168">
                <a:tc>
                  <a:txBody>
                    <a:bodyPr/>
                    <a:lstStyle/>
                    <a:p>
                      <a:pPr indent="0" marL="0">
                        <a:buNone/>
                      </a:pPr>
                      <a:r>
                        <a:rPr lang="en-US" sz="950" dirty="0">
                          <a:solidFill>
                            <a:srgbClr val="000000"/>
                          </a:solidFill>
                        </a:rPr>
                        <a:t>Peak</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81</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243</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 runs</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01168">
                <a:tc>
                  <a:txBody>
                    <a:bodyPr/>
                    <a:lstStyle/>
                    <a:p>
                      <a:pPr indent="0" marL="0">
                        <a:buNone/>
                      </a:pPr>
                      <a:r>
                        <a:rPr lang="en-US" sz="950" dirty="0">
                          <a:solidFill>
                            <a:srgbClr val="000000"/>
                          </a:solidFill>
                        </a:rPr>
                        <a:t>Peak + 30% (R1–R4)</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105</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316</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 runs</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01168">
                <a:tc>
                  <a:txBody>
                    <a:bodyPr/>
                    <a:lstStyle/>
                    <a:p>
                      <a:pPr indent="0" marL="0">
                        <a:buNone/>
                      </a:pPr>
                      <a:r>
                        <a:rPr lang="en-US" sz="950" dirty="0">
                          <a:solidFill>
                            <a:srgbClr val="000000"/>
                          </a:solidFill>
                        </a:rPr>
                        <a:t>Burst / surge</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130 / 243</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316</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stress ramp</a:t>
                      </a:r>
                      <a:endParaRPr lang="en-US" sz="950" dirty="0"/>
                    </a:p>
                  </a:txBody>
                  <a:tcPr marL="36576" marR="36576" marT="36576" marB="36576">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bl>
          </a:graphicData>
        </a:graphic>
      </p:graphicFrame>
      <p:graphicFrame>
        <p:nvGraphicFramePr>
          <p:cNvPr id="13" name="Chart 0" descr=""/>
          <p:cNvGraphicFramePr/>
          <p:nvPr/>
        </p:nvGraphicFramePr>
        <p:xfrm>
          <a:off x="4754880" y="868680"/>
          <a:ext cx="3931920" cy="292608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4754880" y="3840480"/>
            <a:ext cx="3931920" cy="548640"/>
          </a:xfrm>
          <a:prstGeom prst="rect">
            <a:avLst/>
          </a:prstGeom>
          <a:noFill/>
          <a:ln/>
        </p:spPr>
        <p:txBody>
          <a:bodyPr wrap="square" lIns="0" tIns="0" rIns="0" bIns="0" rtlCol="0" anchor="t"/>
          <a:lstStyle/>
          <a:p>
            <a:pPr indent="0" marL="0">
              <a:buNone/>
            </a:pPr>
            <a:r>
              <a:rPr lang="en-US" sz="1000" dirty="0">
                <a:solidFill>
                  <a:schemeClr val="tx1"/>
                </a:solidFill>
              </a:rPr>
              <a:t>Median 140 · p95 305 · p99 352 · max 369 words. Right-skewed; the extract is clipped at 200–2,000 characters, so real tickets can be longer and slower.</a:t>
            </a:r>
            <a:endParaRPr lang="en-US" sz="1000" dirty="0"/>
          </a:p>
        </p:txBody>
      </p:sp>
      <p:sp>
        <p:nvSpPr>
          <p:cNvPr id="15" name="Text 11"/>
          <p:cNvSpPr txBox="1"/>
          <p:nvPr/>
        </p:nvSpPr>
        <p:spPr>
          <a:xfrm>
            <a:off x="4754880" y="4434840"/>
            <a:ext cx="3931920" cy="274320"/>
          </a:xfrm>
          <a:prstGeom prst="rect">
            <a:avLst/>
          </a:prstGeom>
          <a:noFill/>
          <a:ln/>
        </p:spPr>
        <p:txBody>
          <a:bodyPr wrap="square" lIns="0" tIns="0" rIns="0" bIns="0" rtlCol="0" anchor="t"/>
          <a:lstStyle/>
          <a:p>
            <a:pPr indent="0" marL="0">
              <a:buNone/>
            </a:pPr>
            <a:r>
              <a:rPr lang="en-US" sz="900" i="1" dirty="0">
                <a:solidFill>
                  <a:schemeClr val="accent5"/>
                </a:solidFill>
              </a:rPr>
              <a:t>[S] sourced · [E] estimate · [M] measured. Sources on slide 12; full derivation in workload/WORKLOAD.md.</a:t>
            </a:r>
            <a:endParaRPr lang="en-US" sz="9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Requirements: testable, identical for every candidate</a:t>
            </a:r>
            <a:endParaRPr lang="en-US" sz="2200" dirty="0"/>
          </a:p>
        </p:txBody>
      </p:sp>
      <p:sp>
        <p:nvSpPr>
          <p:cNvPr id="3" name="Text 1"/>
          <p:cNvSpPr txBox="1"/>
          <p:nvPr/>
        </p:nvSpPr>
        <p:spPr>
          <a:xfrm>
            <a:off x="457200" y="822960"/>
            <a:ext cx="8229600" cy="365760"/>
          </a:xfrm>
          <a:prstGeom prst="rect">
            <a:avLst/>
          </a:prstGeom>
          <a:noFill/>
          <a:ln/>
        </p:spPr>
        <p:txBody>
          <a:bodyPr wrap="square" lIns="0" tIns="0" rIns="0" bIns="0" rtlCol="0" anchor="t"/>
          <a:lstStyle/>
          <a:p>
            <a:pPr indent="0" marL="0">
              <a:buNone/>
            </a:pPr>
            <a:r>
              <a:rPr lang="en-US" sz="1100" dirty="0">
                <a:solidFill>
                  <a:schemeClr val="accent5"/>
                </a:solidFill>
              </a:rPr>
              <a:t>R1–R4 condition: open-loop mixed load, 105 POST/h + 316 search/h, 20-min steady window after a 2-min warm-up, 3 runs. R5–R7: the frozen 160-ticket golden set.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25880"/>
                <a:gridCol w="3154680"/>
                <a:gridCol w="3749040"/>
              </a:tblGrid>
              <a:tr h="329184">
                <a:tc>
                  <a:txBody>
                    <a:bodyPr/>
                    <a:lstStyle/>
                    <a:p>
                      <a:pPr indent="0" marL="0">
                        <a:buNone/>
                      </a:pPr>
                      <a:r>
                        <a:rPr lang="en-US" sz="1050" b="1" dirty="0">
                          <a:solidFill>
                            <a:srgbClr val="FFFFFF"/>
                          </a:solidFill>
                        </a:rPr>
                        <a:t>Req</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1050" b="1" dirty="0">
                          <a:solidFill>
                            <a:srgbClr val="FFFFFF"/>
                          </a:solidFill>
                        </a:rPr>
                        <a:t>Testable statement</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1050" b="1" dirty="0">
                          <a:solidFill>
                            <a:srgbClr val="FFFFFF"/>
                          </a:solidFill>
                        </a:rPr>
                        <a:t>Why this number</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r>
              <a:tr h="329184">
                <a:tc>
                  <a:txBody>
                    <a:bodyPr/>
                    <a:lstStyle/>
                    <a:p>
                      <a:pPr indent="0" marL="0">
                        <a:buNone/>
                      </a:pPr>
                      <a:r>
                        <a:rPr lang="en-US" sz="1050" b="1" dirty="0">
                          <a:solidFill>
                            <a:srgbClr val="12343B"/>
                          </a:solidFill>
                        </a:rPr>
                        <a:t>R1 Throughput</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 105 successful classifications/h; backlog not growing</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Peak 81/h + 30% one-year growth (FIDReC +32%)</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R2 POST latency</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p95 ≤ 30 s, p99 ≤ 60 s</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p95 below the 34 s mean gap between arrivals at 105/h, so queues drain; intake is automated, not interactive</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R3 Search latency</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p95 ≤ 2 s, p99 ≤ 5 s</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Agents search interactively while handling a case</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R4 Reliability</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 1.0% errors per endpoint; /stats delta = successful POSTs</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A failed classification is an unrouted ticket</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R5 Accuracy</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 85.0% overall (≥ 136/160)</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 5 of 6 routed correctly, else manual correction cost dominates</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R6 Per category</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every category ≥ 70.0%</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Stops a small team (Credit card, n = 11) being sacrificed for the average</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R7 Conformance</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 99.0% valid JSON with an exact category name</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Non-exact output cannot be routed</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329184">
                <a:tc>
                  <a:txBody>
                    <a:bodyPr/>
                    <a:lstStyle/>
                    <a:p>
                      <a:pPr indent="0" marL="0">
                        <a:buNone/>
                      </a:pPr>
                      <a:r>
                        <a:rPr lang="en-US" sz="1050" b="1" dirty="0">
                          <a:solidFill>
                            <a:srgbClr val="12343B"/>
                          </a:solidFill>
                        </a:rPr>
                        <a:t>R8 Deployment</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000000"/>
                          </a:solidFill>
                        </a:rPr>
                        <a:t>CPU-only local Ollama; 0 restarts or OOM kills</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1050" dirty="0">
                          <a:solidFill>
                            <a:srgbClr val="4A5A60"/>
                          </a:solidFill>
                        </a:rPr>
                        <a:t>Client compliance: no data leaves; no GPUs</a:t>
                      </a:r>
                      <a:endParaRPr lang="en-US" sz="1050" dirty="0"/>
                    </a:p>
                  </a:txBody>
                  <a:tcPr marL="45720" marR="45720" marT="45720" marB="45720"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Candidate models: three size classes, one quantisation</a:t>
            </a:r>
            <a:endParaRPr lang="en-US" sz="2200" dirty="0"/>
          </a:p>
        </p:txBody>
      </p:sp>
      <p:sp>
        <p:nvSpPr>
          <p:cNvPr id="3" name="Shape 1"/>
          <p:cNvSpPr/>
          <p:nvPr/>
        </p:nvSpPr>
        <p:spPr>
          <a:xfrm>
            <a:off x="457200" y="914400"/>
            <a:ext cx="2606040" cy="2377440"/>
          </a:xfrm>
          <a:prstGeom prst="roundRect">
            <a:avLst>
              <a:gd name="adj" fmla="val 3077"/>
            </a:avLst>
          </a:prstGeom>
          <a:solidFill>
            <a:srgbClr val="EEF3F4"/>
          </a:solidFill>
          <a:ln w="12700">
            <a:solidFill>
              <a:srgbClr val="EEF3F4"/>
            </a:solidFill>
            <a:prstDash val="solid"/>
          </a:ln>
        </p:spPr>
      </p:sp>
      <p:sp>
        <p:nvSpPr>
          <p:cNvPr id="4" name="Shape 2"/>
          <p:cNvSpPr/>
          <p:nvPr/>
        </p:nvSpPr>
        <p:spPr>
          <a:xfrm>
            <a:off x="621792" y="1051560"/>
            <a:ext cx="292608" cy="292608"/>
          </a:xfrm>
          <a:prstGeom prst="ellipse">
            <a:avLst/>
          </a:prstGeom>
          <a:solidFill>
            <a:srgbClr val="8E9AA3"/>
          </a:solidFill>
          <a:ln w="12700">
            <a:solidFill>
              <a:srgbClr val="8E9AA3"/>
            </a:solidFill>
            <a:prstDash val="solid"/>
          </a:ln>
        </p:spPr>
      </p:sp>
      <p:sp>
        <p:nvSpPr>
          <p:cNvPr id="5" name="Text 3"/>
          <p:cNvSpPr txBox="1"/>
          <p:nvPr/>
        </p:nvSpPr>
        <p:spPr>
          <a:xfrm>
            <a:off x="1005840" y="1024128"/>
            <a:ext cx="1965960" cy="347472"/>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Gemma 3 1B</a:t>
            </a:r>
            <a:endParaRPr lang="en-US" sz="1500" dirty="0"/>
          </a:p>
        </p:txBody>
      </p:sp>
      <p:sp>
        <p:nvSpPr>
          <p:cNvPr id="6" name="Text 4"/>
          <p:cNvSpPr txBox="1"/>
          <p:nvPr/>
        </p:nvSpPr>
        <p:spPr>
          <a:xfrm>
            <a:off x="621792" y="1463040"/>
            <a:ext cx="2286000" cy="1783080"/>
          </a:xfrm>
          <a:prstGeom prst="rect">
            <a:avLst/>
          </a:prstGeom>
          <a:noFill/>
          <a:ln/>
        </p:spPr>
        <p:txBody>
          <a:bodyPr wrap="square" lIns="0" tIns="0" rIns="0" bIns="0" rtlCol="0" anchor="t"/>
          <a:lstStyle/>
          <a:p>
            <a:pPr indent="0" marL="0">
              <a:spcAft>
                <a:spcPts val="600"/>
              </a:spcAft>
              <a:buNone/>
            </a:pPr>
            <a:r>
              <a:rPr lang="en-US" sz="1100" b="1" dirty="0">
                <a:solidFill>
                  <a:srgbClr val="8E9AA3"/>
                </a:solidFill>
              </a:rPr>
              <a:t>Small · 1.0B</a:t>
            </a:r>
            <a:endParaRPr lang="en-US" sz="1100" dirty="0"/>
          </a:p>
          <a:p>
            <a:pPr indent="0" marL="0">
              <a:spcAft>
                <a:spcPts val="600"/>
              </a:spcAft>
              <a:buNone/>
            </a:pPr>
            <a:r>
              <a:rPr lang="en-US" sz="950" dirty="0">
                <a:solidFill>
                  <a:schemeClr val="tx1"/>
                </a:solidFill>
                <a:latin typeface="Courier New" pitchFamily="34" charset="0"/>
                <a:ea typeface="Courier New" pitchFamily="34" charset="-122"/>
                <a:cs typeface="Courier New" pitchFamily="34" charset="-120"/>
              </a:rPr>
              <a:t>gemma3:1b-it-q4_K_M</a:t>
            </a:r>
            <a:endParaRPr lang="en-US" sz="1100" dirty="0"/>
          </a:p>
          <a:p>
            <a:pPr indent="0" marL="0">
              <a:spcAft>
                <a:spcPts val="600"/>
              </a:spcAft>
              <a:buNone/>
            </a:pPr>
            <a:r>
              <a:rPr lang="en-US" sz="950" dirty="0">
                <a:solidFill>
                  <a:schemeClr val="tx1"/>
                </a:solidFill>
              </a:rPr>
              <a:t>ID 8648f39daa8f · weights sha256:7cd4618c1faf…</a:t>
            </a:r>
            <a:endParaRPr lang="en-US" sz="1100" dirty="0"/>
          </a:p>
          <a:p>
            <a:pPr indent="0" marL="0">
              <a:spcAft>
                <a:spcPts val="600"/>
              </a:spcAft>
              <a:buNone/>
            </a:pPr>
            <a:r>
              <a:rPr lang="en-US" sz="1100" dirty="0">
                <a:solidFill>
                  <a:schemeClr val="tx1"/>
                </a:solidFill>
              </a:rPr>
              <a:t>815 MB · Gemma Terms of Use</a:t>
            </a:r>
            <a:endParaRPr lang="en-US" sz="1100" dirty="0"/>
          </a:p>
          <a:p>
            <a:pPr indent="0" marL="0">
              <a:spcAft>
                <a:spcPts val="600"/>
              </a:spcAft>
              <a:buNone/>
            </a:pPr>
            <a:r>
              <a:rPr lang="en-US" sz="1100" i="1" dirty="0">
                <a:solidFill>
                  <a:schemeClr val="tx1"/>
                </a:solidFill>
              </a:rPr>
              <a:t>Fast, low-resource floor of the trade-off</a:t>
            </a:r>
            <a:endParaRPr lang="en-US" sz="1100" dirty="0"/>
          </a:p>
        </p:txBody>
      </p:sp>
      <p:sp>
        <p:nvSpPr>
          <p:cNvPr id="7" name="Shape 5"/>
          <p:cNvSpPr/>
          <p:nvPr/>
        </p:nvSpPr>
        <p:spPr>
          <a:xfrm>
            <a:off x="3246120" y="914400"/>
            <a:ext cx="2606040" cy="2377440"/>
          </a:xfrm>
          <a:prstGeom prst="roundRect">
            <a:avLst>
              <a:gd name="adj" fmla="val 3077"/>
            </a:avLst>
          </a:prstGeom>
          <a:solidFill>
            <a:srgbClr val="EEF3F4"/>
          </a:solidFill>
          <a:ln w="12700">
            <a:solidFill>
              <a:srgbClr val="EEF3F4"/>
            </a:solidFill>
            <a:prstDash val="solid"/>
          </a:ln>
        </p:spPr>
      </p:sp>
      <p:sp>
        <p:nvSpPr>
          <p:cNvPr id="8" name="Shape 6"/>
          <p:cNvSpPr/>
          <p:nvPr/>
        </p:nvSpPr>
        <p:spPr>
          <a:xfrm>
            <a:off x="3410712" y="1051560"/>
            <a:ext cx="292608" cy="292608"/>
          </a:xfrm>
          <a:prstGeom prst="ellipse">
            <a:avLst/>
          </a:prstGeom>
          <a:solidFill>
            <a:srgbClr val="2A9D8F"/>
          </a:solidFill>
          <a:ln w="12700">
            <a:solidFill>
              <a:srgbClr val="2A9D8F"/>
            </a:solidFill>
            <a:prstDash val="solid"/>
          </a:ln>
        </p:spPr>
      </p:sp>
      <p:sp>
        <p:nvSpPr>
          <p:cNvPr id="9" name="Text 7"/>
          <p:cNvSpPr txBox="1"/>
          <p:nvPr/>
        </p:nvSpPr>
        <p:spPr>
          <a:xfrm>
            <a:off x="3794760" y="1024128"/>
            <a:ext cx="1965960" cy="347472"/>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Qwen3 4B Instruct</a:t>
            </a:r>
            <a:endParaRPr lang="en-US" sz="1500" dirty="0"/>
          </a:p>
        </p:txBody>
      </p:sp>
      <p:sp>
        <p:nvSpPr>
          <p:cNvPr id="10" name="Text 8"/>
          <p:cNvSpPr txBox="1"/>
          <p:nvPr/>
        </p:nvSpPr>
        <p:spPr>
          <a:xfrm>
            <a:off x="3410712" y="1463040"/>
            <a:ext cx="2286000" cy="1783080"/>
          </a:xfrm>
          <a:prstGeom prst="rect">
            <a:avLst/>
          </a:prstGeom>
          <a:noFill/>
          <a:ln/>
        </p:spPr>
        <p:txBody>
          <a:bodyPr wrap="square" lIns="0" tIns="0" rIns="0" bIns="0" rtlCol="0" anchor="t"/>
          <a:lstStyle/>
          <a:p>
            <a:pPr indent="0" marL="0">
              <a:spcAft>
                <a:spcPts val="600"/>
              </a:spcAft>
              <a:buNone/>
            </a:pPr>
            <a:r>
              <a:rPr lang="en-US" sz="1100" b="1" dirty="0">
                <a:solidFill>
                  <a:srgbClr val="2A9D8F"/>
                </a:solidFill>
              </a:rPr>
              <a:t>Medium · 4.0B</a:t>
            </a:r>
            <a:endParaRPr lang="en-US" sz="1100" dirty="0"/>
          </a:p>
          <a:p>
            <a:pPr indent="0" marL="0">
              <a:spcAft>
                <a:spcPts val="600"/>
              </a:spcAft>
              <a:buNone/>
            </a:pPr>
            <a:r>
              <a:rPr lang="en-US" sz="950" dirty="0">
                <a:solidFill>
                  <a:schemeClr val="tx1"/>
                </a:solidFill>
                <a:latin typeface="Courier New" pitchFamily="34" charset="0"/>
                <a:ea typeface="Courier New" pitchFamily="34" charset="-122"/>
                <a:cs typeface="Courier New" pitchFamily="34" charset="-120"/>
              </a:rPr>
              <a:t>qwen3:4b-instruct-2507-q4_K_M</a:t>
            </a:r>
            <a:endParaRPr lang="en-US" sz="1100" dirty="0"/>
          </a:p>
          <a:p>
            <a:pPr indent="0" marL="0">
              <a:spcAft>
                <a:spcPts val="600"/>
              </a:spcAft>
              <a:buNone/>
            </a:pPr>
            <a:r>
              <a:rPr lang="en-US" sz="950" dirty="0">
                <a:solidFill>
                  <a:schemeClr val="tx1"/>
                </a:solidFill>
              </a:rPr>
              <a:t>ID 0edcdef34593 · weights sha256:85e4a5b7b8ef…</a:t>
            </a:r>
            <a:endParaRPr lang="en-US" sz="1100" dirty="0"/>
          </a:p>
          <a:p>
            <a:pPr indent="0" marL="0">
              <a:spcAft>
                <a:spcPts val="600"/>
              </a:spcAft>
              <a:buNone/>
            </a:pPr>
            <a:r>
              <a:rPr lang="en-US" sz="1100" dirty="0">
                <a:solidFill>
                  <a:schemeClr val="tx1"/>
                </a:solidFill>
              </a:rPr>
              <a:t>2.5 GB · Apache 2.0</a:t>
            </a:r>
            <a:endParaRPr lang="en-US" sz="1100" dirty="0"/>
          </a:p>
          <a:p>
            <a:pPr indent="0" marL="0">
              <a:spcAft>
                <a:spcPts val="600"/>
              </a:spcAft>
              <a:buNone/>
            </a:pPr>
            <a:r>
              <a:rPr lang="en-US" sz="1100" i="1" dirty="0">
                <a:solidFill>
                  <a:schemeClr val="tx1"/>
                </a:solidFill>
              </a:rPr>
              <a:t>Predicted balance; non-thinking variant, no reasoning tokens</a:t>
            </a:r>
            <a:endParaRPr lang="en-US" sz="1100" dirty="0"/>
          </a:p>
        </p:txBody>
      </p:sp>
      <p:sp>
        <p:nvSpPr>
          <p:cNvPr id="11" name="Shape 9"/>
          <p:cNvSpPr/>
          <p:nvPr/>
        </p:nvSpPr>
        <p:spPr>
          <a:xfrm>
            <a:off x="6035040" y="914400"/>
            <a:ext cx="2606040" cy="2377440"/>
          </a:xfrm>
          <a:prstGeom prst="roundRect">
            <a:avLst>
              <a:gd name="adj" fmla="val 3077"/>
            </a:avLst>
          </a:prstGeom>
          <a:solidFill>
            <a:srgbClr val="EEF3F4"/>
          </a:solidFill>
          <a:ln w="12700">
            <a:solidFill>
              <a:srgbClr val="EEF3F4"/>
            </a:solidFill>
            <a:prstDash val="solid"/>
          </a:ln>
        </p:spPr>
      </p:sp>
      <p:sp>
        <p:nvSpPr>
          <p:cNvPr id="12" name="Shape 10"/>
          <p:cNvSpPr/>
          <p:nvPr/>
        </p:nvSpPr>
        <p:spPr>
          <a:xfrm>
            <a:off x="6199632" y="1051560"/>
            <a:ext cx="292608" cy="292608"/>
          </a:xfrm>
          <a:prstGeom prst="ellipse">
            <a:avLst/>
          </a:prstGeom>
          <a:solidFill>
            <a:srgbClr val="E07A1F"/>
          </a:solidFill>
          <a:ln w="12700">
            <a:solidFill>
              <a:srgbClr val="E07A1F"/>
            </a:solidFill>
            <a:prstDash val="solid"/>
          </a:ln>
        </p:spPr>
      </p:sp>
      <p:sp>
        <p:nvSpPr>
          <p:cNvPr id="13" name="Text 11"/>
          <p:cNvSpPr txBox="1"/>
          <p:nvPr/>
        </p:nvSpPr>
        <p:spPr>
          <a:xfrm>
            <a:off x="6583680" y="1024128"/>
            <a:ext cx="1965960" cy="347472"/>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Llama 3.1 8B Instruct</a:t>
            </a:r>
            <a:endParaRPr lang="en-US" sz="1500" dirty="0"/>
          </a:p>
        </p:txBody>
      </p:sp>
      <p:sp>
        <p:nvSpPr>
          <p:cNvPr id="14" name="Text 12"/>
          <p:cNvSpPr txBox="1"/>
          <p:nvPr/>
        </p:nvSpPr>
        <p:spPr>
          <a:xfrm>
            <a:off x="6199632" y="1463040"/>
            <a:ext cx="2286000" cy="1783080"/>
          </a:xfrm>
          <a:prstGeom prst="rect">
            <a:avLst/>
          </a:prstGeom>
          <a:noFill/>
          <a:ln/>
        </p:spPr>
        <p:txBody>
          <a:bodyPr wrap="square" lIns="0" tIns="0" rIns="0" bIns="0" rtlCol="0" anchor="t"/>
          <a:lstStyle/>
          <a:p>
            <a:pPr indent="0" marL="0">
              <a:spcAft>
                <a:spcPts val="600"/>
              </a:spcAft>
              <a:buNone/>
            </a:pPr>
            <a:r>
              <a:rPr lang="en-US" sz="1100" b="1" dirty="0">
                <a:solidFill>
                  <a:srgbClr val="E07A1F"/>
                </a:solidFill>
              </a:rPr>
              <a:t>Large · 8.0B</a:t>
            </a:r>
            <a:endParaRPr lang="en-US" sz="1100" dirty="0"/>
          </a:p>
          <a:p>
            <a:pPr indent="0" marL="0">
              <a:spcAft>
                <a:spcPts val="600"/>
              </a:spcAft>
              <a:buNone/>
            </a:pPr>
            <a:r>
              <a:rPr lang="en-US" sz="950" dirty="0">
                <a:solidFill>
                  <a:schemeClr val="tx1"/>
                </a:solidFill>
                <a:latin typeface="Courier New" pitchFamily="34" charset="0"/>
                <a:ea typeface="Courier New" pitchFamily="34" charset="-122"/>
                <a:cs typeface="Courier New" pitchFamily="34" charset="-120"/>
              </a:rPr>
              <a:t>llama3.1:8b-instruct-q4_K_M</a:t>
            </a:r>
            <a:endParaRPr lang="en-US" sz="1100" dirty="0"/>
          </a:p>
          <a:p>
            <a:pPr indent="0" marL="0">
              <a:spcAft>
                <a:spcPts val="600"/>
              </a:spcAft>
              <a:buNone/>
            </a:pPr>
            <a:r>
              <a:rPr lang="en-US" sz="950" dirty="0">
                <a:solidFill>
                  <a:schemeClr val="tx1"/>
                </a:solidFill>
              </a:rPr>
              <a:t>ID 46e0c10c039e · weights sha256:667b0c1932bc…</a:t>
            </a:r>
            <a:endParaRPr lang="en-US" sz="1100" dirty="0"/>
          </a:p>
          <a:p>
            <a:pPr indent="0" marL="0">
              <a:spcAft>
                <a:spcPts val="600"/>
              </a:spcAft>
              <a:buNone/>
            </a:pPr>
            <a:r>
              <a:rPr lang="en-US" sz="1100" dirty="0">
                <a:solidFill>
                  <a:schemeClr val="tx1"/>
                </a:solidFill>
              </a:rPr>
              <a:t>4.9 GB · Llama 3.1 Community License</a:t>
            </a:r>
            <a:endParaRPr lang="en-US" sz="1100" dirty="0"/>
          </a:p>
          <a:p>
            <a:pPr indent="0" marL="0">
              <a:spcAft>
                <a:spcPts val="600"/>
              </a:spcAft>
              <a:buNone/>
            </a:pPr>
            <a:r>
              <a:rPr lang="en-US" sz="1100" i="1" dirty="0">
                <a:solidFill>
                  <a:schemeClr val="tx1"/>
                </a:solidFill>
              </a:rPr>
              <a:t>Accuracy ceiling a CPU server can plausibly run</a:t>
            </a:r>
            <a:endParaRPr lang="en-US" sz="1100" dirty="0"/>
          </a:p>
        </p:txBody>
      </p:sp>
      <p:sp>
        <p:nvSpPr>
          <p:cNvPr id="15" name="Text 13"/>
          <p:cNvSpPr txBox="1"/>
          <p:nvPr/>
        </p:nvSpPr>
        <p:spPr>
          <a:xfrm>
            <a:off x="457200" y="3520440"/>
            <a:ext cx="8229600" cy="822960"/>
          </a:xfrm>
          <a:prstGeom prst="rect">
            <a:avLst/>
          </a:prstGeom>
          <a:noFill/>
          <a:ln/>
        </p:spPr>
        <p:txBody>
          <a:bodyPr wrap="square" lIns="0" tIns="0" rIns="0" bIns="0" rtlCol="0" anchor="t"/>
          <a:lstStyle/>
          <a:p>
            <a:pPr indent="0" marL="0">
              <a:buNone/>
            </a:pPr>
            <a:r>
              <a:rPr lang="en-US" sz="1150" b="1" dirty="0">
                <a:solidFill>
                  <a:schemeClr val="tx1"/>
                </a:solidFill>
              </a:rPr>
              <a:t>Why this set: </a:t>
            </a:r>
            <a:pPr indent="0" marL="0">
              <a:buNone/>
            </a:pPr>
            <a:r>
              <a:rPr lang="en-US" sz="1150" dirty="0">
                <a:solidFill>
                  <a:schemeClr val="tx1"/>
                </a:solidFill>
              </a:rPr>
              <a:t>parameters roughly double at each step, so the speed-versus-accuracy trade-off is visible across what a CPU server can run. Phi-4 Mini 3.8B was dropped before benchmarking because it duplicated the 4B class. </a:t>
            </a:r>
            <a:pPr indent="0" marL="0">
              <a:buNone/>
            </a:pPr>
            <a:r>
              <a:rPr lang="en-US" sz="1150" b="1" dirty="0">
                <a:solidFill>
                  <a:schemeClr val="tx1"/>
                </a:solidFill>
              </a:rPr>
              <a:t>Held constant: </a:t>
            </a:r>
            <a:pPr indent="0" marL="0">
              <a:buNone/>
            </a:pPr>
            <a:r>
              <a:rPr lang="en-US" sz="1150" dirty="0">
                <a:solidFill>
                  <a:schemeClr val="tx1"/>
                </a:solidFill>
              </a:rPr>
              <a:t>Q4_K_M weights, Ollama 0.12.3, same prompt, JSON mode, temperature 0, num_ctx 4096. IDs recorded locally after pulling (evidence/step4/ollama-list.txt).</a:t>
            </a:r>
            <a:endParaRPr lang="en-US" sz="11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Golden set: 160 tickets, κ = 0.896, frozen before testing</a:t>
            </a:r>
            <a:endParaRPr lang="en-US" sz="2200" dirty="0"/>
          </a:p>
        </p:txBody>
      </p:sp>
      <p:sp>
        <p:nvSpPr>
          <p:cNvPr id="3" name="Text 1"/>
          <p:cNvSpPr txBox="1"/>
          <p:nvPr/>
        </p:nvSpPr>
        <p:spPr>
          <a:xfrm>
            <a:off x="457200" y="86868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160</a:t>
            </a:r>
            <a:endParaRPr lang="en-US" sz="2600" dirty="0"/>
          </a:p>
        </p:txBody>
      </p:sp>
      <p:sp>
        <p:nvSpPr>
          <p:cNvPr id="4" name="Text 2"/>
          <p:cNvSpPr txBox="1"/>
          <p:nvPr/>
        </p:nvSpPr>
        <p:spPr>
          <a:xfrm>
            <a:off x="457200" y="1325880"/>
            <a:ext cx="1463040" cy="411480"/>
          </a:xfrm>
          <a:prstGeom prst="rect">
            <a:avLst/>
          </a:prstGeom>
          <a:noFill/>
          <a:ln/>
        </p:spPr>
        <p:txBody>
          <a:bodyPr wrap="square" lIns="0" tIns="0" rIns="0" bIns="0" rtlCol="0" anchor="t"/>
          <a:lstStyle/>
          <a:p>
            <a:pPr indent="0" marL="0">
              <a:buNone/>
            </a:pPr>
            <a:r>
              <a:rPr lang="en-US" sz="1000" dirty="0">
                <a:solidFill>
                  <a:schemeClr val="tx1"/>
                </a:solidFill>
              </a:rPr>
              <a:t>tickets, rows 9840–9999</a:t>
            </a:r>
            <a:endParaRPr lang="en-US" sz="1000" dirty="0"/>
          </a:p>
        </p:txBody>
      </p:sp>
      <p:sp>
        <p:nvSpPr>
          <p:cNvPr id="5" name="Text 3"/>
          <p:cNvSpPr txBox="1"/>
          <p:nvPr/>
        </p:nvSpPr>
        <p:spPr>
          <a:xfrm>
            <a:off x="2011680" y="868680"/>
            <a:ext cx="146304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κ 0.896</a:t>
            </a:r>
            <a:endParaRPr lang="en-US" sz="2600" dirty="0"/>
          </a:p>
        </p:txBody>
      </p:sp>
      <p:sp>
        <p:nvSpPr>
          <p:cNvPr id="6" name="Text 4"/>
          <p:cNvSpPr txBox="1"/>
          <p:nvPr/>
        </p:nvSpPr>
        <p:spPr>
          <a:xfrm>
            <a:off x="2011680" y="1325880"/>
            <a:ext cx="1463040" cy="411480"/>
          </a:xfrm>
          <a:prstGeom prst="rect">
            <a:avLst/>
          </a:prstGeom>
          <a:noFill/>
          <a:ln/>
        </p:spPr>
        <p:txBody>
          <a:bodyPr wrap="square" lIns="0" tIns="0" rIns="0" bIns="0" rtlCol="0" anchor="t"/>
          <a:lstStyle/>
          <a:p>
            <a:pPr indent="0" marL="0">
              <a:buNone/>
            </a:pPr>
            <a:r>
              <a:rPr lang="en-US" sz="1000" dirty="0">
                <a:solidFill>
                  <a:schemeClr val="tx1"/>
                </a:solidFill>
              </a:rPr>
              <a:t>Cohen's kappa (146/160 agree)</a:t>
            </a:r>
            <a:endParaRPr lang="en-US" sz="1000" dirty="0"/>
          </a:p>
        </p:txBody>
      </p:sp>
      <p:sp>
        <p:nvSpPr>
          <p:cNvPr id="7" name="Text 5"/>
          <p:cNvSpPr txBox="1"/>
          <p:nvPr/>
        </p:nvSpPr>
        <p:spPr>
          <a:xfrm>
            <a:off x="3566160" y="868680"/>
            <a:ext cx="146304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14</a:t>
            </a:r>
            <a:endParaRPr lang="en-US" sz="2600" dirty="0"/>
          </a:p>
        </p:txBody>
      </p:sp>
      <p:sp>
        <p:nvSpPr>
          <p:cNvPr id="8" name="Text 6"/>
          <p:cNvSpPr txBox="1"/>
          <p:nvPr/>
        </p:nvSpPr>
        <p:spPr>
          <a:xfrm>
            <a:off x="3566160" y="1325880"/>
            <a:ext cx="1463040" cy="411480"/>
          </a:xfrm>
          <a:prstGeom prst="rect">
            <a:avLst/>
          </a:prstGeom>
          <a:noFill/>
          <a:ln/>
        </p:spPr>
        <p:txBody>
          <a:bodyPr wrap="square" lIns="0" tIns="0" rIns="0" bIns="0" rtlCol="0" anchor="t"/>
          <a:lstStyle/>
          <a:p>
            <a:pPr indent="0" marL="0">
              <a:buNone/>
            </a:pPr>
            <a:r>
              <a:rPr lang="en-US" sz="1000" dirty="0">
                <a:solidFill>
                  <a:schemeClr val="tx1"/>
                </a:solidFill>
              </a:rPr>
              <a:t>disagreements, all resolved and recorded</a:t>
            </a:r>
            <a:endParaRPr lang="en-US" sz="1000" dirty="0"/>
          </a:p>
        </p:txBody>
      </p:sp>
      <p:sp>
        <p:nvSpPr>
          <p:cNvPr id="9" name="Text 7"/>
          <p:cNvSpPr txBox="1"/>
          <p:nvPr/>
        </p:nvSpPr>
        <p:spPr>
          <a:xfrm>
            <a:off x="5120640" y="868680"/>
            <a:ext cx="164592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33 / 160</a:t>
            </a:r>
            <a:endParaRPr lang="en-US" sz="2600" dirty="0"/>
          </a:p>
        </p:txBody>
      </p:sp>
      <p:sp>
        <p:nvSpPr>
          <p:cNvPr id="10" name="Text 8"/>
          <p:cNvSpPr txBox="1"/>
          <p:nvPr/>
        </p:nvSpPr>
        <p:spPr>
          <a:xfrm>
            <a:off x="5120640" y="1325880"/>
            <a:ext cx="1645920" cy="411480"/>
          </a:xfrm>
          <a:prstGeom prst="rect">
            <a:avLst/>
          </a:prstGeom>
          <a:noFill/>
          <a:ln/>
        </p:spPr>
        <p:txBody>
          <a:bodyPr wrap="square" lIns="0" tIns="0" rIns="0" bIns="0" rtlCol="0" anchor="t"/>
          <a:lstStyle/>
          <a:p>
            <a:pPr indent="0" marL="0">
              <a:buNone/>
            </a:pPr>
            <a:r>
              <a:rPr lang="en-US" sz="1000" dirty="0">
                <a:solidFill>
                  <a:schemeClr val="tx1"/>
                </a:solidFill>
              </a:rPr>
              <a:t>consumer labels changed (20.6%): raw labels are noisy</a:t>
            </a:r>
            <a:endParaRPr lang="en-US" sz="1000" dirty="0"/>
          </a:p>
        </p:txBody>
      </p:sp>
      <p:sp>
        <p:nvSpPr>
          <p:cNvPr id="11" name="Text 9"/>
          <p:cNvSpPr txBox="1"/>
          <p:nvPr/>
        </p:nvSpPr>
        <p:spPr>
          <a:xfrm>
            <a:off x="457200" y="1874520"/>
            <a:ext cx="4023360" cy="274320"/>
          </a:xfrm>
          <a:prstGeom prst="rect">
            <a:avLst/>
          </a:prstGeom>
          <a:noFill/>
          <a:ln/>
        </p:spPr>
        <p:txBody>
          <a:bodyPr wrap="square" lIns="0" tIns="0" rIns="0" bIns="0" rtlCol="0" anchor="t"/>
          <a:lstStyle/>
          <a:p>
            <a:pPr indent="0" marL="0">
              <a:buNone/>
            </a:pPr>
            <a:r>
              <a:rPr lang="en-US" sz="1300" b="1" dirty="0">
                <a:solidFill>
                  <a:schemeClr val="tx2"/>
                </a:solidFill>
              </a:rPr>
              <a:t>Labelling protocol (labelling_protocol.txt)</a:t>
            </a:r>
            <a:endParaRPr lang="en-US" sz="1300" dirty="0"/>
          </a:p>
        </p:txBody>
      </p:sp>
      <p:sp>
        <p:nvSpPr>
          <p:cNvPr id="12" name="Text 10"/>
          <p:cNvSpPr txBox="1"/>
          <p:nvPr/>
        </p:nvSpPr>
        <p:spPr>
          <a:xfrm>
            <a:off x="457200" y="2194560"/>
            <a:ext cx="4023360" cy="1600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Decide by the customer's problem and the resolution they want (added in revision 2, 7 Oct)</a:t>
            </a:r>
            <a:endParaRPr lang="en-US" sz="1100" dirty="0"/>
          </a:p>
          <a:p>
            <a:pPr marL="152400" indent="-152400">
              <a:spcAft>
                <a:spcPts val="400"/>
              </a:spcAft>
              <a:buSzPct val="100000"/>
              <a:buChar char="•"/>
            </a:pPr>
            <a:r>
              <a:rPr lang="en-US" sz="1100" dirty="0">
                <a:solidFill>
                  <a:schemeClr val="tx1"/>
                </a:solidFill>
              </a:rPr>
              <a:t>Several fits → the most-mentioned theme; ties → the order of the category list</a:t>
            </a:r>
            <a:endParaRPr lang="en-US" sz="1100" dirty="0"/>
          </a:p>
          <a:p>
            <a:pPr marL="152400" indent="-152400">
              <a:spcAft>
                <a:spcPts val="400"/>
              </a:spcAft>
              <a:buSzPct val="100000"/>
              <a:buChar char="•"/>
            </a:pPr>
            <a:r>
              <a:rPr lang="en-US" sz="1100" dirty="0">
                <a:solidFill>
                  <a:schemeClr val="tx1"/>
                </a:solidFill>
              </a:rPr>
              <a:t>Mortgage outranks loan or debt; Money transfer is the lowest priority</a:t>
            </a:r>
            <a:endParaRPr lang="en-US" sz="1100" dirty="0"/>
          </a:p>
          <a:p>
            <a:pPr marL="152400" indent="-152400">
              <a:spcAft>
                <a:spcPts val="400"/>
              </a:spcAft>
              <a:buSzPct val="100000"/>
              <a:buChar char="•"/>
            </a:pPr>
            <a:r>
              <a:rPr lang="en-US" sz="1100" dirty="0">
                <a:solidFill>
                  <a:schemeClr val="tx1"/>
                </a:solidFill>
              </a:rPr>
              <a:t>Credit card excludes credit-card debt; Debt collection includes collector activity after settlement</a:t>
            </a:r>
            <a:endParaRPr lang="en-US" sz="1100" dirty="0"/>
          </a:p>
        </p:txBody>
      </p:sp>
      <p:sp>
        <p:nvSpPr>
          <p:cNvPr id="13" name="Text 11"/>
          <p:cNvSpPr txBox="1"/>
          <p:nvPr/>
        </p:nvSpPr>
        <p:spPr>
          <a:xfrm>
            <a:off x="457200" y="3886200"/>
            <a:ext cx="4023360" cy="548640"/>
          </a:xfrm>
          <a:prstGeom prst="rect">
            <a:avLst/>
          </a:prstGeom>
          <a:noFill/>
          <a:ln/>
        </p:spPr>
        <p:txBody>
          <a:bodyPr wrap="square" lIns="0" tIns="0" rIns="0" bIns="0" rtlCol="0" anchor="t"/>
          <a:lstStyle/>
          <a:p>
            <a:pPr indent="0" marL="0">
              <a:buNone/>
            </a:pPr>
            <a:r>
              <a:rPr lang="en-US" sz="1000" i="1" dirty="0">
                <a:solidFill>
                  <a:schemeClr val="accent5"/>
                </a:solidFill>
              </a:rPr>
              <a:t>Process: one member labelled, a second reviewed each label. The reviewer saw the first label (not blind), so κ is likely inflated.</a:t>
            </a:r>
            <a:endParaRPr lang="en-US" sz="1000" dirty="0"/>
          </a:p>
        </p:txBody>
      </p:sp>
      <p:sp>
        <p:nvSpPr>
          <p:cNvPr id="14" name="Text 12"/>
          <p:cNvSpPr txBox="1"/>
          <p:nvPr/>
        </p:nvSpPr>
        <p:spPr>
          <a:xfrm>
            <a:off x="4754880" y="1874520"/>
            <a:ext cx="3931920" cy="274320"/>
          </a:xfrm>
          <a:prstGeom prst="rect">
            <a:avLst/>
          </a:prstGeom>
          <a:noFill/>
          <a:ln/>
        </p:spPr>
        <p:txBody>
          <a:bodyPr wrap="square" lIns="0" tIns="0" rIns="0" bIns="0" rtlCol="0" anchor="t"/>
          <a:lstStyle/>
          <a:p>
            <a:pPr indent="0" marL="0">
              <a:buNone/>
            </a:pPr>
            <a:r>
              <a:rPr lang="en-US" sz="1300" b="1" dirty="0">
                <a:solidFill>
                  <a:schemeClr val="tx2"/>
                </a:solidFill>
              </a:rPr>
              <a:t>Resolved disagreements</a:t>
            </a:r>
            <a:endParaRPr lang="en-US" sz="1300" dirty="0"/>
          </a:p>
        </p:txBody>
      </p:sp>
      <p:sp>
        <p:nvSpPr>
          <p:cNvPr id="15" name="Shape 13"/>
          <p:cNvSpPr/>
          <p:nvPr/>
        </p:nvSpPr>
        <p:spPr>
          <a:xfrm>
            <a:off x="4754880" y="2194560"/>
            <a:ext cx="3931920" cy="868680"/>
          </a:xfrm>
          <a:prstGeom prst="roundRect">
            <a:avLst>
              <a:gd name="adj" fmla="val 8421"/>
            </a:avLst>
          </a:prstGeom>
          <a:solidFill>
            <a:srgbClr val="EEF3F4"/>
          </a:solidFill>
          <a:ln w="12700">
            <a:solidFill>
              <a:srgbClr val="EEF3F4"/>
            </a:solidFill>
            <a:prstDash val="solid"/>
          </a:ln>
        </p:spPr>
      </p:sp>
      <p:sp>
        <p:nvSpPr>
          <p:cNvPr id="16" name="Text 14"/>
          <p:cNvSpPr txBox="1"/>
          <p:nvPr/>
        </p:nvSpPr>
        <p:spPr>
          <a:xfrm>
            <a:off x="4864608" y="2267712"/>
            <a:ext cx="3712464" cy="749808"/>
          </a:xfrm>
          <a:prstGeom prst="rect">
            <a:avLst/>
          </a:prstGeom>
          <a:noFill/>
          <a:ln/>
        </p:spPr>
        <p:txBody>
          <a:bodyPr wrap="square" lIns="0" tIns="0" rIns="0" bIns="0" rtlCol="0" anchor="t"/>
          <a:lstStyle/>
          <a:p>
            <a:pPr indent="0" marL="0">
              <a:buNone/>
            </a:pPr>
            <a:r>
              <a:rPr lang="en-US" sz="1050" b="1" dirty="0">
                <a:solidFill>
                  <a:schemeClr val="tx1"/>
                </a:solidFill>
              </a:rPr>
              <a:t>Row 9928: loan from Western Finance, then collection pressure</a:t>
            </a:r>
            <a:endParaRPr lang="en-US" sz="1050" dirty="0"/>
          </a:p>
          <a:p>
            <a:pPr indent="0" marL="0">
              <a:buNone/>
            </a:pPr>
            <a:r>
              <a:rPr lang="en-US" sz="1050" dirty="0">
                <a:solidFill>
                  <a:schemeClr val="tx1"/>
                </a:solidFill>
              </a:rPr>
              <a:t>Labeller: Consumer loan · Reviewer: Debt collection → Debt collection (collection activity dominates the complaint)</a:t>
            </a:r>
            <a:endParaRPr lang="en-US" sz="1050" dirty="0"/>
          </a:p>
        </p:txBody>
      </p:sp>
      <p:sp>
        <p:nvSpPr>
          <p:cNvPr id="17" name="Shape 15"/>
          <p:cNvSpPr/>
          <p:nvPr/>
        </p:nvSpPr>
        <p:spPr>
          <a:xfrm>
            <a:off x="4754880" y="3200400"/>
            <a:ext cx="3931920" cy="868680"/>
          </a:xfrm>
          <a:prstGeom prst="roundRect">
            <a:avLst>
              <a:gd name="adj" fmla="val 8421"/>
            </a:avLst>
          </a:prstGeom>
          <a:solidFill>
            <a:srgbClr val="EEF3F4"/>
          </a:solidFill>
          <a:ln w="12700">
            <a:solidFill>
              <a:srgbClr val="EEF3F4"/>
            </a:solidFill>
            <a:prstDash val="solid"/>
          </a:ln>
        </p:spPr>
      </p:sp>
      <p:sp>
        <p:nvSpPr>
          <p:cNvPr id="18" name="Text 16"/>
          <p:cNvSpPr txBox="1"/>
          <p:nvPr/>
        </p:nvSpPr>
        <p:spPr>
          <a:xfrm>
            <a:off x="4864608" y="3273552"/>
            <a:ext cx="3712464" cy="749808"/>
          </a:xfrm>
          <a:prstGeom prst="rect">
            <a:avLst/>
          </a:prstGeom>
          <a:noFill/>
          <a:ln/>
        </p:spPr>
        <p:txBody>
          <a:bodyPr wrap="square" lIns="0" tIns="0" rIns="0" bIns="0" rtlCol="0" anchor="t"/>
          <a:lstStyle/>
          <a:p>
            <a:pPr indent="0" marL="0">
              <a:buNone/>
            </a:pPr>
            <a:r>
              <a:rPr lang="en-US" sz="1050" b="1" dirty="0">
                <a:solidFill>
                  <a:schemeClr val="tx1"/>
                </a:solidFill>
              </a:rPr>
              <a:t>Row 9880: Cash App card activation, account and money taken</a:t>
            </a:r>
            <a:endParaRPr lang="en-US" sz="1050" dirty="0"/>
          </a:p>
          <a:p>
            <a:pPr indent="0" marL="0">
              <a:buNone/>
            </a:pPr>
            <a:r>
              <a:rPr lang="en-US" sz="1050" dirty="0">
                <a:solidFill>
                  <a:schemeClr val="tx1"/>
                </a:solidFill>
              </a:rPr>
              <a:t>Labeller: Bank account · Reviewer: Money transfer → Money transfer (payment-app service, not a bank)</a:t>
            </a:r>
            <a:endParaRPr lang="en-US" sz="10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Test environment: service and load generator kept apart</a:t>
            </a:r>
            <a:endParaRPr lang="en-US" sz="2200" dirty="0"/>
          </a:p>
        </p:txBody>
      </p:sp>
      <p:sp>
        <p:nvSpPr>
          <p:cNvPr id="3" name="Shape 1"/>
          <p:cNvSpPr/>
          <p:nvPr/>
        </p:nvSpPr>
        <p:spPr>
          <a:xfrm>
            <a:off x="457200" y="868680"/>
            <a:ext cx="4023360" cy="2103120"/>
          </a:xfrm>
          <a:prstGeom prst="roundRect">
            <a:avLst>
              <a:gd name="adj" fmla="val 3478"/>
            </a:avLst>
          </a:prstGeom>
          <a:solidFill>
            <a:srgbClr val="DDF0EE"/>
          </a:solidFill>
          <a:ln w="12700">
            <a:solidFill>
              <a:srgbClr val="DDF0EE"/>
            </a:solidFill>
            <a:prstDash val="solid"/>
          </a:ln>
        </p:spPr>
      </p:sp>
      <p:sp>
        <p:nvSpPr>
          <p:cNvPr id="4" name="Text 2"/>
          <p:cNvSpPr txBox="1"/>
          <p:nvPr/>
        </p:nvSpPr>
        <p:spPr>
          <a:xfrm>
            <a:off x="594360" y="960120"/>
            <a:ext cx="3749040" cy="274320"/>
          </a:xfrm>
          <a:prstGeom prst="rect">
            <a:avLst/>
          </a:prstGeom>
          <a:noFill/>
          <a:ln/>
        </p:spPr>
        <p:txBody>
          <a:bodyPr wrap="square" lIns="0" tIns="0" rIns="0" bIns="0" rtlCol="0" anchor="t"/>
          <a:lstStyle/>
          <a:p>
            <a:pPr indent="0" marL="0">
              <a:buNone/>
            </a:pPr>
            <a:r>
              <a:rPr lang="en-US" sz="1300" b="1" dirty="0">
                <a:solidFill>
                  <a:schemeClr val="tx2"/>
                </a:solidFill>
              </a:rPr>
              <a:t>Service PC: API + PostgreSQL + Ollama</a:t>
            </a:r>
            <a:endParaRPr lang="en-US" sz="1300" dirty="0"/>
          </a:p>
        </p:txBody>
      </p:sp>
      <p:sp>
        <p:nvSpPr>
          <p:cNvPr id="5" name="Text 3"/>
          <p:cNvSpPr txBox="1"/>
          <p:nvPr/>
        </p:nvSpPr>
        <p:spPr>
          <a:xfrm>
            <a:off x="594360" y="1280160"/>
            <a:ext cx="3749040" cy="1645920"/>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Lenovo 83JT laptop, Intel Core Ultra 7 256V: 4 performance + 4 low-power cores, 8 threads</a:t>
            </a:r>
            <a:endParaRPr lang="en-US" sz="1050" dirty="0"/>
          </a:p>
          <a:p>
            <a:pPr marL="152400" indent="-152400">
              <a:spcAft>
                <a:spcPts val="200"/>
              </a:spcAft>
              <a:buSzPct val="100000"/>
              <a:buChar char="•"/>
            </a:pPr>
            <a:r>
              <a:rPr lang="en-US" sz="1050" dirty="0">
                <a:solidFill>
                  <a:schemeClr val="tx1"/>
                </a:solidFill>
              </a:rPr>
              <a:t>16 GB RAM; Docker VM limited to 8 CPUs / 7.5 GiB</a:t>
            </a:r>
            <a:endParaRPr lang="en-US" sz="1050" dirty="0"/>
          </a:p>
          <a:p>
            <a:pPr marL="152400" indent="-152400">
              <a:spcAft>
                <a:spcPts val="200"/>
              </a:spcAft>
              <a:buSzPct val="100000"/>
              <a:buChar char="•"/>
            </a:pPr>
            <a:r>
              <a:rPr lang="en-US" sz="1050" dirty="0">
                <a:solidFill>
                  <a:schemeClr val="tx1"/>
                </a:solidFill>
              </a:rPr>
              <a:t>Windows 11 Home 10.0.26200; Docker 29.5.3, Compose v5.1.4</a:t>
            </a:r>
            <a:endParaRPr lang="en-US" sz="1050" dirty="0"/>
          </a:p>
          <a:p>
            <a:pPr marL="152400" indent="-152400">
              <a:spcAft>
                <a:spcPts val="200"/>
              </a:spcAft>
              <a:buSzPct val="100000"/>
              <a:buChar char="•"/>
            </a:pPr>
            <a:r>
              <a:rPr lang="en-US" sz="1050" dirty="0">
                <a:solidFill>
                  <a:schemeClr val="tx1"/>
                </a:solidFill>
              </a:rPr>
              <a:t>Ollama 0.12.3: library=cpu, '100% CPU', NUM_PARALLEL 1</a:t>
            </a:r>
            <a:endParaRPr lang="en-US" sz="1050" dirty="0"/>
          </a:p>
          <a:p>
            <a:pPr marL="152400" indent="-152400">
              <a:spcAft>
                <a:spcPts val="200"/>
              </a:spcAft>
              <a:buSzPct val="100000"/>
              <a:buChar char="•"/>
            </a:pPr>
            <a:r>
              <a:rPr lang="en-US" sz="1050" dirty="0">
                <a:solidFill>
                  <a:schemeClr val="tx1"/>
                </a:solidFill>
              </a:rPr>
              <a:t>Wi-Fi 7 adapter; on mains power, sleep disabled</a:t>
            </a:r>
            <a:endParaRPr lang="en-US" sz="1050" dirty="0"/>
          </a:p>
        </p:txBody>
      </p:sp>
      <p:sp>
        <p:nvSpPr>
          <p:cNvPr id="6" name="Shape 4"/>
          <p:cNvSpPr/>
          <p:nvPr/>
        </p:nvSpPr>
        <p:spPr>
          <a:xfrm>
            <a:off x="4663440" y="868680"/>
            <a:ext cx="4023360" cy="2103120"/>
          </a:xfrm>
          <a:prstGeom prst="roundRect">
            <a:avLst>
              <a:gd name="adj" fmla="val 3478"/>
            </a:avLst>
          </a:prstGeom>
          <a:solidFill>
            <a:srgbClr val="FBEBDD"/>
          </a:solidFill>
          <a:ln w="12700">
            <a:solidFill>
              <a:srgbClr val="FBEBDD"/>
            </a:solidFill>
            <a:prstDash val="solid"/>
          </a:ln>
        </p:spPr>
      </p:sp>
      <p:sp>
        <p:nvSpPr>
          <p:cNvPr id="7" name="Text 5"/>
          <p:cNvSpPr txBox="1"/>
          <p:nvPr/>
        </p:nvSpPr>
        <p:spPr>
          <a:xfrm>
            <a:off x="4800600" y="960120"/>
            <a:ext cx="3749040" cy="274320"/>
          </a:xfrm>
          <a:prstGeom prst="rect">
            <a:avLst/>
          </a:prstGeom>
          <a:noFill/>
          <a:ln/>
        </p:spPr>
        <p:txBody>
          <a:bodyPr wrap="square" lIns="0" tIns="0" rIns="0" bIns="0" rtlCol="0" anchor="t"/>
          <a:lstStyle/>
          <a:p>
            <a:pPr indent="0" marL="0">
              <a:buNone/>
            </a:pPr>
            <a:r>
              <a:rPr lang="en-US" sz="1300" b="1" dirty="0">
                <a:solidFill>
                  <a:schemeClr val="tx2"/>
                </a:solidFill>
              </a:rPr>
              <a:t>Load-generator PC: JMeter only</a:t>
            </a:r>
            <a:endParaRPr lang="en-US" sz="1300" dirty="0"/>
          </a:p>
        </p:txBody>
      </p:sp>
      <p:sp>
        <p:nvSpPr>
          <p:cNvPr id="8" name="Text 6"/>
          <p:cNvSpPr txBox="1"/>
          <p:nvPr/>
        </p:nvSpPr>
        <p:spPr>
          <a:xfrm>
            <a:off x="4800600" y="1280160"/>
            <a:ext cx="3749040" cy="1645920"/>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MSI MS-7C91 desktop, AMD Ryzen 5 3600, 6 cores / 12 threads</a:t>
            </a:r>
            <a:endParaRPr lang="en-US" sz="1050" dirty="0"/>
          </a:p>
          <a:p>
            <a:pPr marL="152400" indent="-152400">
              <a:spcAft>
                <a:spcPts val="200"/>
              </a:spcAft>
              <a:buSzPct val="100000"/>
              <a:buChar char="•"/>
            </a:pPr>
            <a:r>
              <a:rPr lang="en-US" sz="1050" dirty="0">
                <a:solidFill>
                  <a:schemeClr val="tx1"/>
                </a:solidFill>
              </a:rPr>
              <a:t>32 GB RAM; Windows 10 Pro 22H2</a:t>
            </a:r>
            <a:endParaRPr lang="en-US" sz="1050" dirty="0"/>
          </a:p>
          <a:p>
            <a:pPr marL="152400" indent="-152400">
              <a:spcAft>
                <a:spcPts val="200"/>
              </a:spcAft>
              <a:buSzPct val="100000"/>
              <a:buChar char="•"/>
            </a:pPr>
            <a:r>
              <a:rPr lang="en-US" sz="1050" dirty="0">
                <a:solidFill>
                  <a:schemeClr val="tx1"/>
                </a:solidFill>
              </a:rPr>
              <a:t>Apache JMeter 5.6.3 on Temurin OpenJDK 17.0.20.1, no plugins</a:t>
            </a:r>
            <a:endParaRPr lang="en-US" sz="1050" dirty="0"/>
          </a:p>
          <a:p>
            <a:pPr marL="152400" indent="-152400">
              <a:spcAft>
                <a:spcPts val="200"/>
              </a:spcAft>
              <a:buSzPct val="100000"/>
              <a:buChar char="•"/>
            </a:pPr>
            <a:r>
              <a:rPr lang="en-US" sz="1050" dirty="0">
                <a:solidFill>
                  <a:schemeClr val="tx1"/>
                </a:solidFill>
              </a:rPr>
              <a:t>Wired Ethernet 1 Gbps to the same router</a:t>
            </a:r>
            <a:endParaRPr lang="en-US" sz="1050" dirty="0"/>
          </a:p>
          <a:p>
            <a:pPr marL="152400" indent="-152400">
              <a:spcAft>
                <a:spcPts val="200"/>
              </a:spcAft>
              <a:buSzPct val="100000"/>
              <a:buChar char="•"/>
            </a:pPr>
            <a:r>
              <a:rPr lang="en-US" sz="1050" dirty="0">
                <a:solidFill>
                  <a:schemeClr val="tx1"/>
                </a:solidFill>
              </a:rPr>
              <a:t>✓ Never co-hosted with the service</a:t>
            </a:r>
            <a:endParaRPr lang="en-US" sz="1050" dirty="0"/>
          </a:p>
        </p:txBody>
      </p:sp>
      <p:sp>
        <p:nvSpPr>
          <p:cNvPr id="9" name="Text 7"/>
          <p:cNvSpPr txBox="1"/>
          <p:nvPr/>
        </p:nvSpPr>
        <p:spPr>
          <a:xfrm>
            <a:off x="457200" y="3108960"/>
            <a:ext cx="4023360" cy="274320"/>
          </a:xfrm>
          <a:prstGeom prst="rect">
            <a:avLst/>
          </a:prstGeom>
          <a:noFill/>
          <a:ln/>
        </p:spPr>
        <p:txBody>
          <a:bodyPr wrap="square" lIns="0" tIns="0" rIns="0" bIns="0" rtlCol="0" anchor="t"/>
          <a:lstStyle/>
          <a:p>
            <a:pPr indent="0" marL="0">
              <a:buNone/>
            </a:pPr>
            <a:r>
              <a:rPr lang="en-US" sz="1300" b="1" dirty="0">
                <a:solidFill>
                  <a:schemeClr val="tx2"/>
                </a:solidFill>
              </a:rPr>
              <a:t>How results scale to the client</a:t>
            </a:r>
            <a:endParaRPr lang="en-US" sz="1300" dirty="0"/>
          </a:p>
        </p:txBody>
      </p:sp>
      <p:sp>
        <p:nvSpPr>
          <p:cNvPr id="10" name="Text 8"/>
          <p:cNvSpPr txBox="1"/>
          <p:nvPr/>
        </p:nvSpPr>
        <p:spPr>
          <a:xfrm>
            <a:off x="457200" y="3401568"/>
            <a:ext cx="4023360" cy="1280160"/>
          </a:xfrm>
          <a:prstGeom prst="rect">
            <a:avLst/>
          </a:prstGeom>
          <a:noFill/>
          <a:ln/>
        </p:spPr>
        <p:txBody>
          <a:bodyPr wrap="square" lIns="0" tIns="0" rIns="0" bIns="0" rtlCol="0" anchor="t"/>
          <a:lstStyle/>
          <a:p>
            <a:pPr indent="0" marL="0">
              <a:buNone/>
            </a:pPr>
            <a:r>
              <a:rPr lang="en-US" sz="1050" dirty="0">
                <a:solidFill>
                  <a:schemeClr val="tx1"/>
                </a:solidFill>
              </a:rPr>
              <a:t>Inference is single-stream and CPU-bound, so capacity ≈ 3,600 ÷ per-ticket latency. A server with faster cores cuts latency roughly in proportion; running more Ollama instances on more cores raises throughput roughly linearly until memory bandwidth limits it (an estimate, not measured).</a:t>
            </a:r>
            <a:endParaRPr lang="en-US" sz="1050" dirty="0"/>
          </a:p>
        </p:txBody>
      </p:sp>
      <p:sp>
        <p:nvSpPr>
          <p:cNvPr id="11" name="Text 9"/>
          <p:cNvSpPr txBox="1"/>
          <p:nvPr/>
        </p:nvSpPr>
        <p:spPr>
          <a:xfrm>
            <a:off x="4663440" y="3108960"/>
            <a:ext cx="4023360" cy="274320"/>
          </a:xfrm>
          <a:prstGeom prst="rect">
            <a:avLst/>
          </a:prstGeom>
          <a:noFill/>
          <a:ln/>
        </p:spPr>
        <p:txBody>
          <a:bodyPr wrap="square" lIns="0" tIns="0" rIns="0" bIns="0" rtlCol="0" anchor="t"/>
          <a:lstStyle/>
          <a:p>
            <a:pPr indent="0" marL="0">
              <a:buNone/>
            </a:pPr>
            <a:r>
              <a:rPr lang="en-US" sz="1300" b="1" dirty="0">
                <a:solidFill>
                  <a:schemeClr val="tx2"/>
                </a:solidFill>
              </a:rPr>
              <a:t>Limitations</a:t>
            </a:r>
            <a:endParaRPr lang="en-US" sz="1300" dirty="0"/>
          </a:p>
        </p:txBody>
      </p:sp>
      <p:sp>
        <p:nvSpPr>
          <p:cNvPr id="12" name="Text 10"/>
          <p:cNvSpPr txBox="1"/>
          <p:nvPr/>
        </p:nvSpPr>
        <p:spPr>
          <a:xfrm>
            <a:off x="4663440" y="3401568"/>
            <a:ext cx="4023360" cy="1280160"/>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Laptop thermals and hybrid cores; WSL2 VM overhead</a:t>
            </a:r>
            <a:endParaRPr lang="en-US" sz="1050" dirty="0"/>
          </a:p>
          <a:p>
            <a:pPr marL="152400" indent="-152400">
              <a:spcAft>
                <a:spcPts val="200"/>
              </a:spcAft>
              <a:buSzPct val="100000"/>
              <a:buChar char="•"/>
            </a:pPr>
            <a:r>
              <a:rPr lang="en-US" sz="1050" dirty="0">
                <a:solidFill>
                  <a:schemeClr val="tx1"/>
                </a:solidFill>
              </a:rPr>
              <a:t>Home Wi-Fi, not isolated: JMeter time exceeds server time by a median of 34 ms (p95 112 ms)</a:t>
            </a:r>
            <a:endParaRPr lang="en-US" sz="1050" dirty="0"/>
          </a:p>
          <a:p>
            <a:pPr marL="152400" indent="-152400">
              <a:spcAft>
                <a:spcPts val="200"/>
              </a:spcAft>
              <a:buSzPct val="100000"/>
              <a:buChar char="•"/>
            </a:pPr>
            <a:r>
              <a:rPr lang="en-US" sz="1050" dirty="0">
                <a:solidFill>
                  <a:schemeClr val="tx1"/>
                </a:solidFill>
              </a:rPr>
              <a:t>About 35 POSTs per 20-min window, so p99 ≈ maximum</a:t>
            </a:r>
            <a:endParaRPr lang="en-US" sz="1050" dirty="0"/>
          </a:p>
          <a:p>
            <a:pPr marL="152400" indent="-152400">
              <a:spcAft>
                <a:spcPts val="200"/>
              </a:spcAft>
              <a:buSzPct val="100000"/>
              <a:buChar char="•"/>
            </a:pPr>
            <a:r>
              <a:rPr lang="en-US" sz="1050" dirty="0">
                <a:solidFill>
                  <a:schemeClr val="tx1"/>
                </a:solidFill>
              </a:rPr>
              <a:t>Extract clipped to 200–2,000 characters</a:t>
            </a:r>
            <a:endParaRPr lang="en-US" sz="10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Playbook: freeze, deploy, measure, reconcile</a:t>
            </a:r>
            <a:endParaRPr lang="en-US" sz="2200" dirty="0"/>
          </a:p>
        </p:txBody>
      </p:sp>
      <p:sp>
        <p:nvSpPr>
          <p:cNvPr id="3" name="Shape 1"/>
          <p:cNvSpPr/>
          <p:nvPr/>
        </p:nvSpPr>
        <p:spPr>
          <a:xfrm>
            <a:off x="457200" y="868680"/>
            <a:ext cx="2606040" cy="1005840"/>
          </a:xfrm>
          <a:prstGeom prst="roundRect">
            <a:avLst>
              <a:gd name="adj" fmla="val 7273"/>
            </a:avLst>
          </a:prstGeom>
          <a:solidFill>
            <a:srgbClr val="DDF0EE"/>
          </a:solidFill>
          <a:ln w="12700">
            <a:solidFill>
              <a:srgbClr val="DDF0EE"/>
            </a:solidFill>
            <a:prstDash val="solid"/>
          </a:ln>
        </p:spPr>
      </p:sp>
      <p:sp>
        <p:nvSpPr>
          <p:cNvPr id="4" name="Text 2"/>
          <p:cNvSpPr txBox="1"/>
          <p:nvPr/>
        </p:nvSpPr>
        <p:spPr>
          <a:xfrm>
            <a:off x="566928" y="941832"/>
            <a:ext cx="2395728" cy="877824"/>
          </a:xfrm>
          <a:prstGeom prst="rect">
            <a:avLst/>
          </a:prstGeom>
          <a:noFill/>
          <a:ln/>
        </p:spPr>
        <p:txBody>
          <a:bodyPr wrap="square" lIns="0" tIns="0" rIns="0" bIns="0" rtlCol="0" anchor="t"/>
          <a:lstStyle/>
          <a:p>
            <a:pPr indent="0" marL="0">
              <a:buNone/>
            </a:pPr>
            <a:r>
              <a:rPr lang="en-US" sz="1300" b="1" dirty="0">
                <a:solidFill>
                  <a:srgbClr val="12343B"/>
                </a:solidFill>
              </a:rPr>
              <a:t>1 Freeze</a:t>
            </a:r>
            <a:endParaRPr lang="en-US" sz="1050" dirty="0"/>
          </a:p>
          <a:p>
            <a:pPr indent="0" marL="0">
              <a:buNone/>
            </a:pPr>
            <a:r>
              <a:rPr lang="en-US" sz="1050" dirty="0">
                <a:solidFill>
                  <a:schemeClr val="tx1"/>
                </a:solidFill>
              </a:rPr>
              <a:t>Golden set + predictions committed (3567f80) before any model run</a:t>
            </a:r>
            <a:endParaRPr lang="en-US" sz="1050" dirty="0"/>
          </a:p>
        </p:txBody>
      </p:sp>
      <p:sp>
        <p:nvSpPr>
          <p:cNvPr id="5" name="Shape 3"/>
          <p:cNvSpPr/>
          <p:nvPr/>
        </p:nvSpPr>
        <p:spPr>
          <a:xfrm>
            <a:off x="3246120" y="868680"/>
            <a:ext cx="2606040" cy="1005840"/>
          </a:xfrm>
          <a:prstGeom prst="roundRect">
            <a:avLst>
              <a:gd name="adj" fmla="val 7273"/>
            </a:avLst>
          </a:prstGeom>
          <a:solidFill>
            <a:srgbClr val="DDF0EE"/>
          </a:solidFill>
          <a:ln w="12700">
            <a:solidFill>
              <a:srgbClr val="DDF0EE"/>
            </a:solidFill>
            <a:prstDash val="solid"/>
          </a:ln>
        </p:spPr>
      </p:sp>
      <p:sp>
        <p:nvSpPr>
          <p:cNvPr id="6" name="Text 4"/>
          <p:cNvSpPr txBox="1"/>
          <p:nvPr/>
        </p:nvSpPr>
        <p:spPr>
          <a:xfrm>
            <a:off x="3355848" y="941832"/>
            <a:ext cx="2395728" cy="877824"/>
          </a:xfrm>
          <a:prstGeom prst="rect">
            <a:avLst/>
          </a:prstGeom>
          <a:noFill/>
          <a:ln/>
        </p:spPr>
        <p:txBody>
          <a:bodyPr wrap="square" lIns="0" tIns="0" rIns="0" bIns="0" rtlCol="0" anchor="t"/>
          <a:lstStyle/>
          <a:p>
            <a:pPr indent="0" marL="0">
              <a:buNone/>
            </a:pPr>
            <a:r>
              <a:rPr lang="en-US" sz="1300" b="1" dirty="0">
                <a:solidFill>
                  <a:srgbClr val="12343B"/>
                </a:solidFill>
              </a:rPr>
              <a:t>2 Deploy</a:t>
            </a:r>
            <a:endParaRPr lang="en-US" sz="1050" dirty="0"/>
          </a:p>
          <a:p>
            <a:pPr indent="0" marL="0">
              <a:buNone/>
            </a:pPr>
            <a:r>
              <a:rPr lang="en-US" sz="1050" dirty="0">
                <a:solidFill>
                  <a:schemeClr val="tx1"/>
                </a:solidFill>
              </a:rPr>
              <a:t>switch_model.ps1: save logs, set tag, 2 synthetic warm-ups, TRUNCATE, check /stats = 0</a:t>
            </a:r>
            <a:endParaRPr lang="en-US" sz="1050" dirty="0"/>
          </a:p>
        </p:txBody>
      </p:sp>
      <p:sp>
        <p:nvSpPr>
          <p:cNvPr id="7" name="Shape 5"/>
          <p:cNvSpPr/>
          <p:nvPr/>
        </p:nvSpPr>
        <p:spPr>
          <a:xfrm>
            <a:off x="6035040" y="868680"/>
            <a:ext cx="2606040" cy="1005840"/>
          </a:xfrm>
          <a:prstGeom prst="roundRect">
            <a:avLst>
              <a:gd name="adj" fmla="val 7273"/>
            </a:avLst>
          </a:prstGeom>
          <a:solidFill>
            <a:srgbClr val="DDF0EE"/>
          </a:solidFill>
          <a:ln w="12700">
            <a:solidFill>
              <a:srgbClr val="DDF0EE"/>
            </a:solidFill>
            <a:prstDash val="solid"/>
          </a:ln>
        </p:spPr>
      </p:sp>
      <p:sp>
        <p:nvSpPr>
          <p:cNvPr id="8" name="Text 6"/>
          <p:cNvSpPr txBox="1"/>
          <p:nvPr/>
        </p:nvSpPr>
        <p:spPr>
          <a:xfrm>
            <a:off x="6144768" y="941832"/>
            <a:ext cx="2395728" cy="877824"/>
          </a:xfrm>
          <a:prstGeom prst="rect">
            <a:avLst/>
          </a:prstGeom>
          <a:noFill/>
          <a:ln/>
        </p:spPr>
        <p:txBody>
          <a:bodyPr wrap="square" lIns="0" tIns="0" rIns="0" bIns="0" rtlCol="0" anchor="t"/>
          <a:lstStyle/>
          <a:p>
            <a:pPr indent="0" marL="0">
              <a:buNone/>
            </a:pPr>
            <a:r>
              <a:rPr lang="en-US" sz="1300" b="1" dirty="0">
                <a:solidFill>
                  <a:srgbClr val="12343B"/>
                </a:solidFill>
              </a:rPr>
              <a:t>3 Accuracy</a:t>
            </a:r>
            <a:endParaRPr lang="en-US" sz="1050" dirty="0"/>
          </a:p>
          <a:p>
            <a:pPr indent="0" marL="0">
              <a:buNone/>
            </a:pPr>
            <a:r>
              <a:rPr lang="en-US" sz="1050" dirty="0">
                <a:solidFill>
                  <a:schemeClr val="tx1"/>
                </a:solidFill>
              </a:rPr>
              <a:t>160 golden tickets, one at a time, via POST /tickets; non-201 = wrong + non-conformant</a:t>
            </a:r>
            <a:endParaRPr lang="en-US" sz="1050" dirty="0"/>
          </a:p>
        </p:txBody>
      </p:sp>
      <p:sp>
        <p:nvSpPr>
          <p:cNvPr id="9" name="Shape 7"/>
          <p:cNvSpPr/>
          <p:nvPr/>
        </p:nvSpPr>
        <p:spPr>
          <a:xfrm>
            <a:off x="457200" y="2011680"/>
            <a:ext cx="2606040" cy="1005840"/>
          </a:xfrm>
          <a:prstGeom prst="roundRect">
            <a:avLst>
              <a:gd name="adj" fmla="val 7273"/>
            </a:avLst>
          </a:prstGeom>
          <a:solidFill>
            <a:srgbClr val="DDF0EE"/>
          </a:solidFill>
          <a:ln w="12700">
            <a:solidFill>
              <a:srgbClr val="DDF0EE"/>
            </a:solidFill>
            <a:prstDash val="solid"/>
          </a:ln>
        </p:spPr>
      </p:sp>
      <p:sp>
        <p:nvSpPr>
          <p:cNvPr id="10" name="Text 8"/>
          <p:cNvSpPr txBox="1"/>
          <p:nvPr/>
        </p:nvSpPr>
        <p:spPr>
          <a:xfrm>
            <a:off x="566928" y="2084832"/>
            <a:ext cx="2395728" cy="877824"/>
          </a:xfrm>
          <a:prstGeom prst="rect">
            <a:avLst/>
          </a:prstGeom>
          <a:noFill/>
          <a:ln/>
        </p:spPr>
        <p:txBody>
          <a:bodyPr wrap="square" lIns="0" tIns="0" rIns="0" bIns="0" rtlCol="0" anchor="t"/>
          <a:lstStyle/>
          <a:p>
            <a:pPr indent="0" marL="0">
              <a:buNone/>
            </a:pPr>
            <a:r>
              <a:rPr lang="en-US" sz="1300" b="1" dirty="0">
                <a:solidFill>
                  <a:srgbClr val="12343B"/>
                </a:solidFill>
              </a:rPr>
              <a:t>4 Load</a:t>
            </a:r>
            <a:endParaRPr lang="en-US" sz="1050" dirty="0"/>
          </a:p>
          <a:p>
            <a:pPr indent="0" marL="0">
              <a:buNone/>
            </a:pPr>
            <a:r>
              <a:rPr lang="en-US" sz="1050" dirty="0">
                <a:solidFill>
                  <a:schemeClr val="tx1"/>
                </a:solidFill>
              </a:rPr>
              <a:t>Redeploy (empty DB); 3 levels × 3 runs from the load-generator PC</a:t>
            </a:r>
            <a:endParaRPr lang="en-US" sz="1050" dirty="0"/>
          </a:p>
        </p:txBody>
      </p:sp>
      <p:sp>
        <p:nvSpPr>
          <p:cNvPr id="11" name="Shape 9"/>
          <p:cNvSpPr/>
          <p:nvPr/>
        </p:nvSpPr>
        <p:spPr>
          <a:xfrm>
            <a:off x="3246120" y="2011680"/>
            <a:ext cx="2606040" cy="1005840"/>
          </a:xfrm>
          <a:prstGeom prst="roundRect">
            <a:avLst>
              <a:gd name="adj" fmla="val 7273"/>
            </a:avLst>
          </a:prstGeom>
          <a:solidFill>
            <a:srgbClr val="FBEBDD"/>
          </a:solidFill>
          <a:ln w="12700">
            <a:solidFill>
              <a:srgbClr val="FBEBDD"/>
            </a:solidFill>
            <a:prstDash val="solid"/>
          </a:ln>
        </p:spPr>
      </p:sp>
      <p:sp>
        <p:nvSpPr>
          <p:cNvPr id="12" name="Text 10"/>
          <p:cNvSpPr txBox="1"/>
          <p:nvPr/>
        </p:nvSpPr>
        <p:spPr>
          <a:xfrm>
            <a:off x="3355848" y="2084832"/>
            <a:ext cx="2395728" cy="877824"/>
          </a:xfrm>
          <a:prstGeom prst="rect">
            <a:avLst/>
          </a:prstGeom>
          <a:noFill/>
          <a:ln/>
        </p:spPr>
        <p:txBody>
          <a:bodyPr wrap="square" lIns="0" tIns="0" rIns="0" bIns="0" rtlCol="0" anchor="t"/>
          <a:lstStyle/>
          <a:p>
            <a:pPr indent="0" marL="0">
              <a:buNone/>
            </a:pPr>
            <a:r>
              <a:rPr lang="en-US" sz="1300" b="1" dirty="0">
                <a:solidFill>
                  <a:srgbClr val="12343B"/>
                </a:solidFill>
              </a:rPr>
              <a:t>5 Stress</a:t>
            </a:r>
            <a:endParaRPr lang="en-US" sz="1050" dirty="0"/>
          </a:p>
          <a:p>
            <a:pPr indent="0" marL="0">
              <a:buNone/>
            </a:pPr>
            <a:r>
              <a:rPr lang="en-US" sz="1050" dirty="0">
                <a:solidFill>
                  <a:schemeClr val="tx1"/>
                </a:solidFill>
              </a:rPr>
              <a:t>Qwen3 4B: POST ramp 60 → 1,200/h over 40 min; search fixed at 316/h</a:t>
            </a:r>
            <a:endParaRPr lang="en-US" sz="1050" dirty="0"/>
          </a:p>
        </p:txBody>
      </p:sp>
      <p:sp>
        <p:nvSpPr>
          <p:cNvPr id="13" name="Shape 11"/>
          <p:cNvSpPr/>
          <p:nvPr/>
        </p:nvSpPr>
        <p:spPr>
          <a:xfrm>
            <a:off x="6035040" y="2011680"/>
            <a:ext cx="2606040" cy="1005840"/>
          </a:xfrm>
          <a:prstGeom prst="roundRect">
            <a:avLst>
              <a:gd name="adj" fmla="val 7273"/>
            </a:avLst>
          </a:prstGeom>
          <a:solidFill>
            <a:srgbClr val="DDF0EE"/>
          </a:solidFill>
          <a:ln w="12700">
            <a:solidFill>
              <a:srgbClr val="DDF0EE"/>
            </a:solidFill>
            <a:prstDash val="solid"/>
          </a:ln>
        </p:spPr>
      </p:sp>
      <p:sp>
        <p:nvSpPr>
          <p:cNvPr id="14" name="Text 12"/>
          <p:cNvSpPr txBox="1"/>
          <p:nvPr/>
        </p:nvSpPr>
        <p:spPr>
          <a:xfrm>
            <a:off x="6144768" y="2084832"/>
            <a:ext cx="2395728" cy="877824"/>
          </a:xfrm>
          <a:prstGeom prst="rect">
            <a:avLst/>
          </a:prstGeom>
          <a:noFill/>
          <a:ln/>
        </p:spPr>
        <p:txBody>
          <a:bodyPr wrap="square" lIns="0" tIns="0" rIns="0" bIns="0" rtlCol="0" anchor="t"/>
          <a:lstStyle/>
          <a:p>
            <a:pPr indent="0" marL="0">
              <a:buNone/>
            </a:pPr>
            <a:r>
              <a:rPr lang="en-US" sz="1300" b="1" dirty="0">
                <a:solidFill>
                  <a:srgbClr val="12343B"/>
                </a:solidFill>
              </a:rPr>
              <a:t>6 Reconcile</a:t>
            </a:r>
            <a:endParaRPr lang="en-US" sz="1050" dirty="0"/>
          </a:p>
          <a:p>
            <a:pPr indent="0" marL="0">
              <a:buNone/>
            </a:pPr>
            <a:r>
              <a:rPr lang="en-US" sz="1050" dirty="0">
                <a:solidFill>
                  <a:schemeClr val="tx1"/>
                </a:solidFill>
              </a:rPr>
              <a:t>save_logs.ps1 → analyse_jtl.py: every JMeter sample ↔ log line by request ID; /stats delta</a:t>
            </a:r>
            <a:endParaRPr lang="en-US" sz="1050" dirty="0"/>
          </a:p>
        </p:txBody>
      </p:sp>
      <p:sp>
        <p:nvSpPr>
          <p:cNvPr id="15" name="Shape 13"/>
          <p:cNvSpPr/>
          <p:nvPr/>
        </p:nvSpPr>
        <p:spPr>
          <a:xfrm>
            <a:off x="457200" y="3246120"/>
            <a:ext cx="8229600" cy="1463040"/>
          </a:xfrm>
          <a:prstGeom prst="roundRect">
            <a:avLst>
              <a:gd name="adj" fmla="val 5000"/>
            </a:avLst>
          </a:prstGeom>
          <a:solidFill>
            <a:srgbClr val="F4F6F7"/>
          </a:solidFill>
          <a:ln w="12700">
            <a:solidFill>
              <a:srgbClr val="F4F6F7"/>
            </a:solidFill>
            <a:prstDash val="solid"/>
          </a:ln>
        </p:spPr>
      </p:sp>
      <p:sp>
        <p:nvSpPr>
          <p:cNvPr id="16" name="Text 14"/>
          <p:cNvSpPr txBox="1"/>
          <p:nvPr/>
        </p:nvSpPr>
        <p:spPr>
          <a:xfrm>
            <a:off x="594360" y="3310128"/>
            <a:ext cx="7955280" cy="256032"/>
          </a:xfrm>
          <a:prstGeom prst="rect">
            <a:avLst/>
          </a:prstGeom>
          <a:noFill/>
          <a:ln/>
        </p:spPr>
        <p:txBody>
          <a:bodyPr wrap="square" lIns="0" tIns="0" rIns="0" bIns="0" rtlCol="0" anchor="t"/>
          <a:lstStyle/>
          <a:p>
            <a:pPr indent="0" marL="0">
              <a:buNone/>
            </a:pPr>
            <a:r>
              <a:rPr lang="en-US" sz="1200" b="1" dirty="0">
                <a:solidFill>
                  <a:schemeClr val="tx2"/>
                </a:solidFill>
              </a:rPr>
              <a:t>Open-loop JMeter configuration (step5/jmeter/ticket_triage.jmx)</a:t>
            </a:r>
            <a:endParaRPr lang="en-US" sz="1200" dirty="0"/>
          </a:p>
        </p:txBody>
      </p:sp>
      <p:sp>
        <p:nvSpPr>
          <p:cNvPr id="17" name="Text 15"/>
          <p:cNvSpPr txBox="1"/>
          <p:nvPr/>
        </p:nvSpPr>
        <p:spPr>
          <a:xfrm>
            <a:off x="594360" y="3584448"/>
            <a:ext cx="7955280" cy="1097280"/>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chemeClr val="tx1"/>
                </a:solidFill>
              </a:rPr>
              <a:t>Two Open Model Thread Groups (POST, search). Schedule: rate(R/hour) random_arrivals(22 min) pause(1 min), so arrivals never wait for responses.</a:t>
            </a:r>
            <a:endParaRPr lang="en-US" sz="1050" dirty="0"/>
          </a:p>
          <a:p>
            <a:pPr marL="152400" indent="-152400">
              <a:spcAft>
                <a:spcPts val="200"/>
              </a:spcAft>
              <a:buSzPct val="100000"/>
              <a:buChar char="•"/>
            </a:pPr>
            <a:r>
              <a:rPr lang="en-US" sz="1050" dirty="0">
                <a:solidFill>
                  <a:schemeClr val="tx1"/>
                </a:solidFill>
              </a:rPr>
              <a:t>First 2 min = warm-up, excluded; 20-min measurement window; arrival seeds 1, 2, 3; 60 s cooldown between runs.</a:t>
            </a:r>
            <a:endParaRPr lang="en-US" sz="1050" dirty="0"/>
          </a:p>
          <a:p>
            <a:pPr marL="152400" indent="-152400">
              <a:spcAft>
                <a:spcPts val="200"/>
              </a:spcAft>
              <a:buSzPct val="100000"/>
              <a:buChar char="•"/>
            </a:pPr>
            <a:r>
              <a:rPr lang="en-US" sz="1050" dirty="0">
                <a:solidFill>
                  <a:schemeClr val="tx1"/>
                </a:solidFill>
              </a:rPr>
              <a:t>Data: 840 non-golden team rows (9000–9839) as JSON bodies; 20 search terms. Timeouts: connect 10 s, response 310 s.</a:t>
            </a:r>
            <a:endParaRPr lang="en-US" sz="1050" dirty="0"/>
          </a:p>
          <a:p>
            <a:pPr marL="152400" indent="-152400">
              <a:spcAft>
                <a:spcPts val="200"/>
              </a:spcAft>
              <a:buSzPct val="100000"/>
              <a:buChar char="•"/>
            </a:pPr>
            <a:r>
              <a:rPr lang="en-US" sz="1050" dirty="0">
                <a:solidFill>
                  <a:schemeClr val="tx1"/>
                </a:solidFill>
              </a:rPr>
              <a:t>Each request has X-Request-ID = UUID, saved in the .jtl and in the API log. Full procedure: step5/README.md.</a:t>
            </a:r>
            <a:endParaRPr lang="en-US" sz="10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Load and stress: Ollama inference is the bottleneck</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4709160" cy="914400"/>
        </p:xfrm>
        <a:graphic>
          <a:graphicData uri="http://schemas.openxmlformats.org/drawingml/2006/table">
            <a:tbl>
              <a:tblPr/>
              <a:tblGrid>
                <a:gridCol w="960120"/>
                <a:gridCol w="548640"/>
                <a:gridCol w="502920"/>
                <a:gridCol w="1143000"/>
                <a:gridCol w="502920"/>
                <a:gridCol w="548640"/>
                <a:gridCol w="502920"/>
              </a:tblGrid>
              <a:tr h="219456">
                <a:tc>
                  <a:txBody>
                    <a:bodyPr/>
                    <a:lstStyle/>
                    <a:p>
                      <a:pPr indent="0" marL="0">
                        <a:buNone/>
                      </a:pPr>
                      <a:r>
                        <a:rPr lang="en-US" sz="950" b="1" dirty="0">
                          <a:solidFill>
                            <a:srgbClr val="FFFFFF"/>
                          </a:solidFill>
                        </a:rPr>
                        <a:t>Model</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POST/h</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p50 s</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p95 s [min–max]</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p99 s</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Done/h</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950" b="1" dirty="0">
                          <a:solidFill>
                            <a:srgbClr val="FFFFFF"/>
                          </a:solidFill>
                        </a:rPr>
                        <a:t>Err %</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r>
              <a:tr h="219456">
                <a:tc>
                  <a:txBody>
                    <a:bodyPr/>
                    <a:lstStyle/>
                    <a:p>
                      <a:pPr indent="0" marL="0">
                        <a:buNone/>
                      </a:pPr>
                      <a:r>
                        <a:rPr lang="en-US" sz="950" b="1" dirty="0">
                          <a:solidFill>
                            <a:srgbClr val="8E9AA3"/>
                          </a:solidFill>
                        </a:rPr>
                        <a:t>Gemma 3 1B</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43</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1.9</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3.6 [2.5–5.8]</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3.6</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28</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C0392B"/>
                          </a:solidFill>
                        </a:rPr>
                        <a:t>23.8</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81</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1.6</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6.7 [2.7–13.0]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7.3</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66</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C0392B"/>
                          </a:solidFill>
                        </a:rPr>
                        <a:t>14.1</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000000"/>
                          </a:solidFill>
                        </a:rPr>
                        <a:t>105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3.1 [2.7–3.3]</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3.6</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85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C0392B"/>
                          </a:solidFill>
                        </a:rPr>
                        <a:t>16.5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r>
                        <a:rPr lang="en-US" sz="950" b="1" dirty="0">
                          <a:solidFill>
                            <a:srgbClr val="2A9D8F"/>
                          </a:solidFill>
                        </a:rPr>
                        <a:t>Qwen3 4B</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43</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4.4</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9.7 [9.0–10.7]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9.7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0.0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81</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4.9</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12.1 [10.4–13.0]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13.1</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77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0.0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000000"/>
                          </a:solidFill>
                        </a:rPr>
                        <a:t>105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4.9</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11.8 [10.1–12.8]</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14.0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102</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0.0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r>
                        <a:rPr lang="en-US" sz="950" b="1" dirty="0">
                          <a:solidFill>
                            <a:srgbClr val="E07A1F"/>
                          </a:solidFill>
                        </a:rPr>
                        <a:t>Llama 3.1 8B</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43</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10.2</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24.2 [18.5–35.4]</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24.2</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37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0.0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81</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9.4</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18.7 [18.2–19.3]</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24.0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75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0.0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219456">
                <a:tc>
                  <a:txBody>
                    <a:bodyPr/>
                    <a:lstStyle/>
                    <a:p>
                      <a:pPr indent="0" marL="0">
                        <a:buNone/>
                      </a:pP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000000"/>
                          </a:solidFill>
                        </a:rPr>
                        <a:t>105</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11.0</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C0392B"/>
                          </a:solidFill>
                        </a:rPr>
                        <a:t>47.5 [18.2–89.7]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52.1</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dirty="0">
                          <a:solidFill>
                            <a:srgbClr val="000000"/>
                          </a:solidFill>
                        </a:rPr>
                        <a:t>97</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950" b="1" dirty="0">
                          <a:solidFill>
                            <a:srgbClr val="C0392B"/>
                          </a:solidFill>
                        </a:rPr>
                        <a:t>1.9*</a:t>
                      </a:r>
                      <a:endParaRPr lang="en-US" sz="9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bl>
          </a:graphicData>
        </a:graphic>
      </p:graphicFrame>
      <p:sp>
        <p:nvSpPr>
          <p:cNvPr id="4" name="Text 1"/>
          <p:cNvSpPr txBox="1"/>
          <p:nvPr/>
        </p:nvSpPr>
        <p:spPr>
          <a:xfrm>
            <a:off x="457200" y="3154680"/>
            <a:ext cx="4709160" cy="457200"/>
          </a:xfrm>
          <a:prstGeom prst="rect">
            <a:avLst/>
          </a:prstGeom>
          <a:noFill/>
          <a:ln/>
        </p:spPr>
        <p:txBody>
          <a:bodyPr wrap="square" lIns="0" tIns="0" rIns="0" bIns="0" rtlCol="0" anchor="t"/>
          <a:lstStyle/>
          <a:p>
            <a:pPr indent="0" marL="0">
              <a:buNone/>
            </a:pPr>
            <a:r>
              <a:rPr lang="en-US" sz="900" i="1" dirty="0">
                <a:solidFill>
                  <a:schemeClr val="accent5"/>
                </a:solidFill>
              </a:rPr>
              <a:t>Mean of 3 runs (open-loop, 20-min windows). GET /search p95 ≤ 0.38 s in all 27 runs; 0 search errors. *Llama: 2 JMeter test-end aborts; server returned 201 for both.</a:t>
            </a:r>
            <a:endParaRPr lang="en-US" sz="900" dirty="0"/>
          </a:p>
        </p:txBody>
      </p:sp>
      <p:graphicFrame>
        <p:nvGraphicFramePr>
          <p:cNvPr id="5" name="Chart 0" descr=""/>
          <p:cNvGraphicFramePr/>
          <p:nvPr/>
        </p:nvGraphicFramePr>
        <p:xfrm>
          <a:off x="5349240" y="822960"/>
          <a:ext cx="3337560" cy="25146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349240" y="3383280"/>
            <a:ext cx="3337560" cy="1371600"/>
          </a:xfrm>
          <a:prstGeom prst="rect">
            <a:avLst/>
          </a:prstGeom>
          <a:noFill/>
          <a:ln/>
        </p:spPr>
        <p:txBody>
          <a:bodyPr wrap="square" lIns="0" tIns="0" rIns="0" bIns="0" rtlCol="0" anchor="t"/>
          <a:lstStyle/>
          <a:p>
            <a:pPr indent="0" marL="0">
              <a:buNone/>
            </a:pPr>
            <a:r>
              <a:rPr lang="en-US" sz="1000" b="1" dirty="0">
                <a:solidFill>
                  <a:schemeClr val="tx1"/>
                </a:solidFill>
              </a:rPr>
              <a:t>Limit found: ~470–480 tickets/h. </a:t>
            </a:r>
            <a:pPr indent="0" marL="0">
              <a:buNone/>
            </a:pPr>
            <a:r>
              <a:rPr lang="en-US" sz="1000" dirty="0">
                <a:solidFill>
                  <a:schemeClr val="tx1"/>
                </a:solidFill>
              </a:rPr>
              <a:t>Up to 450/h offered it keeps up (backlog ≤ 3). From minute 21 (~600/h offered) the backlog rises every minute, latency grows 52 s → 280 s, and from minute 30 requests fail with 502 at the 300 s timeout. Search p95 stays 0.13 s.</a:t>
            </a:r>
            <a:endParaRPr lang="en-US" sz="1000" dirty="0"/>
          </a:p>
        </p:txBody>
      </p:sp>
      <p:sp>
        <p:nvSpPr>
          <p:cNvPr id="7" name="Text 3"/>
          <p:cNvSpPr txBox="1"/>
          <p:nvPr/>
        </p:nvSpPr>
        <p:spPr>
          <a:xfrm>
            <a:off x="457200" y="3639312"/>
            <a:ext cx="4709160" cy="1097280"/>
          </a:xfrm>
          <a:prstGeom prst="rect">
            <a:avLst/>
          </a:prstGeom>
          <a:noFill/>
          <a:ln/>
        </p:spPr>
        <p:txBody>
          <a:bodyPr wrap="square" lIns="0" tIns="0" rIns="0" bIns="0" rtlCol="0" anchor="t"/>
          <a:lstStyle/>
          <a:p>
            <a:pPr indent="0" marL="0">
              <a:buNone/>
            </a:pPr>
            <a:r>
              <a:rPr lang="en-US" sz="1000" b="1" dirty="0">
                <a:solidFill>
                  <a:schemeClr val="tx1"/>
                </a:solidFill>
              </a:rPr>
              <a:t>Diagnosis: </a:t>
            </a:r>
            <a:pPr indent="0" marL="0">
              <a:buNone/>
            </a:pPr>
            <a:r>
              <a:rPr lang="en-US" sz="1000" dirty="0">
                <a:solidFill>
                  <a:schemeClr val="tx1"/>
                </a:solidFill>
              </a:rPr>
              <a:t>NUM_PARALLEL = 1, so tickets queue behind the model; nothing else saturates. Gemma has spare capacity but rejects 16.5% of tickets. Llama (13 s per ticket) has no burst margin: random clusters gave p95 from 18 s to 90 s across runs at 105/h.</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Accuracy: no candidate reaches 85%; Llama best at 75.6%</a:t>
            </a:r>
            <a:endParaRPr lang="en-US" sz="2200" dirty="0"/>
          </a:p>
        </p:txBody>
      </p:sp>
      <p:graphicFrame>
        <p:nvGraphicFramePr>
          <p:cNvPr id="3" name="Chart 0" descr=""/>
          <p:cNvGraphicFramePr/>
          <p:nvPr/>
        </p:nvGraphicFramePr>
        <p:xfrm>
          <a:off x="365760" y="822960"/>
          <a:ext cx="539496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989320" y="868680"/>
            <a:ext cx="1143000" cy="411480"/>
          </a:xfrm>
          <a:prstGeom prst="rect">
            <a:avLst/>
          </a:prstGeom>
          <a:noFill/>
          <a:ln/>
        </p:spPr>
        <p:txBody>
          <a:bodyPr wrap="square" lIns="0" tIns="0" rIns="0" bIns="0" rtlCol="0" anchor="t"/>
          <a:lstStyle/>
          <a:p>
            <a:pPr indent="0" marL="0">
              <a:buNone/>
            </a:pPr>
            <a:r>
              <a:rPr lang="en-US" sz="2200" b="1" dirty="0">
                <a:solidFill>
                  <a:srgbClr val="8E9AA3"/>
                </a:solidFill>
                <a:latin typeface="Cambria" pitchFamily="34" charset="0"/>
                <a:ea typeface="Cambria" pitchFamily="34" charset="-122"/>
                <a:cs typeface="Cambria" pitchFamily="34" charset="-120"/>
              </a:rPr>
              <a:t>30.0%</a:t>
            </a:r>
            <a:endParaRPr lang="en-US" sz="2200" dirty="0"/>
          </a:p>
        </p:txBody>
      </p:sp>
      <p:sp>
        <p:nvSpPr>
          <p:cNvPr id="5" name="Text 2"/>
          <p:cNvSpPr txBox="1"/>
          <p:nvPr/>
        </p:nvSpPr>
        <p:spPr>
          <a:xfrm>
            <a:off x="7132320" y="886968"/>
            <a:ext cx="1600200" cy="548640"/>
          </a:xfrm>
          <a:prstGeom prst="rect">
            <a:avLst/>
          </a:prstGeom>
          <a:noFill/>
          <a:ln/>
        </p:spPr>
        <p:txBody>
          <a:bodyPr wrap="square" lIns="0" tIns="0" rIns="0" bIns="0" rtlCol="0" anchor="t"/>
          <a:lstStyle/>
          <a:p>
            <a:pPr indent="0" marL="0">
              <a:buNone/>
            </a:pPr>
            <a:r>
              <a:rPr lang="en-US" sz="950" b="1" dirty="0">
                <a:solidFill>
                  <a:schemeClr val="tx1"/>
                </a:solidFill>
              </a:rPr>
              <a:t>Gemma 3 1B</a:t>
            </a:r>
            <a:endParaRPr lang="en-US" sz="950" dirty="0"/>
          </a:p>
          <a:p>
            <a:pPr indent="0" marL="0">
              <a:buNone/>
            </a:pPr>
            <a:r>
              <a:rPr lang="en-US" sz="950" dirty="0">
                <a:solidFill>
                  <a:schemeClr val="tx1"/>
                </a:solidFill>
              </a:rPr>
              <a:t>48/160 · valid output 81.9%</a:t>
            </a:r>
            <a:endParaRPr lang="en-US" sz="950" dirty="0"/>
          </a:p>
        </p:txBody>
      </p:sp>
      <p:sp>
        <p:nvSpPr>
          <p:cNvPr id="6" name="Text 3"/>
          <p:cNvSpPr txBox="1"/>
          <p:nvPr/>
        </p:nvSpPr>
        <p:spPr>
          <a:xfrm>
            <a:off x="5989320" y="1554480"/>
            <a:ext cx="1143000" cy="411480"/>
          </a:xfrm>
          <a:prstGeom prst="rect">
            <a:avLst/>
          </a:prstGeom>
          <a:noFill/>
          <a:ln/>
        </p:spPr>
        <p:txBody>
          <a:bodyPr wrap="square" lIns="0" tIns="0" rIns="0" bIns="0" rtlCol="0" anchor="t"/>
          <a:lstStyle/>
          <a:p>
            <a:pPr indent="0" marL="0">
              <a:buNone/>
            </a:pPr>
            <a:r>
              <a:rPr lang="en-US" sz="2200" b="1" dirty="0">
                <a:solidFill>
                  <a:srgbClr val="2A9D8F"/>
                </a:solidFill>
                <a:latin typeface="Cambria" pitchFamily="34" charset="0"/>
                <a:ea typeface="Cambria" pitchFamily="34" charset="-122"/>
                <a:cs typeface="Cambria" pitchFamily="34" charset="-120"/>
              </a:rPr>
              <a:t>68.8%</a:t>
            </a:r>
            <a:endParaRPr lang="en-US" sz="2200" dirty="0"/>
          </a:p>
        </p:txBody>
      </p:sp>
      <p:sp>
        <p:nvSpPr>
          <p:cNvPr id="7" name="Text 4"/>
          <p:cNvSpPr txBox="1"/>
          <p:nvPr/>
        </p:nvSpPr>
        <p:spPr>
          <a:xfrm>
            <a:off x="7132320" y="1572768"/>
            <a:ext cx="1600200" cy="548640"/>
          </a:xfrm>
          <a:prstGeom prst="rect">
            <a:avLst/>
          </a:prstGeom>
          <a:noFill/>
          <a:ln/>
        </p:spPr>
        <p:txBody>
          <a:bodyPr wrap="square" lIns="0" tIns="0" rIns="0" bIns="0" rtlCol="0" anchor="t"/>
          <a:lstStyle/>
          <a:p>
            <a:pPr indent="0" marL="0">
              <a:buNone/>
            </a:pPr>
            <a:r>
              <a:rPr lang="en-US" sz="950" b="1" dirty="0">
                <a:solidFill>
                  <a:schemeClr val="tx1"/>
                </a:solidFill>
              </a:rPr>
              <a:t>Qwen3 4B</a:t>
            </a:r>
            <a:endParaRPr lang="en-US" sz="950" dirty="0"/>
          </a:p>
          <a:p>
            <a:pPr indent="0" marL="0">
              <a:buNone/>
            </a:pPr>
            <a:r>
              <a:rPr lang="en-US" sz="950" dirty="0">
                <a:solidFill>
                  <a:schemeClr val="tx1"/>
                </a:solidFill>
              </a:rPr>
              <a:t>110/160 · valid output 98.1%</a:t>
            </a:r>
            <a:endParaRPr lang="en-US" sz="950" dirty="0"/>
          </a:p>
        </p:txBody>
      </p:sp>
      <p:sp>
        <p:nvSpPr>
          <p:cNvPr id="8" name="Text 5"/>
          <p:cNvSpPr txBox="1"/>
          <p:nvPr/>
        </p:nvSpPr>
        <p:spPr>
          <a:xfrm>
            <a:off x="5989320" y="2240280"/>
            <a:ext cx="1143000" cy="411480"/>
          </a:xfrm>
          <a:prstGeom prst="rect">
            <a:avLst/>
          </a:prstGeom>
          <a:noFill/>
          <a:ln/>
        </p:spPr>
        <p:txBody>
          <a:bodyPr wrap="square" lIns="0" tIns="0" rIns="0" bIns="0" rtlCol="0" anchor="t"/>
          <a:lstStyle/>
          <a:p>
            <a:pPr indent="0" marL="0">
              <a:buNone/>
            </a:pPr>
            <a:r>
              <a:rPr lang="en-US" sz="2200" b="1" dirty="0">
                <a:solidFill>
                  <a:srgbClr val="E07A1F"/>
                </a:solidFill>
                <a:latin typeface="Cambria" pitchFamily="34" charset="0"/>
                <a:ea typeface="Cambria" pitchFamily="34" charset="-122"/>
                <a:cs typeface="Cambria" pitchFamily="34" charset="-120"/>
              </a:rPr>
              <a:t>75.6%</a:t>
            </a:r>
            <a:endParaRPr lang="en-US" sz="2200" dirty="0"/>
          </a:p>
        </p:txBody>
      </p:sp>
      <p:sp>
        <p:nvSpPr>
          <p:cNvPr id="9" name="Text 6"/>
          <p:cNvSpPr txBox="1"/>
          <p:nvPr/>
        </p:nvSpPr>
        <p:spPr>
          <a:xfrm>
            <a:off x="7132320" y="2258568"/>
            <a:ext cx="1600200" cy="548640"/>
          </a:xfrm>
          <a:prstGeom prst="rect">
            <a:avLst/>
          </a:prstGeom>
          <a:noFill/>
          <a:ln/>
        </p:spPr>
        <p:txBody>
          <a:bodyPr wrap="square" lIns="0" tIns="0" rIns="0" bIns="0" rtlCol="0" anchor="t"/>
          <a:lstStyle/>
          <a:p>
            <a:pPr indent="0" marL="0">
              <a:buNone/>
            </a:pPr>
            <a:r>
              <a:rPr lang="en-US" sz="950" b="1" dirty="0">
                <a:solidFill>
                  <a:schemeClr val="tx1"/>
                </a:solidFill>
              </a:rPr>
              <a:t>Llama 3.1 8B</a:t>
            </a:r>
            <a:endParaRPr lang="en-US" sz="950" dirty="0"/>
          </a:p>
          <a:p>
            <a:pPr indent="0" marL="0">
              <a:buNone/>
            </a:pPr>
            <a:r>
              <a:rPr lang="en-US" sz="950" dirty="0">
                <a:solidFill>
                  <a:schemeClr val="tx1"/>
                </a:solidFill>
              </a:rPr>
              <a:t>121/160 · valid output 99.4%</a:t>
            </a:r>
            <a:endParaRPr lang="en-US" sz="950" dirty="0"/>
          </a:p>
        </p:txBody>
      </p:sp>
      <p:sp>
        <p:nvSpPr>
          <p:cNvPr id="10" name="Text 7"/>
          <p:cNvSpPr txBox="1"/>
          <p:nvPr/>
        </p:nvSpPr>
        <p:spPr>
          <a:xfrm>
            <a:off x="5989320" y="2971800"/>
            <a:ext cx="2743200" cy="256032"/>
          </a:xfrm>
          <a:prstGeom prst="rect">
            <a:avLst/>
          </a:prstGeom>
          <a:noFill/>
          <a:ln/>
        </p:spPr>
        <p:txBody>
          <a:bodyPr wrap="square" lIns="0" tIns="0" rIns="0" bIns="0" rtlCol="0" anchor="t"/>
          <a:lstStyle/>
          <a:p>
            <a:pPr indent="0" marL="0">
              <a:buNone/>
            </a:pPr>
            <a:r>
              <a:rPr lang="en-US" sz="1200" b="1" dirty="0">
                <a:solidFill>
                  <a:schemeClr val="tx2"/>
                </a:solidFill>
              </a:rPr>
              <a:t>Where each model goes wrong</a:t>
            </a:r>
            <a:endParaRPr lang="en-US" sz="1200" dirty="0"/>
          </a:p>
        </p:txBody>
      </p:sp>
      <p:sp>
        <p:nvSpPr>
          <p:cNvPr id="11" name="Text 8"/>
          <p:cNvSpPr txBox="1"/>
          <p:nvPr/>
        </p:nvSpPr>
        <p:spPr>
          <a:xfrm>
            <a:off x="5989320" y="3246120"/>
            <a:ext cx="2743200" cy="150876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chemeClr val="tx1"/>
                </a:solidFill>
              </a:rPr>
              <a:t>Gemma: 26 of 29 invalid answers are capitalisation ('Consumer Loan'); 18/30 Bank → Credit reporting; Money transfer 0/28</a:t>
            </a:r>
            <a:endParaRPr lang="en-US" sz="950" dirty="0"/>
          </a:p>
          <a:p>
            <a:pPr marL="152400" indent="-152400">
              <a:spcAft>
                <a:spcPts val="300"/>
              </a:spcAft>
              <a:buSzPct val="100000"/>
              <a:buChar char="•"/>
            </a:pPr>
            <a:r>
              <a:rPr lang="en-US" sz="950" dirty="0">
                <a:solidFill>
                  <a:schemeClr val="tx1"/>
                </a:solidFill>
              </a:rPr>
              <a:t>Qwen: 9/33 Credit reporting → Credit card; 3 lowercase answers (R7 98.1%)</a:t>
            </a:r>
            <a:endParaRPr lang="en-US" sz="950" dirty="0"/>
          </a:p>
          <a:p>
            <a:pPr marL="152400" indent="-152400">
              <a:spcAft>
                <a:spcPts val="300"/>
              </a:spcAft>
              <a:buSzPct val="100000"/>
              <a:buChar char="•"/>
            </a:pPr>
            <a:r>
              <a:rPr lang="en-US" sz="950" dirty="0">
                <a:solidFill>
                  <a:schemeClr val="tx1"/>
                </a:solidFill>
              </a:rPr>
              <a:t>Llama: errors spread out; 16 tickets wrongly sent to Credit card; Bank account 66.7%</a:t>
            </a:r>
            <a:endParaRPr lang="en-US" sz="9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Recommendation: Qwen3 4B, for assisted routing only</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3108960" cy="914400"/>
        </p:xfrm>
        <a:graphic>
          <a:graphicData uri="http://schemas.openxmlformats.org/drawingml/2006/table">
            <a:tbl>
              <a:tblPr/>
              <a:tblGrid>
                <a:gridCol w="1188720"/>
                <a:gridCol w="640080"/>
                <a:gridCol w="640080"/>
                <a:gridCol w="640080"/>
              </a:tblGrid>
              <a:tr h="219456">
                <a:tc>
                  <a:txBody>
                    <a:bodyPr/>
                    <a:lstStyle/>
                    <a:p>
                      <a:pPr indent="0" marL="0">
                        <a:buNone/>
                      </a:pPr>
                      <a:r>
                        <a:rPr lang="en-US" sz="900" b="1" dirty="0">
                          <a:solidFill>
                            <a:srgbClr val="FFFFFF"/>
                          </a:solidFill>
                        </a:rPr>
                        <a:t>Req</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343B"/>
                    </a:solidFill>
                  </a:tcPr>
                </a:tc>
                <a:tc>
                  <a:txBody>
                    <a:bodyPr/>
                    <a:lstStyle/>
                    <a:p>
                      <a:pPr indent="0" marL="0">
                        <a:buNone/>
                      </a:pPr>
                      <a:r>
                        <a:rPr lang="en-US" sz="900" b="1" dirty="0">
                          <a:solidFill>
                            <a:srgbClr val="FFFFFF"/>
                          </a:solidFill>
                        </a:rPr>
                        <a:t>Gemma</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343B"/>
                    </a:solidFill>
                  </a:tcPr>
                </a:tc>
                <a:tc>
                  <a:txBody>
                    <a:bodyPr/>
                    <a:lstStyle/>
                    <a:p>
                      <a:pPr indent="0" marL="0">
                        <a:buNone/>
                      </a:pPr>
                      <a:r>
                        <a:rPr lang="en-US" sz="900" b="1" dirty="0">
                          <a:solidFill>
                            <a:srgbClr val="FFFFFF"/>
                          </a:solidFill>
                        </a:rPr>
                        <a:t>Qwen</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343B"/>
                    </a:solidFill>
                  </a:tcPr>
                </a:tc>
                <a:tc>
                  <a:txBody>
                    <a:bodyPr/>
                    <a:lstStyle/>
                    <a:p>
                      <a:pPr indent="0" marL="0">
                        <a:buNone/>
                      </a:pPr>
                      <a:r>
                        <a:rPr lang="en-US" sz="900" b="1" dirty="0">
                          <a:solidFill>
                            <a:srgbClr val="FFFFFF"/>
                          </a:solidFill>
                        </a:rPr>
                        <a:t>Llama</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343B"/>
                    </a:solidFill>
                  </a:tcPr>
                </a:tc>
              </a:tr>
              <a:tr h="219456">
                <a:tc>
                  <a:txBody>
                    <a:bodyPr/>
                    <a:lstStyle/>
                    <a:p>
                      <a:pPr indent="0" marL="0">
                        <a:buNone/>
                      </a:pPr>
                      <a:r>
                        <a:rPr lang="en-US" sz="900" b="1" dirty="0">
                          <a:solidFill>
                            <a:srgbClr val="000000"/>
                          </a:solidFill>
                        </a:rPr>
                        <a:t>R1 Throughput</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r>
              <a:tr h="219456">
                <a:tc>
                  <a:txBody>
                    <a:bodyPr/>
                    <a:lstStyle/>
                    <a:p>
                      <a:pPr indent="0" marL="0">
                        <a:buNone/>
                      </a:pPr>
                      <a:r>
                        <a:rPr lang="en-US" sz="900" b="1" dirty="0">
                          <a:solidFill>
                            <a:srgbClr val="000000"/>
                          </a:solidFill>
                        </a:rPr>
                        <a:t>R2 POST latency</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r>
              <a:tr h="219456">
                <a:tc>
                  <a:txBody>
                    <a:bodyPr/>
                    <a:lstStyle/>
                    <a:p>
                      <a:pPr indent="0" marL="0">
                        <a:buNone/>
                      </a:pPr>
                      <a:r>
                        <a:rPr lang="en-US" sz="900" b="1" dirty="0">
                          <a:solidFill>
                            <a:srgbClr val="000000"/>
                          </a:solidFill>
                        </a:rPr>
                        <a:t>R3 Search</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r>
              <a:tr h="219456">
                <a:tc>
                  <a:txBody>
                    <a:bodyPr/>
                    <a:lstStyle/>
                    <a:p>
                      <a:pPr indent="0" marL="0">
                        <a:buNone/>
                      </a:pPr>
                      <a:r>
                        <a:rPr lang="en-US" sz="900" b="1" dirty="0">
                          <a:solidFill>
                            <a:srgbClr val="000000"/>
                          </a:solidFill>
                        </a:rPr>
                        <a:t>R4 Errors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r>
              <a:tr h="219456">
                <a:tc>
                  <a:txBody>
                    <a:bodyPr/>
                    <a:lstStyle/>
                    <a:p>
                      <a:pPr indent="0" marL="0">
                        <a:buNone/>
                      </a:pPr>
                      <a:r>
                        <a:rPr lang="en-US" sz="900" b="1" dirty="0">
                          <a:solidFill>
                            <a:srgbClr val="000000"/>
                          </a:solidFill>
                        </a:rPr>
                        <a:t>R5 Accuracy</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r>
              <a:tr h="219456">
                <a:tc>
                  <a:txBody>
                    <a:bodyPr/>
                    <a:lstStyle/>
                    <a:p>
                      <a:pPr indent="0" marL="0">
                        <a:buNone/>
                      </a:pPr>
                      <a:r>
                        <a:rPr lang="en-US" sz="900" b="1" dirty="0">
                          <a:solidFill>
                            <a:srgbClr val="000000"/>
                          </a:solidFill>
                        </a:rPr>
                        <a:t>R6 Per category</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r>
              <a:tr h="219456">
                <a:tc>
                  <a:txBody>
                    <a:bodyPr/>
                    <a:lstStyle/>
                    <a:p>
                      <a:pPr indent="0" marL="0">
                        <a:buNone/>
                      </a:pPr>
                      <a:r>
                        <a:rPr lang="en-US" sz="900" b="1" dirty="0">
                          <a:solidFill>
                            <a:srgbClr val="000000"/>
                          </a:solidFill>
                        </a:rPr>
                        <a:t>R7 Conformance</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FAIL</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r>
              <a:tr h="219456">
                <a:tc>
                  <a:txBody>
                    <a:bodyPr/>
                    <a:lstStyle/>
                    <a:p>
                      <a:pPr indent="0" marL="0">
                        <a:buNone/>
                      </a:pPr>
                      <a:r>
                        <a:rPr lang="en-US" sz="900" b="1" dirty="0">
                          <a:solidFill>
                            <a:srgbClr val="000000"/>
                          </a:solidFill>
                        </a:rPr>
                        <a:t>R8 CPU-only</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c>
                  <a:txBody>
                    <a:bodyPr/>
                    <a:lstStyle/>
                    <a:p>
                      <a:pPr algn="ctr" indent="0" marL="0">
                        <a:buNone/>
                      </a:pPr>
                      <a:r>
                        <a:rPr lang="en-US" sz="900" b="1" dirty="0">
                          <a:solidFill>
                            <a:srgbClr val="FFFFFF"/>
                          </a:solidFill>
                        </a:rPr>
                        <a:t>PASS</a:t>
                      </a:r>
                      <a:endParaRPr lang="en-US" sz="9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9D8F"/>
                    </a:solidFill>
                  </a:tcPr>
                </a:tc>
              </a:tr>
            </a:tbl>
          </a:graphicData>
        </a:graphic>
      </p:graphicFrame>
      <p:sp>
        <p:nvSpPr>
          <p:cNvPr id="4" name="Text 1"/>
          <p:cNvSpPr txBox="1"/>
          <p:nvPr/>
        </p:nvSpPr>
        <p:spPr>
          <a:xfrm>
            <a:off x="457200" y="2926080"/>
            <a:ext cx="3108960" cy="411480"/>
          </a:xfrm>
          <a:prstGeom prst="rect">
            <a:avLst/>
          </a:prstGeom>
          <a:noFill/>
          <a:ln/>
        </p:spPr>
        <p:txBody>
          <a:bodyPr wrap="square" lIns="0" tIns="0" rIns="0" bIns="0" rtlCol="0" anchor="t"/>
          <a:lstStyle/>
          <a:p>
            <a:pPr indent="0" marL="0">
              <a:buNone/>
            </a:pPr>
            <a:r>
              <a:rPr lang="en-US" sz="850" i="1" dirty="0">
                <a:solidFill>
                  <a:schemeClr val="accent5"/>
                </a:solidFill>
              </a:rPr>
              <a:t>† 102 of 103/h offered completed, backlog ≤ 1; stress run sustained 430/h. * server 0 errors; JMeter 1.9% from test-end aborts.</a:t>
            </a:r>
            <a:endParaRPr lang="en-US" sz="8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57200" y="3337560"/>
          <a:ext cx="3108960" cy="914400"/>
        </p:xfrm>
        <a:graphic>
          <a:graphicData uri="http://schemas.openxmlformats.org/drawingml/2006/table">
            <a:tbl>
              <a:tblPr/>
              <a:tblGrid>
                <a:gridCol w="960120"/>
                <a:gridCol w="914400"/>
                <a:gridCol w="960120"/>
                <a:gridCol w="274320"/>
              </a:tblGrid>
              <a:tr h="182880">
                <a:tc>
                  <a:txBody>
                    <a:bodyPr/>
                    <a:lstStyle/>
                    <a:p>
                      <a:pPr indent="0" marL="0">
                        <a:buNone/>
                      </a:pPr>
                      <a:r>
                        <a:rPr lang="en-US" sz="850" b="1" dirty="0">
                          <a:solidFill>
                            <a:srgbClr val="FFFFFF"/>
                          </a:solidFill>
                        </a:rPr>
                        <a:t>Prediction</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850" b="1" dirty="0">
                          <a:solidFill>
                            <a:srgbClr val="FFFFFF"/>
                          </a:solidFill>
                        </a:rPr>
                        <a:t>Predicted</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r>
                        <a:rPr lang="en-US" sz="850" b="1" dirty="0">
                          <a:solidFill>
                            <a:srgbClr val="FFFFFF"/>
                          </a:solidFill>
                        </a:rPr>
                        <a:t>Measured</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c>
                  <a:txBody>
                    <a:bodyPr/>
                    <a:lstStyle/>
                    <a:p>
                      <a:pPr indent="0" marL="0">
                        <a:buNone/>
                      </a:pP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solidFill>
                      <a:srgbClr val="12343B"/>
                    </a:solidFill>
                  </a:tcPr>
                </a:tc>
              </a:tr>
              <a:tr h="182880">
                <a:tc>
                  <a:txBody>
                    <a:bodyPr/>
                    <a:lstStyle/>
                    <a:p>
                      <a:pPr indent="0" marL="0">
                        <a:buNone/>
                      </a:pPr>
                      <a:r>
                        <a:rPr lang="en-US" sz="850" b="1" dirty="0">
                          <a:solidFill>
                            <a:srgbClr val="000000"/>
                          </a:solidFill>
                        </a:rPr>
                        <a:t>Bottleneck</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Ollama CPU; 502 at 300 s</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Confirmed</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algn="ctr" indent="0" marL="0">
                        <a:buNone/>
                      </a:pPr>
                      <a:r>
                        <a:rPr lang="en-US" sz="850" b="1" dirty="0">
                          <a:solidFill>
                            <a:srgbClr val="2A9D8F"/>
                          </a:solidFill>
                        </a:rPr>
                        <a: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182880">
                <a:tc>
                  <a:txBody>
                    <a:bodyPr/>
                    <a:lstStyle/>
                    <a:p>
                      <a:pPr indent="0" marL="0">
                        <a:buNone/>
                      </a:pPr>
                      <a:r>
                        <a:rPr lang="en-US" sz="850" b="1" dirty="0">
                          <a:solidFill>
                            <a:srgbClr val="000000"/>
                          </a:solidFill>
                        </a:rPr>
                        <a:t>Accuracy G/Q/L</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52 / 74 / 71%</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30 / 69 / 76%</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algn="ctr" indent="0" marL="0">
                        <a:buNone/>
                      </a:pPr>
                      <a:r>
                        <a:rPr lang="en-US" sz="850" b="1" dirty="0">
                          <a:solidFill>
                            <a:srgbClr val="C0392B"/>
                          </a:solidFill>
                        </a:rPr>
                        <a: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182880">
                <a:tc>
                  <a:txBody>
                    <a:bodyPr/>
                    <a:lstStyle/>
                    <a:p>
                      <a:pPr indent="0" marL="0">
                        <a:buNone/>
                      </a:pPr>
                      <a:r>
                        <a:rPr lang="en-US" sz="850" b="1" dirty="0">
                          <a:solidFill>
                            <a:srgbClr val="000000"/>
                          </a:solidFill>
                        </a:rPr>
                        <a:t>Latency G/Q/L</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1.5 / 5 / 10 s</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2.4 / 7.9 / 13.2 s</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algn="ctr" indent="0" marL="0">
                        <a:buNone/>
                      </a:pPr>
                      <a:r>
                        <a:rPr lang="en-US" sz="850" b="1" dirty="0">
                          <a:solidFill>
                            <a:srgbClr val="C0392B"/>
                          </a:solidFill>
                        </a:rPr>
                        <a: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182880">
                <a:tc>
                  <a:txBody>
                    <a:bodyPr/>
                    <a:lstStyle/>
                    <a:p>
                      <a:pPr indent="0" marL="0">
                        <a:buNone/>
                      </a:pPr>
                      <a:r>
                        <a:rPr lang="en-US" sz="850" b="1" dirty="0">
                          <a:solidFill>
                            <a:srgbClr val="000000"/>
                          </a:solidFill>
                        </a:rPr>
                        <a:t>Qwen limit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~700/h</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~470/h</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algn="ctr" indent="0" marL="0">
                        <a:buNone/>
                      </a:pPr>
                      <a:r>
                        <a:rPr lang="en-US" sz="850" b="1" dirty="0">
                          <a:solidFill>
                            <a:srgbClr val="C0392B"/>
                          </a:solidFill>
                        </a:rPr>
                        <a: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182880">
                <a:tc>
                  <a:txBody>
                    <a:bodyPr/>
                    <a:lstStyle/>
                    <a:p>
                      <a:pPr indent="0" marL="0">
                        <a:buNone/>
                      </a:pPr>
                      <a:r>
                        <a:rPr lang="en-US" sz="850" b="1" dirty="0">
                          <a:solidFill>
                            <a:srgbClr val="000000"/>
                          </a:solidFill>
                        </a:rPr>
                        <a:t>Hardest category</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Money transfer</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Gemma only</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algn="ctr" indent="0" marL="0">
                        <a:buNone/>
                      </a:pPr>
                      <a:r>
                        <a:rPr lang="en-US" sz="850" b="1" dirty="0">
                          <a:solidFill>
                            <a:srgbClr val="C0392B"/>
                          </a:solidFill>
                        </a:rPr>
                        <a: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r h="182880">
                <a:tc>
                  <a:txBody>
                    <a:bodyPr/>
                    <a:lstStyle/>
                    <a:p>
                      <a:pPr indent="0" marL="0">
                        <a:buNone/>
                      </a:pPr>
                      <a:r>
                        <a:rPr lang="en-US" sz="850" b="1" dirty="0">
                          <a:solidFill>
                            <a:srgbClr val="000000"/>
                          </a:solidFill>
                        </a:rPr>
                        <a:t>Llama R1, R2</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pass</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indent="0" marL="0">
                        <a:buNone/>
                      </a:pPr>
                      <a:r>
                        <a:rPr lang="en-US" sz="850" dirty="0">
                          <a:solidFill>
                            <a:srgbClr val="000000"/>
                          </a:solidFill>
                        </a:rPr>
                        <a:t>fail</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c>
                  <a:txBody>
                    <a:bodyPr/>
                    <a:lstStyle/>
                    <a:p>
                      <a:pPr algn="ctr" indent="0" marL="0">
                        <a:buNone/>
                      </a:pPr>
                      <a:r>
                        <a:rPr lang="en-US" sz="850" b="1" dirty="0">
                          <a:solidFill>
                            <a:srgbClr val="C0392B"/>
                          </a:solidFill>
                        </a:rPr>
                        <a:t>✗</a:t>
                      </a:r>
                      <a:endParaRPr lang="en-US" sz="850" dirty="0"/>
                    </a:p>
                  </a:txBody>
                  <a:tcPr marL="27432" marR="27432" marT="27432" marB="27432" anchor="ctr">
                    <a:lnL w="6350" cap="flat" cmpd="sng" algn="ctr">
                      <a:solidFill>
                        <a:srgbClr val="D5DEE1"/>
                      </a:solidFill>
                      <a:prstDash val="solid"/>
                      <a:round/>
                      <a:headEnd type="none" w="med" len="med"/>
                      <a:tailEnd type="none" w="med" len="med"/>
                    </a:lnL>
                    <a:lnR w="6350" cap="flat" cmpd="sng" algn="ctr">
                      <a:solidFill>
                        <a:srgbClr val="D5DEE1"/>
                      </a:solidFill>
                      <a:prstDash val="solid"/>
                      <a:round/>
                      <a:headEnd type="none" w="med" len="med"/>
                      <a:tailEnd type="none" w="med" len="med"/>
                    </a:lnR>
                    <a:lnT w="6350" cap="flat" cmpd="sng" algn="ctr">
                      <a:solidFill>
                        <a:srgbClr val="D5DEE1"/>
                      </a:solidFill>
                      <a:prstDash val="solid"/>
                      <a:round/>
                      <a:headEnd type="none" w="med" len="med"/>
                      <a:tailEnd type="none" w="med" len="med"/>
                    </a:lnT>
                    <a:lnB w="6350" cap="flat" cmpd="sng" algn="ctr">
                      <a:solidFill>
                        <a:srgbClr val="D5DEE1"/>
                      </a:solidFill>
                      <a:prstDash val="solid"/>
                      <a:round/>
                      <a:headEnd type="none" w="med" len="med"/>
                      <a:tailEnd type="none" w="med" len="med"/>
                    </a:lnB>
                  </a:tcPr>
                </a:tc>
              </a:tr>
            </a:tbl>
          </a:graphicData>
        </a:graphic>
      </p:graphicFrame>
      <p:sp>
        <p:nvSpPr>
          <p:cNvPr id="6" name="Shape 2"/>
          <p:cNvSpPr/>
          <p:nvPr/>
        </p:nvSpPr>
        <p:spPr>
          <a:xfrm>
            <a:off x="3794760" y="868680"/>
            <a:ext cx="4892040" cy="2103120"/>
          </a:xfrm>
          <a:prstGeom prst="roundRect">
            <a:avLst>
              <a:gd name="adj" fmla="val 3478"/>
            </a:avLst>
          </a:prstGeom>
          <a:solidFill>
            <a:srgbClr val="DDF0EE"/>
          </a:solidFill>
          <a:ln w="12700">
            <a:solidFill>
              <a:srgbClr val="DDF0EE"/>
            </a:solidFill>
            <a:prstDash val="solid"/>
          </a:ln>
        </p:spPr>
      </p:sp>
      <p:sp>
        <p:nvSpPr>
          <p:cNvPr id="7" name="Text 3"/>
          <p:cNvSpPr txBox="1"/>
          <p:nvPr/>
        </p:nvSpPr>
        <p:spPr>
          <a:xfrm>
            <a:off x="3931920" y="941832"/>
            <a:ext cx="4617720" cy="2029968"/>
          </a:xfrm>
          <a:prstGeom prst="rect">
            <a:avLst/>
          </a:prstGeom>
          <a:noFill/>
          <a:ln/>
        </p:spPr>
        <p:txBody>
          <a:bodyPr wrap="square" lIns="0" tIns="0" rIns="0" bIns="0" rtlCol="0" anchor="t"/>
          <a:lstStyle/>
          <a:p>
            <a:pPr indent="0" marL="0">
              <a:spcAft>
                <a:spcPts val="300"/>
              </a:spcAft>
              <a:buNone/>
            </a:pPr>
            <a:r>
              <a:rPr lang="en-US" sz="1200" b="1" dirty="0">
                <a:solidFill>
                  <a:srgbClr val="12343B"/>
                </a:solidFill>
              </a:rPr>
              <a:t>Deploy Qwen3 4B (0edcdef34593) to suggest a category that an agent confirms</a:t>
            </a:r>
            <a:endParaRPr lang="en-US" sz="1000" dirty="0"/>
          </a:p>
          <a:p>
            <a:pPr marL="152400" indent="-152400">
              <a:spcAft>
                <a:spcPts val="300"/>
              </a:spcAft>
              <a:buSzPct val="100000"/>
              <a:buChar char="•"/>
            </a:pPr>
            <a:r>
              <a:rPr lang="en-US" sz="1000" dirty="0">
                <a:solidFill>
                  <a:schemeClr val="tx1"/>
                </a:solidFill>
              </a:rPr>
              <a:t>The only candidate meeting every service requirement (R1–R4, R8) at peak + 30%: p95 11.8 s against 30 s, 0% errors, and capacity ~470/h (4.5× the 105/h need), which absorbs bursts and surges.</a:t>
            </a:r>
            <a:endParaRPr lang="en-US" sz="1000" dirty="0"/>
          </a:p>
          <a:p>
            <a:pPr marL="152400" indent="-152400">
              <a:spcAft>
                <a:spcPts val="300"/>
              </a:spcAft>
              <a:buSzPct val="100000"/>
              <a:buChar char="•"/>
            </a:pPr>
            <a:r>
              <a:rPr lang="en-US" sz="1000" dirty="0">
                <a:solidFill>
                  <a:schemeClr val="tx1"/>
                </a:solidFill>
              </a:rPr>
              <a:t>Llama is 6.8 points more accurate and the only model passing R7, but on this CPU it fails R1 and R2 (p95 up to 90 s). We do not trade peak capacity for accuracy that still misses R5.</a:t>
            </a:r>
            <a:endParaRPr lang="en-US" sz="1000" dirty="0"/>
          </a:p>
          <a:p>
            <a:pPr marL="152400" indent="-152400">
              <a:spcAft>
                <a:spcPts val="300"/>
              </a:spcAft>
              <a:buSzPct val="100000"/>
              <a:buChar char="•"/>
            </a:pPr>
            <a:r>
              <a:rPr lang="en-US" sz="1000" dirty="0">
                <a:solidFill>
                  <a:schemeClr val="tx1"/>
                </a:solidFill>
              </a:rPr>
              <a:t>Gemma is ruled out: 16.5% of tickets rejected, 30% accurate.</a:t>
            </a:r>
            <a:endParaRPr lang="en-US" sz="1000" dirty="0"/>
          </a:p>
        </p:txBody>
      </p:sp>
      <p:sp>
        <p:nvSpPr>
          <p:cNvPr id="8" name="Shape 4"/>
          <p:cNvSpPr/>
          <p:nvPr/>
        </p:nvSpPr>
        <p:spPr>
          <a:xfrm>
            <a:off x="3794760" y="3108960"/>
            <a:ext cx="4892040" cy="731520"/>
          </a:xfrm>
          <a:prstGeom prst="roundRect">
            <a:avLst>
              <a:gd name="adj" fmla="val 10000"/>
            </a:avLst>
          </a:prstGeom>
          <a:solidFill>
            <a:srgbClr val="FBE3E0"/>
          </a:solidFill>
          <a:ln w="12700">
            <a:solidFill>
              <a:srgbClr val="FBE3E0"/>
            </a:solidFill>
            <a:prstDash val="solid"/>
          </a:ln>
        </p:spPr>
      </p:sp>
      <p:sp>
        <p:nvSpPr>
          <p:cNvPr id="9" name="Text 5"/>
          <p:cNvSpPr txBox="1"/>
          <p:nvPr/>
        </p:nvSpPr>
        <p:spPr>
          <a:xfrm>
            <a:off x="3931920" y="3172968"/>
            <a:ext cx="4617720" cy="640080"/>
          </a:xfrm>
          <a:prstGeom prst="rect">
            <a:avLst/>
          </a:prstGeom>
          <a:noFill/>
          <a:ln/>
        </p:spPr>
        <p:txBody>
          <a:bodyPr wrap="square" lIns="0" tIns="0" rIns="0" bIns="0" rtlCol="0" anchor="t"/>
          <a:lstStyle/>
          <a:p>
            <a:pPr indent="0" marL="0">
              <a:buNone/>
            </a:pPr>
            <a:r>
              <a:rPr lang="en-US" sz="1000" b="1" dirty="0">
                <a:solidFill>
                  <a:srgbClr val="C0392B"/>
                </a:solidFill>
              </a:rPr>
              <a:t>Not met by any candidate: </a:t>
            </a:r>
            <a:pPr indent="0" marL="0">
              <a:buNone/>
            </a:pPr>
            <a:r>
              <a:rPr lang="en-US" sz="1000" dirty="0">
                <a:solidFill>
                  <a:schemeClr val="tx1"/>
                </a:solidFill>
              </a:rPr>
              <a:t>R5 (85% overall) and R6 (70% per category). Qwen also misses R7 (98.1%). Fully automatic routing cannot be promised on this hardware.</a:t>
            </a:r>
            <a:endParaRPr lang="en-US" sz="1000" dirty="0"/>
          </a:p>
        </p:txBody>
      </p:sp>
      <p:sp>
        <p:nvSpPr>
          <p:cNvPr id="10" name="Text 6"/>
          <p:cNvSpPr txBox="1"/>
          <p:nvPr/>
        </p:nvSpPr>
        <p:spPr>
          <a:xfrm>
            <a:off x="3794760" y="3904488"/>
            <a:ext cx="4892040" cy="868680"/>
          </a:xfrm>
          <a:prstGeom prst="rect">
            <a:avLst/>
          </a:prstGeom>
          <a:noFill/>
          <a:ln/>
        </p:spPr>
        <p:txBody>
          <a:bodyPr wrap="square" lIns="0" tIns="0" rIns="0" bIns="0" rtlCol="0" anchor="t"/>
          <a:lstStyle/>
          <a:p>
            <a:pPr indent="0" marL="0">
              <a:buNone/>
            </a:pPr>
            <a:r>
              <a:rPr lang="en-US" sz="950" b="1" dirty="0">
                <a:solidFill>
                  <a:schemeClr val="tx1"/>
                </a:solidFill>
              </a:rPr>
              <a:t>Why our predictions were wrong: </a:t>
            </a:r>
            <a:pPr indent="0" marL="0">
              <a:buNone/>
            </a:pPr>
            <a:r>
              <a:rPr lang="en-US" sz="950" dirty="0">
                <a:solidFill>
                  <a:schemeClr val="tx1"/>
                </a:solidFill>
              </a:rPr>
              <a:t>we modelled 8 equal cores, but the 256V has 4 low-power cores and runs inference inside WSL2, the likely reason every model ran 1.3–1.6× slower (not measured separately). We reasoned from mean utilisation and ignored Poisson bursts (Llama R2). The prompt lacks our protocol's rules, which caps accuracy. </a:t>
            </a:r>
            <a:pPr indent="0" marL="0">
              <a:buNone/>
            </a:pPr>
            <a:r>
              <a:rPr lang="en-US" sz="950" b="1" dirty="0">
                <a:solidFill>
                  <a:schemeClr val="tx1"/>
                </a:solidFill>
              </a:rPr>
              <a:t>Assignment 2: </a:t>
            </a:r>
            <a:pPr indent="0" marL="0">
              <a:buNone/>
            </a:pPr>
            <a:r>
              <a:rPr lang="en-US" sz="950" dirty="0">
                <a:solidFill>
                  <a:schemeClr val="tx1"/>
                </a:solidFill>
              </a:rPr>
              <a:t>case-insensitive parsing, protocol rules in the prompt, more cores per Ollama instance.</a:t>
            </a:r>
            <a:endParaRPr lang="en-US" sz="9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54864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References and acknowledgements</a:t>
            </a:r>
            <a:endParaRPr lang="en-US" sz="2200" dirty="0"/>
          </a:p>
        </p:txBody>
      </p:sp>
      <p:sp>
        <p:nvSpPr>
          <p:cNvPr id="3" name="Text 1"/>
          <p:cNvSpPr txBox="1"/>
          <p:nvPr/>
        </p:nvSpPr>
        <p:spPr>
          <a:xfrm>
            <a:off x="457200" y="868680"/>
            <a:ext cx="4023360" cy="274320"/>
          </a:xfrm>
          <a:prstGeom prst="rect">
            <a:avLst/>
          </a:prstGeom>
          <a:noFill/>
          <a:ln/>
        </p:spPr>
        <p:txBody>
          <a:bodyPr wrap="square" lIns="0" tIns="0" rIns="0" bIns="0" rtlCol="0" anchor="t"/>
          <a:lstStyle/>
          <a:p>
            <a:pPr indent="0" marL="0">
              <a:buNone/>
            </a:pPr>
            <a:r>
              <a:rPr lang="en-US" sz="1200" b="1" dirty="0">
                <a:solidFill>
                  <a:schemeClr val="tx2"/>
                </a:solidFill>
              </a:rPr>
              <a:t>Data and workload sources</a:t>
            </a:r>
            <a:endParaRPr lang="en-US" sz="1200" dirty="0"/>
          </a:p>
        </p:txBody>
      </p:sp>
      <p:sp>
        <p:nvSpPr>
          <p:cNvPr id="4" name="Text 2"/>
          <p:cNvSpPr txBox="1"/>
          <p:nvPr/>
        </p:nvSpPr>
        <p:spPr>
          <a:xfrm>
            <a:off x="457200" y="1188720"/>
            <a:ext cx="4023360" cy="3566160"/>
          </a:xfrm>
          <a:prstGeom prst="rect">
            <a:avLst/>
          </a:prstGeom>
          <a:noFill/>
          <a:ln/>
        </p:spPr>
        <p:txBody>
          <a:bodyPr wrap="square" lIns="0" tIns="0" rIns="0" bIns="0" rtlCol="0" anchor="t"/>
          <a:lstStyle/>
          <a:p>
            <a:pPr indent="0" marL="0">
              <a:spcAft>
                <a:spcPts val="500"/>
              </a:spcAft>
              <a:buNone/>
            </a:pPr>
            <a:r>
              <a:rPr lang="en-US" sz="950" dirty="0">
                <a:solidFill>
                  <a:schemeClr val="tx1"/>
                </a:solidFill>
              </a:rPr>
              <a:t>Consumer Financial Protection Bureau. Consumer Complaint Database. consumerfinance.gov/data-research/consumer-complaints (course extract, team rows 9000–9999)</a:t>
            </a:r>
            <a:endParaRPr lang="en-US" sz="950" dirty="0"/>
          </a:p>
          <a:p>
            <a:pPr indent="0" marL="0">
              <a:spcAft>
                <a:spcPts val="500"/>
              </a:spcAft>
              <a:buNone/>
            </a:pPr>
            <a:r>
              <a:rPr lang="en-US" sz="950" dirty="0">
                <a:solidFill>
                  <a:schemeClr val="tx1"/>
                </a:solidFill>
              </a:rPr>
              <a:t>[R1] Barclays (2026). UK complaints data, January to June 2026. home.barclays/who-we-are/reporting/uk-complaints-data</a:t>
            </a:r>
            <a:endParaRPr lang="en-US" sz="950" dirty="0"/>
          </a:p>
          <a:p>
            <a:pPr indent="0" marL="0">
              <a:spcAft>
                <a:spcPts val="500"/>
              </a:spcAft>
              <a:buNone/>
            </a:pPr>
            <a:r>
              <a:rPr lang="en-US" sz="950" dirty="0">
                <a:solidFill>
                  <a:schemeClr val="tx1"/>
                </a:solidFill>
              </a:rPr>
              <a:t>[R2] CFPB (2024, 2025). Consumer Response Annual Reports 2023, 2024. files.consumerfinance.gov</a:t>
            </a:r>
            <a:endParaRPr lang="en-US" sz="950" dirty="0"/>
          </a:p>
          <a:p>
            <a:pPr indent="0" marL="0">
              <a:spcAft>
                <a:spcPts val="500"/>
              </a:spcAft>
              <a:buNone/>
            </a:pPr>
            <a:r>
              <a:rPr lang="en-US" sz="950" dirty="0">
                <a:solidFill>
                  <a:schemeClr val="tx1"/>
                </a:solidFill>
              </a:rPr>
              <a:t>[R3] CFPB Consumer Complaint Database API, daily counts (retrieved 1 Oct 2026)</a:t>
            </a:r>
            <a:endParaRPr lang="en-US" sz="950" dirty="0"/>
          </a:p>
          <a:p>
            <a:pPr indent="0" marL="0">
              <a:spcAft>
                <a:spcPts val="500"/>
              </a:spcAft>
              <a:buNone/>
            </a:pPr>
            <a:r>
              <a:rPr lang="en-US" sz="950" dirty="0">
                <a:solidFill>
                  <a:schemeClr val="tx1"/>
                </a:solidFill>
              </a:rPr>
              <a:t>[R4] Financial Conduct Authority (2026). Aggregate complaints data 2025 H2. fca.org.uk/data/complaints-data</a:t>
            </a:r>
            <a:endParaRPr lang="en-US" sz="950" dirty="0"/>
          </a:p>
          <a:p>
            <a:pPr indent="0" marL="0">
              <a:spcAft>
                <a:spcPts val="500"/>
              </a:spcAft>
              <a:buNone/>
            </a:pPr>
            <a:r>
              <a:rPr lang="en-US" sz="950" dirty="0">
                <a:solidFill>
                  <a:schemeClr val="tx1"/>
                </a:solidFill>
              </a:rPr>
              <a:t>[R5] FIDReC (2025). FIDReC received a record 4,355 claims this fiscal year. fidrec.com.sg</a:t>
            </a:r>
            <a:endParaRPr lang="en-US" sz="950" dirty="0"/>
          </a:p>
          <a:p>
            <a:pPr indent="0" marL="0">
              <a:spcAft>
                <a:spcPts val="500"/>
              </a:spcAft>
              <a:buNone/>
            </a:pPr>
            <a:r>
              <a:rPr lang="en-US" sz="950" dirty="0">
                <a:solidFill>
                  <a:schemeClr val="tx1"/>
                </a:solidFill>
              </a:rPr>
              <a:t>[R6] Call Centre Helper. 10 Things You Need to Know About Call Centres. callcentrehelper.com</a:t>
            </a:r>
            <a:endParaRPr lang="en-US" sz="950" dirty="0"/>
          </a:p>
          <a:p>
            <a:pPr indent="0" marL="0">
              <a:spcAft>
                <a:spcPts val="500"/>
              </a:spcAft>
              <a:buNone/>
            </a:pPr>
            <a:r>
              <a:rPr lang="en-US" sz="950" dirty="0">
                <a:solidFill>
                  <a:schemeClr val="tx1"/>
                </a:solidFill>
              </a:rPr>
              <a:t>[R7] Taylor, J. W. (2012). Density forecasting of intraday call center arrivals. Management Science 58, 534–549</a:t>
            </a:r>
            <a:endParaRPr lang="en-US" sz="950" dirty="0"/>
          </a:p>
        </p:txBody>
      </p:sp>
      <p:sp>
        <p:nvSpPr>
          <p:cNvPr id="5" name="Text 3"/>
          <p:cNvSpPr txBox="1"/>
          <p:nvPr/>
        </p:nvSpPr>
        <p:spPr>
          <a:xfrm>
            <a:off x="4663440" y="868680"/>
            <a:ext cx="4023360" cy="274320"/>
          </a:xfrm>
          <a:prstGeom prst="rect">
            <a:avLst/>
          </a:prstGeom>
          <a:noFill/>
          <a:ln/>
        </p:spPr>
        <p:txBody>
          <a:bodyPr wrap="square" lIns="0" tIns="0" rIns="0" bIns="0" rtlCol="0" anchor="t"/>
          <a:lstStyle/>
          <a:p>
            <a:pPr indent="0" marL="0">
              <a:buNone/>
            </a:pPr>
            <a:r>
              <a:rPr lang="en-US" sz="1200" b="1" dirty="0">
                <a:solidFill>
                  <a:schemeClr val="tx2"/>
                </a:solidFill>
              </a:rPr>
              <a:t>Software, model licences, acknowledgements</a:t>
            </a:r>
            <a:endParaRPr lang="en-US" sz="1200" dirty="0"/>
          </a:p>
        </p:txBody>
      </p:sp>
      <p:sp>
        <p:nvSpPr>
          <p:cNvPr id="6" name="Text 4"/>
          <p:cNvSpPr txBox="1"/>
          <p:nvPr/>
        </p:nvSpPr>
        <p:spPr>
          <a:xfrm>
            <a:off x="4663440" y="1188720"/>
            <a:ext cx="4023360" cy="3566160"/>
          </a:xfrm>
          <a:prstGeom prst="rect">
            <a:avLst/>
          </a:prstGeom>
          <a:noFill/>
          <a:ln/>
        </p:spPr>
        <p:txBody>
          <a:bodyPr wrap="square" lIns="0" tIns="0" rIns="0" bIns="0" rtlCol="0" anchor="t"/>
          <a:lstStyle/>
          <a:p>
            <a:pPr indent="0" marL="0">
              <a:spcAft>
                <a:spcPts val="500"/>
              </a:spcAft>
              <a:buNone/>
            </a:pPr>
            <a:r>
              <a:rPr lang="en-US" sz="950" dirty="0">
                <a:solidFill>
                  <a:schemeClr val="tx1"/>
                </a:solidFill>
              </a:rPr>
              <a:t>Ollama 0.12.3, MIT License. github.com/ollama/ollama</a:t>
            </a:r>
            <a:endParaRPr lang="en-US" sz="950" dirty="0"/>
          </a:p>
          <a:p>
            <a:pPr indent="0" marL="0">
              <a:spcAft>
                <a:spcPts val="500"/>
              </a:spcAft>
              <a:buNone/>
            </a:pPr>
            <a:r>
              <a:rPr lang="en-US" sz="950" dirty="0">
                <a:solidFill>
                  <a:schemeClr val="tx1"/>
                </a:solidFill>
              </a:rPr>
              <a:t>Gemma 3 (Google DeepMind), Gemma Terms of Use. ai.google.dev/gemma/terms</a:t>
            </a:r>
            <a:endParaRPr lang="en-US" sz="950" dirty="0"/>
          </a:p>
          <a:p>
            <a:pPr indent="0" marL="0">
              <a:spcAft>
                <a:spcPts val="500"/>
              </a:spcAft>
              <a:buNone/>
            </a:pPr>
            <a:r>
              <a:rPr lang="en-US" sz="950" dirty="0">
                <a:solidFill>
                  <a:schemeClr val="tx1"/>
                </a:solidFill>
              </a:rPr>
              <a:t>Qwen3-4B-Instruct-2507 (Alibaba Qwen), Apache License 2.0. huggingface.co/Qwen/Qwen3-4B-Instruct-2507</a:t>
            </a:r>
            <a:endParaRPr lang="en-US" sz="950" dirty="0"/>
          </a:p>
          <a:p>
            <a:pPr indent="0" marL="0">
              <a:spcAft>
                <a:spcPts val="500"/>
              </a:spcAft>
              <a:buNone/>
            </a:pPr>
            <a:r>
              <a:rPr lang="en-US" sz="950" dirty="0">
                <a:solidFill>
                  <a:schemeClr val="tx1"/>
                </a:solidFill>
              </a:rPr>
              <a:t>Llama 3.1 8B Instruct (Meta), Llama 3.1 Community License. Built with Llama. huggingface.co/meta-llama/Llama-3.1-8B-Instruct</a:t>
            </a:r>
            <a:endParaRPr lang="en-US" sz="950" dirty="0"/>
          </a:p>
          <a:p>
            <a:pPr indent="0" marL="0">
              <a:spcAft>
                <a:spcPts val="500"/>
              </a:spcAft>
              <a:buNone/>
            </a:pPr>
            <a:r>
              <a:rPr lang="en-US" sz="950" dirty="0">
                <a:solidFill>
                  <a:schemeClr val="tx1"/>
                </a:solidFill>
              </a:rPr>
              <a:t>Apache JMeter 5.6.3, Apache License 2.0 · PostgreSQL 16, PostgreSQL License · FastAPI, MIT</a:t>
            </a:r>
            <a:endParaRPr lang="en-US" sz="950" dirty="0"/>
          </a:p>
          <a:p>
            <a:pPr indent="0" marL="0">
              <a:spcAft>
                <a:spcPts val="500"/>
              </a:spcAft>
              <a:buNone/>
            </a:pPr>
            <a:r>
              <a:rPr lang="en-US" sz="950" dirty="0">
                <a:solidFill>
                  <a:schemeClr val="tx1"/>
                </a:solidFill>
              </a:rPr>
              <a:t>AI assistance: Claude Code (Anthropic) helped build the service and test tooling, as permitted by the brief. Labelling, test runs and judgements are the team's.</a:t>
            </a:r>
            <a:endParaRPr lang="en-US" sz="9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riage Teal">
  <a:themeElements>
    <a:clrScheme name="Triage Teal">
      <a:dk1>
        <a:srgbClr val="1B2A30"/>
      </a:dk1>
      <a:lt1>
        <a:srgbClr val="FFFFFF"/>
      </a:lt1>
      <a:dk2>
        <a:srgbClr val="12343B"/>
      </a:dk2>
      <a:lt2>
        <a:srgbClr val="EEF3F4"/>
      </a:lt2>
      <a:accent1>
        <a:srgbClr val="2A9D8F"/>
      </a:accent1>
      <a:accent2>
        <a:srgbClr val="E07A1F"/>
      </a:accent2>
      <a:accent3>
        <a:srgbClr val="8E9AA3"/>
      </a:accent3>
      <a:accent4>
        <a:srgbClr val="C0392B"/>
      </a:accent4>
      <a:accent5>
        <a:srgbClr val="3D6B73"/>
      </a:accent5>
      <a:accent6>
        <a:srgbClr val="F2C14E"/>
      </a:accent6>
      <a:hlink>
        <a:srgbClr val="1F6F8B"/>
      </a:hlink>
      <a:folHlink>
        <a:srgbClr val="5B4B8A"/>
      </a:folHlink>
    </a:clrScheme>
    <a:fontScheme name="Triag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P1-9 ICT3113 Assignment 1</dc:title>
  <dc:subject>PptxGenJS Presentation</dc:subject>
  <dc:creator>Group P1-9</dc:creator>
  <cp:lastModifiedBy>Group P1-9</cp:lastModifiedBy>
  <cp:revision>1</cp:revision>
  <dcterms:created xsi:type="dcterms:W3CDTF">2026-10-08T08:35:51Z</dcterms:created>
  <dcterms:modified xsi:type="dcterms:W3CDTF">2026-10-08T08:35:51Z</dcterms:modified>
</cp:coreProperties>
</file>