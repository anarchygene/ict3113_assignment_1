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h1G7MY7rRg1g9/GKAR3fEHp1UP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E76F54-DCC2-4723-B163-4ADD76A469FF}">
  <a:tblStyle styleId="{DEE76F54-DCC2-4723-B163-4ADD76A469F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343B"/>
                </a:solidFill>
                <a:latin typeface="+mn-lt"/>
              </a:defRPr>
            </a:pPr>
            <a:r>
              <a:rPr sz="1100" b="0" i="0" u="none" strike="noStrike">
                <a:solidFill>
                  <a:srgbClr val="12343B"/>
                </a:solidFill>
                <a:latin typeface="+mn-lt"/>
              </a:rPr>
              <a:t>Ticket length, words (rows 9000–9999) [M]</a:t>
            </a:r>
          </a:p>
        </c:rich>
      </c:tx>
      <c:layout/>
      <c:overlay val="0"/>
    </c:title>
    <c:autoTitleDeleted val="0"/>
    <c:plotArea>
      <c:layout/>
      <c:barChart>
        <c:barDir val="col"/>
        <c:grouping val="clustered"/>
        <c:varyColors val="0"/>
        <c:ser>
          <c:idx val="0"/>
          <c:order val="0"/>
          <c:tx>
            <c:strRef>
              <c:f>Sheet1!$B$1</c:f>
              <c:strCache>
                <c:ptCount val="1"/>
                <c:pt idx="0">
                  <c:v>Tickets</c:v>
                </c:pt>
              </c:strCache>
            </c:strRef>
          </c:tx>
          <c:spPr>
            <a:solidFill>
              <a:srgbClr val="3D6B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lvl>
              </c:multiLvlStrCache>
            </c:multiLvlStrRef>
          </c:cat>
          <c:val>
            <c:numRef>
              <c:f>Sheet1!$B$2:$B$15</c:f>
              <c:numCache>
                <c:formatCode>General</c:formatCode>
                <c:ptCount val="14"/>
                <c:pt idx="0">
                  <c:v>56</c:v>
                </c:pt>
                <c:pt idx="1">
                  <c:v>114</c:v>
                </c:pt>
                <c:pt idx="2">
                  <c:v>129</c:v>
                </c:pt>
                <c:pt idx="3">
                  <c:v>137</c:v>
                </c:pt>
                <c:pt idx="4">
                  <c:v>97</c:v>
                </c:pt>
                <c:pt idx="5">
                  <c:v>101</c:v>
                </c:pt>
                <c:pt idx="6">
                  <c:v>90</c:v>
                </c:pt>
                <c:pt idx="7">
                  <c:v>71</c:v>
                </c:pt>
                <c:pt idx="8">
                  <c:v>56</c:v>
                </c:pt>
                <c:pt idx="9">
                  <c:v>41</c:v>
                </c:pt>
                <c:pt idx="10">
                  <c:v>42</c:v>
                </c:pt>
                <c:pt idx="11">
                  <c:v>36</c:v>
                </c:pt>
                <c:pt idx="12">
                  <c:v>16</c:v>
                </c:pt>
                <c:pt idx="13">
                  <c:v>14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2343B"/>
                </a:solidFill>
                <a:latin typeface="+mn-lt"/>
              </a:defRPr>
            </a:pPr>
            <a:r>
              <a:rPr sz="1000" b="0" i="0" u="none" strike="noStrike">
                <a:solidFill>
                  <a:srgbClr val="12343B"/>
                </a:solidFill>
                <a:latin typeface="+mn-lt"/>
              </a:rPr>
              <a:t>Accuracy on the golden set (%). R6 needs ≥ 70 per category, R5 ≥ 85 overall</a:t>
            </a:r>
          </a:p>
        </c:rich>
      </c:tx>
      <c:layout/>
      <c:overlay val="0"/>
    </c:title>
    <c:autoTitleDeleted val="0"/>
    <c:plotArea>
      <c:layout/>
      <c:barChart>
        <c:barDir val="col"/>
        <c:grouping val="clustered"/>
        <c:varyColors val="0"/>
        <c:ser>
          <c:idx val="0"/>
          <c:order val="0"/>
          <c:tx>
            <c:strRef>
              <c:f>Sheet1!$B$1</c:f>
              <c:strCache>
                <c:ptCount val="1"/>
                <c:pt idx="0">
                  <c:v>Gemma 3 1B</c:v>
                </c:pt>
              </c:strCache>
            </c:strRef>
          </c:tx>
          <c:spPr>
            <a:solidFill>
              <a:srgbClr val="8E9AA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Credit reporting</c:v>
                  </c:pt>
                  <c:pt idx="1">
                    <c:v>Debt collection</c:v>
                  </c:pt>
                  <c:pt idx="2">
                    <c:v>Mortgage</c:v>
                  </c:pt>
                  <c:pt idx="3">
                    <c:v>Credit card</c:v>
                  </c:pt>
                  <c:pt idx="4">
                    <c:v>Bank account</c:v>
                  </c:pt>
                  <c:pt idx="5">
                    <c:v>Consumer loan</c:v>
                  </c:pt>
                  <c:pt idx="6">
                    <c:v>Money transfer</c:v>
                  </c:pt>
                  <c:pt idx="7">
                    <c:v>Overall</c:v>
                  </c:pt>
                </c:lvl>
              </c:multiLvlStrCache>
            </c:multiLvlStrRef>
          </c:cat>
          <c:val>
            <c:numRef>
              <c:f>Sheet1!$B$2:$B$9</c:f>
              <c:numCache>
                <c:formatCode>General</c:formatCode>
                <c:ptCount val="8"/>
                <c:pt idx="0">
                  <c:v>69.7</c:v>
                </c:pt>
                <c:pt idx="1">
                  <c:v>29.2</c:v>
                </c:pt>
                <c:pt idx="2">
                  <c:v>61.1</c:v>
                </c:pt>
                <c:pt idx="3">
                  <c:v>9.1</c:v>
                </c:pt>
                <c:pt idx="4">
                  <c:v>13.3</c:v>
                </c:pt>
                <c:pt idx="5">
                  <c:v>12.5</c:v>
                </c:pt>
                <c:pt idx="6">
                  <c:v>0</c:v>
                </c:pt>
                <c:pt idx="7">
                  <c:v>30</c:v>
                </c:pt>
              </c:numCache>
            </c:numRef>
          </c:val>
        </c:ser>
        <c:ser>
          <c:idx val="1"/>
          <c:order val="1"/>
          <c:tx>
            <c:strRef>
              <c:f>Sheet1!$C$1</c:f>
              <c:strCache>
                <c:ptCount val="1"/>
                <c:pt idx="0">
                  <c:v>Qwen3 4B</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Credit reporting</c:v>
                  </c:pt>
                  <c:pt idx="1">
                    <c:v>Debt collection</c:v>
                  </c:pt>
                  <c:pt idx="2">
                    <c:v>Mortgage</c:v>
                  </c:pt>
                  <c:pt idx="3">
                    <c:v>Credit card</c:v>
                  </c:pt>
                  <c:pt idx="4">
                    <c:v>Bank account</c:v>
                  </c:pt>
                  <c:pt idx="5">
                    <c:v>Consumer loan</c:v>
                  </c:pt>
                  <c:pt idx="6">
                    <c:v>Money transfer</c:v>
                  </c:pt>
                  <c:pt idx="7">
                    <c:v>Overall</c:v>
                  </c:pt>
                </c:lvl>
              </c:multiLvlStrCache>
            </c:multiLvlStrRef>
          </c:cat>
          <c:val>
            <c:numRef>
              <c:f>Sheet1!$C$2:$C$9</c:f>
              <c:numCache>
                <c:formatCode>General</c:formatCode>
                <c:ptCount val="8"/>
                <c:pt idx="0">
                  <c:v>51.5</c:v>
                </c:pt>
                <c:pt idx="1">
                  <c:v>62.5</c:v>
                </c:pt>
                <c:pt idx="2">
                  <c:v>83.3</c:v>
                </c:pt>
                <c:pt idx="3">
                  <c:v>90.9</c:v>
                </c:pt>
                <c:pt idx="4">
                  <c:v>66.7</c:v>
                </c:pt>
                <c:pt idx="5">
                  <c:v>81.2</c:v>
                </c:pt>
                <c:pt idx="6">
                  <c:v>71.4</c:v>
                </c:pt>
                <c:pt idx="7">
                  <c:v>68.8</c:v>
                </c:pt>
              </c:numCache>
            </c:numRef>
          </c:val>
        </c:ser>
        <c:ser>
          <c:idx val="2"/>
          <c:order val="2"/>
          <c:tx>
            <c:strRef>
              <c:f>Sheet1!$D$1</c:f>
              <c:strCache>
                <c:ptCount val="1"/>
                <c:pt idx="0">
                  <c:v>Llama 3.1 8B</c:v>
                </c:pt>
              </c:strCache>
            </c:strRef>
          </c:tx>
          <c:spPr>
            <a:solidFill>
              <a:srgbClr val="E07A1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Credit reporting</c:v>
                  </c:pt>
                  <c:pt idx="1">
                    <c:v>Debt collection</c:v>
                  </c:pt>
                  <c:pt idx="2">
                    <c:v>Mortgage</c:v>
                  </c:pt>
                  <c:pt idx="3">
                    <c:v>Credit card</c:v>
                  </c:pt>
                  <c:pt idx="4">
                    <c:v>Bank account</c:v>
                  </c:pt>
                  <c:pt idx="5">
                    <c:v>Consumer loan</c:v>
                  </c:pt>
                  <c:pt idx="6">
                    <c:v>Money transfer</c:v>
                  </c:pt>
                  <c:pt idx="7">
                    <c:v>Overall</c:v>
                  </c:pt>
                </c:lvl>
              </c:multiLvlStrCache>
            </c:multiLvlStrRef>
          </c:cat>
          <c:val>
            <c:numRef>
              <c:f>Sheet1!$D$2:$D$9</c:f>
              <c:numCache>
                <c:formatCode>General</c:formatCode>
                <c:ptCount val="8"/>
                <c:pt idx="0">
                  <c:v>69.7</c:v>
                </c:pt>
                <c:pt idx="1">
                  <c:v>75</c:v>
                </c:pt>
                <c:pt idx="2">
                  <c:v>83.3</c:v>
                </c:pt>
                <c:pt idx="3">
                  <c:v>100</c:v>
                </c:pt>
                <c:pt idx="4">
                  <c:v>66.7</c:v>
                </c:pt>
                <c:pt idx="5">
                  <c:v>68.8</c:v>
                </c:pt>
                <c:pt idx="6">
                  <c:v>82.1</c:v>
                </c:pt>
                <c:pt idx="7">
                  <c:v>75.6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A70"/>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Group P1-9. Members and student IDs to be filled in. The repository contains the service, docker compose file, golden set, frozen prediction record (STEP4.md, freeze commit 3567f80), all JMeter .jtl files and service logs.</a:t>
            </a:r>
            <a:endParaRP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Prompt: fixed system prompt listing the seven exact category names, JSON output mode, temperature 0, num_ctx 4096 (app/classifier.py). JMeter runs on a separate PC; logs are kept in evidence/step5/logs.</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 R1 Barclays UK complaints Jan–Jun 2026 (94,535 opened); R3 CFPB daily counts (busiest day 1.25× weekly mean); R5 FIDReC +32% claims against banks; R6 Call Centre Helper (40% of an hour's calls in the first 15 min → 1.6× burst, 130/h); R7 Taylor 2012 (busiest half-hour ~2× median, upper bound for the 1.5× hour factor). Estimates: 12-hour arrival window, 1.5× busiest hour, 30 min agent time per complaint, 6 searches per agent-hour, 3× incident surge (243/h).</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statements and justifications in STEP4.md section 4 (frozen at commit 3567f80). Thresholds are the same for all three candidates and were not changed after results.</a:t>
            </a:r>
            <a:endParaRP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weights digests: gemma 7cd4618c1faf8b7233c6c906dac1694b6a47684b37b8895d470ac688520b9c01; qwen 85e4a5b7b8ef0e48af0e8658f5aaab9c2324c76c1641493f4d1e25fce54b18b9; llama 667b0c1932bc6ffc593ed1d03f895bf2dc8dc6df21db3042284a6f4416b06a29. Local IDs match the ollama.com registry IDs.</a:t>
            </a:r>
            <a:endParaRPr/>
          </a:p>
        </p:txBody>
      </p:sp>
      <p:sp>
        <p:nvSpPr>
          <p:cNvPr id="91" name="Google Shape;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Golden distribution: Credit reporting 33, Bank account 30, Money transfer 28, Debt collection 24, Mortgage 18, Consumer loan 16, Credit card 11. Disagreements: labeller won 8, reviewer won 6. kappa from scripts/agreement.py → evidence/step1/agreement.txt. Raw consumer label vs final golden: kappa 0.751. Golden set committed before any model saw it (commit 0013266; freeze 3567f80).</a:t>
            </a:r>
            <a:endParaRPr/>
          </a:p>
        </p:txBody>
      </p:sp>
      <p:sp>
        <p:nvSpPr>
          <p:cNvPr id="111" name="Google Shape;1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Evidence: evidence/step4/service-hardware.txt, load-generator-hardware.txt, jmeter-version.txt, ollama-server-config.txt; evidence/step5/deploy-*.txt (ollama ps shows 100% CPU, context 4096). The Intel Arc iGPU is unused: Ollama runs in a Linux container without GPU passthrough. The 34 ms network overhead was measured over 2,956 successful load-test requests by matching JMeter samples to API log lines.</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Metric definitions (analyse_jtl.py): window = [t0 + warm-up, t0 + warm-up + 20 min) by request start time; p50/p95/p99 = nearest-rank over all samples in the window, failures included; achieved/h = successful requests completing inside the window; error % = JMeter success=false. Each run reuses the same ticket order, so content is controlled and only arrival timing varies between runs.</a:t>
            </a:r>
            <a:endParaRPr/>
          </a:p>
        </p:txBody>
      </p:sp>
      <p:sp>
        <p:nvSpPr>
          <p:cNvPr id="154" name="Google Shape;15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step5/results/levels.csv, runs.csv, summary.md and the stress timeline.csv. Llama headroom per run: p95 18.2 s / 34.7 s / 89.7 s; run 3 had 5 arrivals within ~1.2 min. Reconciliation: 3,640 JMeter samples across 28 runs, every one matched to a service-log line; 73 status mismatches, all JMeter test-end aborts (71 in the stress run, 2 in Llama headroom run 3), where the server log shows the real outcome.</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Confusion matrices: step5/results/&lt;model&gt;/accuracy/summary.md and confusion_matrix.csv. Sequential single-request latency (p50): Gemma 2.4 s, Qwen 7.9 s, Llama 13.2 s. Categories ≥ 70%: Gemma 0/7, Qwen 4/7 (fails Credit reporting 51.5%, Debt collection 62.5%, Bank 66.7%), Llama 4/7 (fails Credit reporting 69.7%, Bank 66.7%, Consumer loan 68.8%).</a:t>
            </a:r>
            <a:endParaRPr/>
          </a:p>
        </p:txBody>
      </p:sp>
      <p:sp>
        <p:nvSpPr>
          <p:cNvPr id="184" name="Google Shape;18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verdict reasoning in step5/RESULTS.md sections 5–7. Predictions frozen in STEP4.md at commit 3567f80. Hardest-category outcome: Gemma Money transfer 0% (as predicted); Qwen's hardest was Credit reporting 51.5% (9 to Credit card, and only 4 of those 9 mention a card, so the cause is not yet diagnosed); Llama's hardest was Bank account 66.7%. Assisted routing: at 68.8% accuracy, about 2 in 3 tickets need only a confirmation; a misroute costs one agent correction.</a:t>
            </a:r>
            <a:endParaRPr/>
          </a:p>
        </p:txBody>
      </p:sp>
      <p:sp>
        <p:nvSpPr>
          <p:cNvPr id="200" name="Google Shape;20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URLs: workload/WORKLOAD.md references section and STEP4.md section 2 (licence links). The Llama 3.1 Community License requires displaying 'Built with Llama'.</a:t>
            </a:r>
            <a:endParaRPr/>
          </a:p>
        </p:txBody>
      </p:sp>
      <p:sp>
        <p:nvSpPr>
          <p:cNvPr id="215" name="Google Shape;21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2343B"/>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2" name="Shape 12"/>
        <p:cNvGrpSpPr/>
        <p:nvPr/>
      </p:nvGrpSpPr>
      <p:grpSpPr>
        <a:xfrm>
          <a:off x="0" y="0"/>
          <a:ext cx="0" cy="0"/>
          <a:chOff x="0" y="0"/>
          <a:chExt cx="0" cy="0"/>
        </a:xfrm>
      </p:grpSpPr>
      <p:sp>
        <p:nvSpPr>
          <p:cNvPr id="13" name="Google Shape;13;p15"/>
          <p:cNvSpPr txBox="1"/>
          <p:nvPr>
            <p:ph type="title"/>
          </p:nvPr>
        </p:nvSpPr>
        <p:spPr>
          <a:xfrm>
            <a:off x="457200" y="228600"/>
            <a:ext cx="8229600" cy="5486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2200"/>
              <a:buFont typeface="Cambria"/>
              <a:buNone/>
              <a:defRPr b="1" i="0" sz="22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5"/>
          <p:cNvSpPr/>
          <p:nvPr/>
        </p:nvSpPr>
        <p:spPr>
          <a:xfrm>
            <a:off x="457200" y="4846320"/>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900"/>
              <a:buFont typeface="Calibri"/>
              <a:buNone/>
            </a:pPr>
            <a:r>
              <a:rPr b="0" i="0" lang="en-US" sz="900" u="none" cap="none" strike="noStrike">
                <a:solidFill>
                  <a:schemeClr val="accent3"/>
                </a:solidFill>
                <a:latin typeface="Calibri"/>
                <a:ea typeface="Calibri"/>
                <a:cs typeface="Calibri"/>
                <a:sym typeface="Calibri"/>
              </a:rPr>
              <a:t>Group P1-9 · ICT3113 Assignment 1</a:t>
            </a:r>
            <a:endParaRPr b="0" i="0" sz="900" u="none" cap="none" strike="noStrike">
              <a:solidFill>
                <a:schemeClr val="dk1"/>
              </a:solidFill>
              <a:latin typeface="Calibri"/>
              <a:ea typeface="Calibri"/>
              <a:cs typeface="Calibri"/>
              <a:sym typeface="Calibri"/>
            </a:endParaRPr>
          </a:p>
        </p:txBody>
      </p:sp>
      <p:sp>
        <p:nvSpPr>
          <p:cNvPr id="15" name="Google Shape;15;p15"/>
          <p:cNvSpPr txBox="1"/>
          <p:nvPr>
            <p:ph idx="12"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8E9AA3"/>
                </a:solidFill>
                <a:latin typeface="Calibri"/>
                <a:ea typeface="Calibri"/>
                <a:cs typeface="Calibri"/>
                <a:sym typeface="Calibri"/>
              </a:defRPr>
            </a:lvl1pPr>
            <a:lvl2pPr indent="0" lvl="1" marL="0" marR="0" algn="r">
              <a:spcBef>
                <a:spcPts val="0"/>
              </a:spcBef>
              <a:buNone/>
              <a:defRPr b="0" i="0" sz="900" u="none" cap="none" strike="noStrike">
                <a:solidFill>
                  <a:srgbClr val="8E9AA3"/>
                </a:solidFill>
                <a:latin typeface="Calibri"/>
                <a:ea typeface="Calibri"/>
                <a:cs typeface="Calibri"/>
                <a:sym typeface="Calibri"/>
              </a:defRPr>
            </a:lvl2pPr>
            <a:lvl3pPr indent="0" lvl="2" marL="0" marR="0" algn="r">
              <a:spcBef>
                <a:spcPts val="0"/>
              </a:spcBef>
              <a:buNone/>
              <a:defRPr b="0" i="0" sz="900" u="none" cap="none" strike="noStrike">
                <a:solidFill>
                  <a:srgbClr val="8E9AA3"/>
                </a:solidFill>
                <a:latin typeface="Calibri"/>
                <a:ea typeface="Calibri"/>
                <a:cs typeface="Calibri"/>
                <a:sym typeface="Calibri"/>
              </a:defRPr>
            </a:lvl3pPr>
            <a:lvl4pPr indent="0" lvl="3" marL="0" marR="0" algn="r">
              <a:spcBef>
                <a:spcPts val="0"/>
              </a:spcBef>
              <a:buNone/>
              <a:defRPr b="0" i="0" sz="900" u="none" cap="none" strike="noStrike">
                <a:solidFill>
                  <a:srgbClr val="8E9AA3"/>
                </a:solidFill>
                <a:latin typeface="Calibri"/>
                <a:ea typeface="Calibri"/>
                <a:cs typeface="Calibri"/>
                <a:sym typeface="Calibri"/>
              </a:defRPr>
            </a:lvl4pPr>
            <a:lvl5pPr indent="0" lvl="4" marL="0" marR="0" algn="r">
              <a:spcBef>
                <a:spcPts val="0"/>
              </a:spcBef>
              <a:buNone/>
              <a:defRPr b="0" i="0" sz="900" u="none" cap="none" strike="noStrike">
                <a:solidFill>
                  <a:srgbClr val="8E9AA3"/>
                </a:solidFill>
                <a:latin typeface="Calibri"/>
                <a:ea typeface="Calibri"/>
                <a:cs typeface="Calibri"/>
                <a:sym typeface="Calibri"/>
              </a:defRPr>
            </a:lvl5pPr>
            <a:lvl6pPr indent="0" lvl="5" marL="0" marR="0" algn="r">
              <a:spcBef>
                <a:spcPts val="0"/>
              </a:spcBef>
              <a:buNone/>
              <a:defRPr b="0" i="0" sz="900" u="none" cap="none" strike="noStrike">
                <a:solidFill>
                  <a:srgbClr val="8E9AA3"/>
                </a:solidFill>
                <a:latin typeface="Calibri"/>
                <a:ea typeface="Calibri"/>
                <a:cs typeface="Calibri"/>
                <a:sym typeface="Calibri"/>
              </a:defRPr>
            </a:lvl6pPr>
            <a:lvl7pPr indent="0" lvl="6" marL="0" marR="0" algn="r">
              <a:spcBef>
                <a:spcPts val="0"/>
              </a:spcBef>
              <a:buNone/>
              <a:defRPr b="0" i="0" sz="900" u="none" cap="none" strike="noStrike">
                <a:solidFill>
                  <a:srgbClr val="8E9AA3"/>
                </a:solidFill>
                <a:latin typeface="Calibri"/>
                <a:ea typeface="Calibri"/>
                <a:cs typeface="Calibri"/>
                <a:sym typeface="Calibri"/>
              </a:defRPr>
            </a:lvl7pPr>
            <a:lvl8pPr indent="0" lvl="7" marL="0" marR="0" algn="r">
              <a:spcBef>
                <a:spcPts val="0"/>
              </a:spcBef>
              <a:buNone/>
              <a:defRPr b="0" i="0" sz="900" u="none" cap="none" strike="noStrike">
                <a:solidFill>
                  <a:srgbClr val="8E9AA3"/>
                </a:solidFill>
                <a:latin typeface="Calibri"/>
                <a:ea typeface="Calibri"/>
                <a:cs typeface="Calibri"/>
                <a:sym typeface="Calibri"/>
              </a:defRPr>
            </a:lvl8pPr>
            <a:lvl9pPr indent="0" lvl="8" marL="0" marR="0" algn="r">
              <a:spcBef>
                <a:spcPts val="0"/>
              </a:spcBef>
              <a:buNone/>
              <a:defRPr b="0" i="0" sz="900" u="none" cap="none" strike="noStrike">
                <a:solidFill>
                  <a:srgbClr val="8E9AA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3"/>
          <p:cNvSpPr txBox="1"/>
          <p:nvPr>
            <p:ph idx="12"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8E9AA3"/>
                </a:solidFill>
                <a:latin typeface="Calibri"/>
                <a:ea typeface="Calibri"/>
                <a:cs typeface="Calibri"/>
                <a:sym typeface="Calibri"/>
              </a:defRPr>
            </a:lvl1pPr>
            <a:lvl2pPr indent="0" lvl="1" marL="0" marR="0" rtl="0" algn="r">
              <a:spcBef>
                <a:spcPts val="0"/>
              </a:spcBef>
              <a:buNone/>
              <a:defRPr b="0" i="0" sz="900" u="none" cap="none" strike="noStrike">
                <a:solidFill>
                  <a:srgbClr val="8E9AA3"/>
                </a:solidFill>
                <a:latin typeface="Calibri"/>
                <a:ea typeface="Calibri"/>
                <a:cs typeface="Calibri"/>
                <a:sym typeface="Calibri"/>
              </a:defRPr>
            </a:lvl2pPr>
            <a:lvl3pPr indent="0" lvl="2" marL="0" marR="0" rtl="0" algn="r">
              <a:spcBef>
                <a:spcPts val="0"/>
              </a:spcBef>
              <a:buNone/>
              <a:defRPr b="0" i="0" sz="900" u="none" cap="none" strike="noStrike">
                <a:solidFill>
                  <a:srgbClr val="8E9AA3"/>
                </a:solidFill>
                <a:latin typeface="Calibri"/>
                <a:ea typeface="Calibri"/>
                <a:cs typeface="Calibri"/>
                <a:sym typeface="Calibri"/>
              </a:defRPr>
            </a:lvl3pPr>
            <a:lvl4pPr indent="0" lvl="3" marL="0" marR="0" rtl="0" algn="r">
              <a:spcBef>
                <a:spcPts val="0"/>
              </a:spcBef>
              <a:buNone/>
              <a:defRPr b="0" i="0" sz="900" u="none" cap="none" strike="noStrike">
                <a:solidFill>
                  <a:srgbClr val="8E9AA3"/>
                </a:solidFill>
                <a:latin typeface="Calibri"/>
                <a:ea typeface="Calibri"/>
                <a:cs typeface="Calibri"/>
                <a:sym typeface="Calibri"/>
              </a:defRPr>
            </a:lvl4pPr>
            <a:lvl5pPr indent="0" lvl="4" marL="0" marR="0" rtl="0" algn="r">
              <a:spcBef>
                <a:spcPts val="0"/>
              </a:spcBef>
              <a:buNone/>
              <a:defRPr b="0" i="0" sz="900" u="none" cap="none" strike="noStrike">
                <a:solidFill>
                  <a:srgbClr val="8E9AA3"/>
                </a:solidFill>
                <a:latin typeface="Calibri"/>
                <a:ea typeface="Calibri"/>
                <a:cs typeface="Calibri"/>
                <a:sym typeface="Calibri"/>
              </a:defRPr>
            </a:lvl5pPr>
            <a:lvl6pPr indent="0" lvl="5" marL="0" marR="0" rtl="0" algn="r">
              <a:spcBef>
                <a:spcPts val="0"/>
              </a:spcBef>
              <a:buNone/>
              <a:defRPr b="0" i="0" sz="900" u="none" cap="none" strike="noStrike">
                <a:solidFill>
                  <a:srgbClr val="8E9AA3"/>
                </a:solidFill>
                <a:latin typeface="Calibri"/>
                <a:ea typeface="Calibri"/>
                <a:cs typeface="Calibri"/>
                <a:sym typeface="Calibri"/>
              </a:defRPr>
            </a:lvl6pPr>
            <a:lvl7pPr indent="0" lvl="6" marL="0" marR="0" rtl="0" algn="r">
              <a:spcBef>
                <a:spcPts val="0"/>
              </a:spcBef>
              <a:buNone/>
              <a:defRPr b="0" i="0" sz="900" u="none" cap="none" strike="noStrike">
                <a:solidFill>
                  <a:srgbClr val="8E9AA3"/>
                </a:solidFill>
                <a:latin typeface="Calibri"/>
                <a:ea typeface="Calibri"/>
                <a:cs typeface="Calibri"/>
                <a:sym typeface="Calibri"/>
              </a:defRPr>
            </a:lvl7pPr>
            <a:lvl8pPr indent="0" lvl="7" marL="0" marR="0" rtl="0" algn="r">
              <a:spcBef>
                <a:spcPts val="0"/>
              </a:spcBef>
              <a:buNone/>
              <a:defRPr b="0" i="0" sz="900" u="none" cap="none" strike="noStrike">
                <a:solidFill>
                  <a:srgbClr val="8E9AA3"/>
                </a:solidFill>
                <a:latin typeface="Calibri"/>
                <a:ea typeface="Calibri"/>
                <a:cs typeface="Calibri"/>
                <a:sym typeface="Calibri"/>
              </a:defRPr>
            </a:lvl8pPr>
            <a:lvl9pPr indent="0" lvl="8" marL="0" marR="0" rtl="0" algn="r">
              <a:spcBef>
                <a:spcPts val="0"/>
              </a:spcBef>
              <a:buNone/>
              <a:defRPr b="0" i="0" sz="900" u="none" cap="none" strike="noStrike">
                <a:solidFill>
                  <a:srgbClr val="8E9AA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anarchygene/ICT3113_Assignment_1" TargetMode="External"/><Relationship Id="rId4" Type="http://schemas.openxmlformats.org/officeDocument/2006/relationships/hyperlink" Target="https://github.com/anarchygene/ICT3113_Assignment_1" TargetMode="External"/><Relationship Id="rId5" Type="http://schemas.openxmlformats.org/officeDocument/2006/relationships/hyperlink" Target="https://drive.google.com/drive/folders/10I7v22nkXLYZGCKVxepytw7TX5KMS4pF?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ollama.com/library/gemma3:1b-it-q4_K_M" TargetMode="External"/><Relationship Id="rId4" Type="http://schemas.openxmlformats.org/officeDocument/2006/relationships/hyperlink" Target="https://ollama.com/library/qwen3:4b-instruct-2507-q4_K_M" TargetMode="External"/><Relationship Id="rId5" Type="http://schemas.openxmlformats.org/officeDocument/2006/relationships/hyperlink" Target="https://ollama.com/library/llama3.1:8b-instruct-q4_K_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1"/>
          <p:cNvSpPr txBox="1"/>
          <p:nvPr/>
        </p:nvSpPr>
        <p:spPr>
          <a:xfrm>
            <a:off x="548640" y="502920"/>
            <a:ext cx="8046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3E0"/>
              </a:buClr>
              <a:buSzPts val="1200"/>
              <a:buFont typeface="Calibri"/>
              <a:buNone/>
            </a:pPr>
            <a:r>
              <a:rPr b="0" i="0" lang="en-US" sz="1200" u="none" cap="none" strike="noStrike">
                <a:solidFill>
                  <a:srgbClr val="CFE3E0"/>
                </a:solidFill>
                <a:latin typeface="Calibri"/>
                <a:ea typeface="Calibri"/>
                <a:cs typeface="Calibri"/>
                <a:sym typeface="Calibri"/>
              </a:rPr>
              <a:t>ICT3113 Assignment 1 · Performance Requirements &amp; Testing</a:t>
            </a:r>
            <a:endParaRPr b="0" i="0" sz="1200" u="none" cap="none" strike="noStrike">
              <a:solidFill>
                <a:schemeClr val="dk1"/>
              </a:solidFill>
              <a:latin typeface="Calibri"/>
              <a:ea typeface="Calibri"/>
              <a:cs typeface="Calibri"/>
              <a:sym typeface="Calibri"/>
            </a:endParaRPr>
          </a:p>
        </p:txBody>
      </p:sp>
      <p:sp>
        <p:nvSpPr>
          <p:cNvPr id="23" name="Google Shape;23;p1"/>
          <p:cNvSpPr txBox="1"/>
          <p:nvPr/>
        </p:nvSpPr>
        <p:spPr>
          <a:xfrm>
            <a:off x="548640" y="868680"/>
            <a:ext cx="8046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Complaint Triage on CPU-Only Hardware</a:t>
            </a:r>
            <a:endParaRPr b="0" i="0" sz="3000" u="none" cap="none" strike="noStrike">
              <a:solidFill>
                <a:schemeClr val="dk1"/>
              </a:solidFill>
              <a:latin typeface="Calibri"/>
              <a:ea typeface="Calibri"/>
              <a:cs typeface="Calibri"/>
              <a:sym typeface="Calibri"/>
            </a:endParaRPr>
          </a:p>
        </p:txBody>
      </p:sp>
      <p:sp>
        <p:nvSpPr>
          <p:cNvPr id="24" name="Google Shape;24;p1"/>
          <p:cNvSpPr txBox="1"/>
          <p:nvPr/>
        </p:nvSpPr>
        <p:spPr>
          <a:xfrm>
            <a:off x="548640" y="1572768"/>
            <a:ext cx="8046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3E0"/>
              </a:buClr>
              <a:buSzPts val="1600"/>
              <a:buFont typeface="Calibri"/>
              <a:buNone/>
            </a:pPr>
            <a:r>
              <a:rPr b="0" i="1" lang="en-US" sz="1600" u="none" cap="none" strike="noStrike">
                <a:solidFill>
                  <a:srgbClr val="CFE3E0"/>
                </a:solidFill>
                <a:latin typeface="Calibri"/>
                <a:ea typeface="Calibri"/>
                <a:cs typeface="Calibri"/>
                <a:sym typeface="Calibri"/>
              </a:rPr>
              <a:t>Which local model to deploy, and what service quality can be promised</a:t>
            </a:r>
            <a:endParaRPr b="0" i="0" sz="1600" u="none" cap="none" strike="noStrike">
              <a:solidFill>
                <a:schemeClr val="dk1"/>
              </a:solidFill>
              <a:latin typeface="Calibri"/>
              <a:ea typeface="Calibri"/>
              <a:cs typeface="Calibri"/>
              <a:sym typeface="Calibri"/>
            </a:endParaRPr>
          </a:p>
        </p:txBody>
      </p:sp>
      <p:sp>
        <p:nvSpPr>
          <p:cNvPr id="25" name="Google Shape;25;p1"/>
          <p:cNvSpPr txBox="1"/>
          <p:nvPr/>
        </p:nvSpPr>
        <p:spPr>
          <a:xfrm>
            <a:off x="548640" y="228600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C14E"/>
              </a:buClr>
              <a:buSzPts val="2000"/>
              <a:buFont typeface="Cambria"/>
              <a:buNone/>
            </a:pPr>
            <a:r>
              <a:rPr b="1" i="0" lang="en-US" sz="2000" u="none" cap="none" strike="noStrike">
                <a:solidFill>
                  <a:srgbClr val="F2C14E"/>
                </a:solidFill>
                <a:latin typeface="Cambria"/>
                <a:ea typeface="Cambria"/>
                <a:cs typeface="Cambria"/>
                <a:sym typeface="Cambria"/>
              </a:rPr>
              <a:t>Group P1-9</a:t>
            </a:r>
            <a:endParaRPr b="0" i="0" sz="2000" u="none" cap="none" strike="noStrike">
              <a:solidFill>
                <a:schemeClr val="dk1"/>
              </a:solidFill>
              <a:latin typeface="Calibri"/>
              <a:ea typeface="Calibri"/>
              <a:cs typeface="Calibri"/>
              <a:sym typeface="Calibri"/>
            </a:endParaRPr>
          </a:p>
        </p:txBody>
      </p:sp>
      <p:sp>
        <p:nvSpPr>
          <p:cNvPr id="26" name="Google Shape;26;p1"/>
          <p:cNvSpPr txBox="1"/>
          <p:nvPr/>
        </p:nvSpPr>
        <p:spPr>
          <a:xfrm>
            <a:off x="548640" y="2697480"/>
            <a:ext cx="4754880" cy="1463040"/>
          </a:xfrm>
          <a:prstGeom prst="rect">
            <a:avLst/>
          </a:prstGeom>
          <a:noFill/>
          <a:ln>
            <a:noFill/>
          </a:ln>
        </p:spPr>
        <p:txBody>
          <a:bodyPr anchorCtr="0" anchor="t" bIns="0" lIns="0" spcFirstLastPara="1" rIns="0" wrap="square" tIns="0">
            <a:noAutofit/>
          </a:bodyPr>
          <a:lstStyle/>
          <a:p>
            <a:pPr indent="0" lvl="0" marL="0" marR="0" rtl="0" algn="l">
              <a:spcBef>
                <a:spcPts val="40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Chew E Jae Justin</a:t>
            </a:r>
            <a:r>
              <a:rPr b="0" i="0" lang="en-US" sz="1300" u="none" cap="none" strike="noStrike">
                <a:solidFill>
                  <a:srgbClr val="FFFFFF"/>
                </a:solidFill>
                <a:latin typeface="Calibri"/>
                <a:ea typeface="Calibri"/>
                <a:cs typeface="Calibri"/>
                <a:sym typeface="Calibri"/>
              </a:rPr>
              <a:t> [</a:t>
            </a:r>
            <a:r>
              <a:rPr lang="en-US" sz="1300">
                <a:solidFill>
                  <a:srgbClr val="FFFFFF"/>
                </a:solidFill>
                <a:latin typeface="Calibri"/>
                <a:ea typeface="Calibri"/>
                <a:cs typeface="Calibri"/>
                <a:sym typeface="Calibri"/>
              </a:rPr>
              <a:t>2400851</a:t>
            </a:r>
            <a:r>
              <a:rPr b="0"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Eugene Kee Zong Lin [2402575</a:t>
            </a:r>
            <a:r>
              <a:rPr b="0" i="0" lang="en-US" sz="1300" u="none" cap="none" strike="noStrike">
                <a:solidFill>
                  <a:srgbClr val="FFFFFF"/>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400"/>
              </a:spcBef>
              <a:spcAft>
                <a:spcPts val="0"/>
              </a:spcAft>
              <a:buClr>
                <a:srgbClr val="FFFFFF"/>
              </a:buClr>
              <a:buSzPts val="1300"/>
              <a:buFont typeface="Calibri"/>
              <a:buNone/>
            </a:pPr>
            <a:r>
              <a:rPr lang="en-US" sz="1300">
                <a:solidFill>
                  <a:schemeClr val="lt1"/>
                </a:solidFill>
                <a:latin typeface="Calibri"/>
                <a:ea typeface="Calibri"/>
                <a:cs typeface="Calibri"/>
                <a:sym typeface="Calibri"/>
              </a:rPr>
              <a:t>Tan Ye Kai [2403052]</a:t>
            </a:r>
            <a:endParaRPr sz="1300">
              <a:solidFill>
                <a:schemeClr val="dk1"/>
              </a:solidFill>
              <a:latin typeface="Calibri"/>
              <a:ea typeface="Calibri"/>
              <a:cs typeface="Calibri"/>
              <a:sym typeface="Calibri"/>
            </a:endParaRPr>
          </a:p>
          <a:p>
            <a:pPr indent="0" lvl="0" marL="0" rtl="0" algn="l">
              <a:spcBef>
                <a:spcPts val="400"/>
              </a:spcBef>
              <a:spcAft>
                <a:spcPts val="0"/>
              </a:spcAft>
              <a:buClr>
                <a:schemeClr val="lt1"/>
              </a:buClr>
              <a:buSzPts val="1300"/>
              <a:buFont typeface="Calibri"/>
              <a:buNone/>
            </a:pPr>
            <a:r>
              <a:rPr lang="en-US" sz="1300">
                <a:solidFill>
                  <a:schemeClr val="lt1"/>
                </a:solidFill>
                <a:latin typeface="Calibri"/>
                <a:ea typeface="Calibri"/>
                <a:cs typeface="Calibri"/>
                <a:sym typeface="Calibri"/>
              </a:rPr>
              <a:t>Tok You Xiong [2401871]</a:t>
            </a:r>
            <a:endParaRPr sz="1300">
              <a:solidFill>
                <a:srgbClr val="FFFFFF"/>
              </a:solidFill>
              <a:latin typeface="Calibri"/>
              <a:ea typeface="Calibri"/>
              <a:cs typeface="Calibri"/>
              <a:sym typeface="Calibri"/>
            </a:endParaRPr>
          </a:p>
          <a:p>
            <a:pPr indent="0" lvl="0" marL="0" marR="0" rtl="0" algn="l">
              <a:spcBef>
                <a:spcPts val="40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Yap Hong Xiang, Alfred [2401438]</a:t>
            </a:r>
            <a:endParaRPr b="0" i="0" sz="1300" u="none" cap="none" strike="noStrike">
              <a:solidFill>
                <a:schemeClr val="dk1"/>
              </a:solidFill>
              <a:latin typeface="Calibri"/>
              <a:ea typeface="Calibri"/>
              <a:cs typeface="Calibri"/>
              <a:sym typeface="Calibri"/>
            </a:endParaRPr>
          </a:p>
        </p:txBody>
      </p:sp>
      <p:sp>
        <p:nvSpPr>
          <p:cNvPr id="27" name="Google Shape;27;p1"/>
          <p:cNvSpPr txBox="1"/>
          <p:nvPr/>
        </p:nvSpPr>
        <p:spPr>
          <a:xfrm>
            <a:off x="548650" y="4343400"/>
            <a:ext cx="8046600" cy="50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3E0"/>
              </a:buClr>
              <a:buSzPts val="1200"/>
              <a:buFont typeface="Calibri"/>
              <a:buNone/>
            </a:pPr>
            <a:r>
              <a:rPr b="0" i="0" lang="en-US" sz="1200" u="none" cap="none" strike="noStrike">
                <a:solidFill>
                  <a:srgbClr val="CFE3E0"/>
                </a:solidFill>
                <a:latin typeface="Calibri"/>
                <a:ea typeface="Calibri"/>
                <a:cs typeface="Calibri"/>
                <a:sym typeface="Calibri"/>
              </a:rPr>
              <a:t>Repository: </a:t>
            </a:r>
            <a:r>
              <a:rPr b="0" i="0" lang="en-US" sz="1200" u="sng" cap="none" strike="noStrike">
                <a:solidFill>
                  <a:srgbClr val="FFFFFF"/>
                </a:solidFill>
                <a:latin typeface="Calibri"/>
                <a:ea typeface="Calibri"/>
                <a:cs typeface="Calibri"/>
                <a:sym typeface="Calibri"/>
                <a:hlinkClick r:id="rId3">
                  <a:extLst>
                    <a:ext uri="{A12FA001-AC4F-418D-AE19-62706E023703}">
                      <ahyp:hlinkClr val="tx"/>
                    </a:ext>
                  </a:extLst>
                </a:hlinkClick>
              </a:rPr>
              <a:t>github.com/anarchygene/ICT3113_Assignment_</a:t>
            </a:r>
            <a:r>
              <a:rPr b="0" i="0" lang="en-US" sz="1200" u="sng" cap="none" strike="noStrike">
                <a:solidFill>
                  <a:srgbClr val="FFFFFF"/>
                </a:solidFill>
                <a:latin typeface="Calibri"/>
                <a:ea typeface="Calibri"/>
                <a:cs typeface="Calibri"/>
                <a:sym typeface="Calibri"/>
                <a:hlinkClick r:id="rId4">
                  <a:extLst>
                    <a:ext uri="{A12FA001-AC4F-418D-AE19-62706E023703}">
                      <ahyp:hlinkClr val="tx"/>
                    </a:ext>
                  </a:extLst>
                </a:hlinkClick>
              </a:rPr>
              <a:t>1</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CFE3E0"/>
              </a:buClr>
              <a:buSzPts val="1200"/>
              <a:buFont typeface="Calibri"/>
              <a:buNone/>
            </a:pPr>
            <a:r>
              <a:rPr lang="en-US" sz="1200">
                <a:solidFill>
                  <a:srgbClr val="CFE3E0"/>
                </a:solidFill>
                <a:latin typeface="Calibri"/>
                <a:ea typeface="Calibri"/>
                <a:cs typeface="Calibri"/>
                <a:sym typeface="Calibri"/>
              </a:rPr>
              <a:t>Supporting Documents</a:t>
            </a:r>
            <a:r>
              <a:rPr lang="en-US" sz="1200">
                <a:solidFill>
                  <a:schemeClr val="lt1"/>
                </a:solidFill>
                <a:latin typeface="Calibri"/>
                <a:ea typeface="Calibri"/>
                <a:cs typeface="Calibri"/>
                <a:sym typeface="Calibri"/>
              </a:rPr>
              <a:t>: </a:t>
            </a:r>
            <a:r>
              <a:rPr lang="en-US" sz="1200" u="sng">
                <a:solidFill>
                  <a:schemeClr val="lt1"/>
                </a:solidFill>
                <a:latin typeface="Calibri"/>
                <a:ea typeface="Calibri"/>
                <a:cs typeface="Calibri"/>
                <a:sym typeface="Calibri"/>
                <a:hlinkClick r:id="rId5">
                  <a:extLst>
                    <a:ext uri="{A12FA001-AC4F-418D-AE19-62706E023703}">
                      <ahyp:hlinkClr val="tx"/>
                    </a:ext>
                  </a:extLst>
                </a:hlinkClick>
              </a:rPr>
              <a:t>https://drive.google.com/drive/folders/10I7v22nkXLYZGCKVxepytw7TX5KMS4pF?usp=sharing</a:t>
            </a:r>
            <a:endParaRPr sz="1200">
              <a:solidFill>
                <a:schemeClr val="lt1"/>
              </a:solidFill>
              <a:latin typeface="Calibri"/>
              <a:ea typeface="Calibri"/>
              <a:cs typeface="Calibri"/>
              <a:sym typeface="Calibri"/>
            </a:endParaRPr>
          </a:p>
        </p:txBody>
      </p:sp>
      <p:sp>
        <p:nvSpPr>
          <p:cNvPr id="28" name="Google Shape;28;p1"/>
          <p:cNvSpPr/>
          <p:nvPr/>
        </p:nvSpPr>
        <p:spPr>
          <a:xfrm>
            <a:off x="5760720" y="2286000"/>
            <a:ext cx="2834640" cy="1783080"/>
          </a:xfrm>
          <a:prstGeom prst="roundRect">
            <a:avLst>
              <a:gd fmla="val 4103" name="adj"/>
            </a:avLst>
          </a:prstGeom>
          <a:solidFill>
            <a:srgbClr val="1D4A52"/>
          </a:solidFill>
          <a:ln cap="flat" cmpd="sng" w="12700">
            <a:solidFill>
              <a:srgbClr val="1D4A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txBox="1"/>
          <p:nvPr/>
        </p:nvSpPr>
        <p:spPr>
          <a:xfrm>
            <a:off x="5943600" y="2423160"/>
            <a:ext cx="256032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C14E"/>
              </a:buClr>
              <a:buSzPts val="1100"/>
              <a:buFont typeface="Courier New"/>
              <a:buNone/>
            </a:pPr>
            <a:r>
              <a:rPr b="1" i="0" lang="en-US" sz="1100" u="none" cap="none" strike="noStrike">
                <a:solidFill>
                  <a:srgbClr val="F2C14E"/>
                </a:solidFill>
                <a:latin typeface="Courier New"/>
                <a:ea typeface="Courier New"/>
                <a:cs typeface="Courier New"/>
                <a:sym typeface="Courier New"/>
              </a:rPr>
              <a:t>Rebuild &amp; run</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100"/>
              <a:buFont typeface="Courier New"/>
              <a:buNone/>
            </a:pPr>
            <a:r>
              <a:rPr b="0" i="0" lang="en-US" sz="1100" u="none" cap="none" strike="noStrike">
                <a:solidFill>
                  <a:srgbClr val="FFFFFF"/>
                </a:solidFill>
                <a:latin typeface="Courier New"/>
                <a:ea typeface="Courier New"/>
                <a:cs typeface="Courier New"/>
                <a:sym typeface="Courier New"/>
              </a:rPr>
              <a:t>cp .env.example .env</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100"/>
              <a:buFont typeface="Courier New"/>
              <a:buNone/>
            </a:pPr>
            <a:r>
              <a:rPr b="0" i="0" lang="en-US" sz="1100" u="none" cap="none" strike="noStrike">
                <a:solidFill>
                  <a:srgbClr val="FFFFFF"/>
                </a:solidFill>
                <a:latin typeface="Courier New"/>
                <a:ea typeface="Courier New"/>
                <a:cs typeface="Courier New"/>
                <a:sym typeface="Courier New"/>
              </a:rPr>
              <a:t>docker compose up -d --build</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100"/>
              <a:buFont typeface="Courier New"/>
              <a:buNone/>
            </a:pPr>
            <a:r>
              <a:rPr b="0" i="0" lang="en-US" sz="1100" u="none" cap="none" strike="noStrike">
                <a:solidFill>
                  <a:srgbClr val="FFFFFF"/>
                </a:solidFill>
                <a:latin typeface="Courier New"/>
                <a:ea typeface="Courier New"/>
                <a:cs typeface="Courier New"/>
                <a:sym typeface="Courier New"/>
              </a:rPr>
              <a:t>Step 5 playbook: step5/README.md</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FFFFF"/>
              </a:buClr>
              <a:buSzPts val="1100"/>
              <a:buFont typeface="Courier New"/>
              <a:buNone/>
            </a:pPr>
            <a:r>
              <a:rPr b="0" i="0" lang="en-US" sz="1100" u="none" cap="none" strike="noStrike">
                <a:solidFill>
                  <a:srgbClr val="FFFFFF"/>
                </a:solidFill>
                <a:latin typeface="Courier New"/>
                <a:ea typeface="Courier New"/>
                <a:cs typeface="Courier New"/>
                <a:sym typeface="Courier New"/>
              </a:rPr>
              <a:t>Results: step5/RESULTS.md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2"/>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Architecture: one synchronous model call per ticket</a:t>
            </a:r>
            <a:endParaRPr sz="2200"/>
          </a:p>
        </p:txBody>
      </p:sp>
      <p:sp>
        <p:nvSpPr>
          <p:cNvPr id="36" name="Google Shape;36;p2"/>
          <p:cNvSpPr/>
          <p:nvPr/>
        </p:nvSpPr>
        <p:spPr>
          <a:xfrm>
            <a:off x="457200" y="1051560"/>
            <a:ext cx="1600200" cy="1188720"/>
          </a:xfrm>
          <a:prstGeom prst="roundRect">
            <a:avLst>
              <a:gd fmla="val 6154" name="adj"/>
            </a:avLst>
          </a:prstGeom>
          <a:solidFill>
            <a:srgbClr val="FBEBDD"/>
          </a:solidFill>
          <a:ln cap="flat" cmpd="sng" w="12700">
            <a:solidFill>
              <a:srgbClr val="FB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txBox="1"/>
          <p:nvPr/>
        </p:nvSpPr>
        <p:spPr>
          <a:xfrm>
            <a:off x="566928" y="1143000"/>
            <a:ext cx="14173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Load-generator PC</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Apache JMeter 5.6.3, open-loop Open Model Thread Groups</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2514600" y="868680"/>
            <a:ext cx="3154680" cy="3611880"/>
          </a:xfrm>
          <a:prstGeom prst="roundRect">
            <a:avLst>
              <a:gd fmla="val 2319" name="adj"/>
            </a:avLst>
          </a:prstGeom>
          <a:solidFill>
            <a:srgbClr val="F6F9F9"/>
          </a:solidFill>
          <a:ln cap="flat" cmpd="sng" w="12700">
            <a:solidFill>
              <a:srgbClr val="8E9AA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txBox="1"/>
          <p:nvPr/>
        </p:nvSpPr>
        <p:spPr>
          <a:xfrm>
            <a:off x="2651760" y="932688"/>
            <a:ext cx="29260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1" i="0" lang="en-US" sz="1000" u="none" cap="none" strike="noStrike">
                <a:solidFill>
                  <a:schemeClr val="accent5"/>
                </a:solidFill>
                <a:latin typeface="Calibri"/>
                <a:ea typeface="Calibri"/>
                <a:cs typeface="Calibri"/>
                <a:sym typeface="Calibri"/>
              </a:rPr>
              <a:t>Service PC · Docker Compose</a:t>
            </a:r>
            <a:endParaRPr b="0" i="0" sz="1000" u="none" cap="none" strike="noStrike">
              <a:solidFill>
                <a:schemeClr val="dk1"/>
              </a:solidFill>
              <a:latin typeface="Calibri"/>
              <a:ea typeface="Calibri"/>
              <a:cs typeface="Calibri"/>
              <a:sym typeface="Calibri"/>
            </a:endParaRPr>
          </a:p>
        </p:txBody>
      </p:sp>
      <p:sp>
        <p:nvSpPr>
          <p:cNvPr id="40" name="Google Shape;40;p2"/>
          <p:cNvSpPr/>
          <p:nvPr/>
        </p:nvSpPr>
        <p:spPr>
          <a:xfrm>
            <a:off x="2743200" y="1234440"/>
            <a:ext cx="2697480" cy="868680"/>
          </a:xfrm>
          <a:prstGeom prst="roundRect">
            <a:avLst>
              <a:gd fmla="val 8421"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txBox="1"/>
          <p:nvPr/>
        </p:nvSpPr>
        <p:spPr>
          <a:xfrm>
            <a:off x="2852928" y="1307592"/>
            <a:ext cx="251460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Triage service (FastAPI)</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Validates, calls Ollama, stores, logs every request (id, path, status, duration)</a:t>
            </a:r>
            <a:endParaRPr b="0" i="0" sz="1100" u="none" cap="none" strike="noStrike">
              <a:solidFill>
                <a:schemeClr val="dk1"/>
              </a:solidFill>
              <a:latin typeface="Calibri"/>
              <a:ea typeface="Calibri"/>
              <a:cs typeface="Calibri"/>
              <a:sym typeface="Calibri"/>
            </a:endParaRPr>
          </a:p>
        </p:txBody>
      </p:sp>
      <p:sp>
        <p:nvSpPr>
          <p:cNvPr id="42" name="Google Shape;42;p2"/>
          <p:cNvSpPr/>
          <p:nvPr/>
        </p:nvSpPr>
        <p:spPr>
          <a:xfrm>
            <a:off x="2743200" y="2331720"/>
            <a:ext cx="2697480" cy="868680"/>
          </a:xfrm>
          <a:prstGeom prst="roundRect">
            <a:avLst>
              <a:gd fmla="val 8421" name="adj"/>
            </a:avLst>
          </a:prstGeom>
          <a:solidFill>
            <a:srgbClr val="FBEBDD"/>
          </a:solidFill>
          <a:ln cap="flat" cmpd="sng" w="12700">
            <a:solidFill>
              <a:srgbClr val="FB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txBox="1"/>
          <p:nvPr/>
        </p:nvSpPr>
        <p:spPr>
          <a:xfrm>
            <a:off x="2852928" y="2404872"/>
            <a:ext cx="251460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Ollama 0.12.3 · CPU only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One model loaded</a:t>
            </a:r>
            <a:br>
              <a:rPr lang="en-US" sz="1100">
                <a:solidFill>
                  <a:schemeClr val="dk1"/>
                </a:solidFill>
                <a:latin typeface="Calibri"/>
                <a:ea typeface="Calibri"/>
                <a:cs typeface="Calibri"/>
                <a:sym typeface="Calibri"/>
              </a:rPr>
            </a:br>
            <a:r>
              <a:rPr b="0" i="0" lang="en-US" sz="1100" u="none" cap="none" strike="noStrike">
                <a:solidFill>
                  <a:schemeClr val="dk1"/>
                </a:solidFill>
                <a:latin typeface="Calibri"/>
                <a:ea typeface="Calibri"/>
                <a:cs typeface="Calibri"/>
                <a:sym typeface="Calibri"/>
              </a:rPr>
              <a:t> NUM_PARALLEL = 1, so tickets are classified one at a time</a:t>
            </a:r>
            <a:endParaRPr b="0" i="0" sz="1100" u="none" cap="none" strike="noStrike">
              <a:solidFill>
                <a:schemeClr val="dk1"/>
              </a:solidFill>
              <a:latin typeface="Calibri"/>
              <a:ea typeface="Calibri"/>
              <a:cs typeface="Calibri"/>
              <a:sym typeface="Calibri"/>
            </a:endParaRPr>
          </a:p>
        </p:txBody>
      </p:sp>
      <p:sp>
        <p:nvSpPr>
          <p:cNvPr id="44" name="Google Shape;44;p2"/>
          <p:cNvSpPr/>
          <p:nvPr/>
        </p:nvSpPr>
        <p:spPr>
          <a:xfrm>
            <a:off x="2743200" y="3429000"/>
            <a:ext cx="2697480" cy="868680"/>
          </a:xfrm>
          <a:prstGeom prst="roundRect">
            <a:avLst>
              <a:gd fmla="val 8421" name="adj"/>
            </a:avLst>
          </a:prstGeom>
          <a:solidFill>
            <a:srgbClr val="E4E9EC"/>
          </a:solidFill>
          <a:ln cap="flat" cmpd="sng" w="12700">
            <a:solidFill>
              <a:srgbClr val="E4E9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2852928" y="3502152"/>
            <a:ext cx="2514600"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PostgreSQL 16</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rPr lang="en-US" sz="1100">
                <a:solidFill>
                  <a:schemeClr val="dk1"/>
                </a:solidFill>
                <a:latin typeface="Calibri"/>
                <a:ea typeface="Calibri"/>
                <a:cs typeface="Calibri"/>
                <a:sym typeface="Calibri"/>
              </a:rPr>
              <a:t>The service s</a:t>
            </a:r>
            <a:r>
              <a:rPr b="0" i="0" lang="en-US" sz="1100" u="none" cap="none" strike="noStrike">
                <a:solidFill>
                  <a:schemeClr val="dk1"/>
                </a:solidFill>
                <a:latin typeface="Calibri"/>
                <a:ea typeface="Calibri"/>
                <a:cs typeface="Calibri"/>
                <a:sym typeface="Calibri"/>
              </a:rPr>
              <a:t>tarts empty</a:t>
            </a:r>
            <a:r>
              <a:rPr lang="en-US" sz="1100">
                <a:solidFill>
                  <a:schemeClr val="dk1"/>
                </a:solidFill>
                <a:latin typeface="Calibri"/>
                <a:ea typeface="Calibri"/>
                <a:cs typeface="Calibri"/>
                <a:sym typeface="Calibri"/>
              </a:rPr>
              <a:t>,</a:t>
            </a:r>
            <a:r>
              <a:rPr b="0" i="0" lang="en-US" sz="1100" u="none" cap="none" strike="noStrike">
                <a:solidFill>
                  <a:schemeClr val="dk1"/>
                </a:solidFill>
                <a:latin typeface="Calibri"/>
                <a:ea typeface="Calibri"/>
                <a:cs typeface="Calibri"/>
                <a:sym typeface="Calibri"/>
              </a:rPr>
              <a:t> filled only through POST /tickets</a:t>
            </a:r>
            <a:endParaRPr b="0" i="0" sz="1100" u="none" cap="none" strike="noStrike">
              <a:solidFill>
                <a:schemeClr val="dk1"/>
              </a:solidFill>
              <a:latin typeface="Calibri"/>
              <a:ea typeface="Calibri"/>
              <a:cs typeface="Calibri"/>
              <a:sym typeface="Calibri"/>
            </a:endParaRPr>
          </a:p>
        </p:txBody>
      </p:sp>
      <p:cxnSp>
        <p:nvCxnSpPr>
          <p:cNvPr id="46" name="Google Shape;46;p2"/>
          <p:cNvCxnSpPr/>
          <p:nvPr/>
        </p:nvCxnSpPr>
        <p:spPr>
          <a:xfrm>
            <a:off x="2057400" y="1645920"/>
            <a:ext cx="685800" cy="0"/>
          </a:xfrm>
          <a:prstGeom prst="straightConnector1">
            <a:avLst/>
          </a:prstGeom>
          <a:noFill/>
          <a:ln cap="flat" cmpd="sng" w="19050">
            <a:solidFill>
              <a:srgbClr val="12343B"/>
            </a:solidFill>
            <a:prstDash val="solid"/>
            <a:round/>
            <a:headEnd len="sm" w="sm" type="none"/>
            <a:tailEnd len="med" w="med" type="triangle"/>
          </a:ln>
        </p:spPr>
      </p:cxnSp>
      <p:cxnSp>
        <p:nvCxnSpPr>
          <p:cNvPr id="47" name="Google Shape;47;p2"/>
          <p:cNvCxnSpPr/>
          <p:nvPr/>
        </p:nvCxnSpPr>
        <p:spPr>
          <a:xfrm>
            <a:off x="4091940" y="2103120"/>
            <a:ext cx="0" cy="228600"/>
          </a:xfrm>
          <a:prstGeom prst="straightConnector1">
            <a:avLst/>
          </a:prstGeom>
          <a:noFill/>
          <a:ln cap="flat" cmpd="sng" w="19050">
            <a:solidFill>
              <a:srgbClr val="12343B"/>
            </a:solidFill>
            <a:prstDash val="solid"/>
            <a:round/>
            <a:headEnd len="sm" w="sm" type="none"/>
            <a:tailEnd len="med" w="med" type="triangle"/>
          </a:ln>
        </p:spPr>
      </p:cxnSp>
      <p:cxnSp>
        <p:nvCxnSpPr>
          <p:cNvPr id="48" name="Google Shape;48;p2"/>
          <p:cNvCxnSpPr/>
          <p:nvPr/>
        </p:nvCxnSpPr>
        <p:spPr>
          <a:xfrm>
            <a:off x="5440680" y="1664208"/>
            <a:ext cx="137160" cy="0"/>
          </a:xfrm>
          <a:prstGeom prst="straightConnector1">
            <a:avLst/>
          </a:prstGeom>
          <a:noFill/>
          <a:ln cap="flat" cmpd="sng" w="19050">
            <a:solidFill>
              <a:srgbClr val="12343B"/>
            </a:solidFill>
            <a:prstDash val="solid"/>
            <a:round/>
            <a:headEnd len="sm" w="sm" type="none"/>
            <a:tailEnd len="sm" w="sm" type="none"/>
          </a:ln>
        </p:spPr>
      </p:cxnSp>
      <p:cxnSp>
        <p:nvCxnSpPr>
          <p:cNvPr id="49" name="Google Shape;49;p2"/>
          <p:cNvCxnSpPr/>
          <p:nvPr/>
        </p:nvCxnSpPr>
        <p:spPr>
          <a:xfrm>
            <a:off x="5577840" y="1664208"/>
            <a:ext cx="0" cy="2194560"/>
          </a:xfrm>
          <a:prstGeom prst="straightConnector1">
            <a:avLst/>
          </a:prstGeom>
          <a:noFill/>
          <a:ln cap="flat" cmpd="sng" w="19050">
            <a:solidFill>
              <a:srgbClr val="12343B"/>
            </a:solidFill>
            <a:prstDash val="solid"/>
            <a:round/>
            <a:headEnd len="sm" w="sm" type="none"/>
            <a:tailEnd len="sm" w="sm" type="none"/>
          </a:ln>
        </p:spPr>
      </p:cxnSp>
      <p:cxnSp>
        <p:nvCxnSpPr>
          <p:cNvPr id="50" name="Google Shape;50;p2"/>
          <p:cNvCxnSpPr/>
          <p:nvPr/>
        </p:nvCxnSpPr>
        <p:spPr>
          <a:xfrm>
            <a:off x="5440680" y="3858768"/>
            <a:ext cx="137160" cy="0"/>
          </a:xfrm>
          <a:prstGeom prst="straightConnector1">
            <a:avLst/>
          </a:prstGeom>
          <a:noFill/>
          <a:ln cap="flat" cmpd="sng" w="19050">
            <a:solidFill>
              <a:srgbClr val="12343B"/>
            </a:solidFill>
            <a:prstDash val="solid"/>
            <a:round/>
            <a:headEnd len="med" w="med" type="triangle"/>
            <a:tailEnd len="sm" w="sm" type="none"/>
          </a:ln>
        </p:spPr>
      </p:cxnSp>
      <p:sp>
        <p:nvSpPr>
          <p:cNvPr id="51" name="Google Shape;51;p2"/>
          <p:cNvSpPr txBox="1"/>
          <p:nvPr/>
        </p:nvSpPr>
        <p:spPr>
          <a:xfrm>
            <a:off x="457200" y="2331720"/>
            <a:ext cx="2011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HTTP :8000, home LAN</a:t>
            </a:r>
            <a:endParaRPr b="0" i="0" sz="1000" u="none" cap="none" strike="noStrike">
              <a:solidFill>
                <a:schemeClr val="dk1"/>
              </a:solidFill>
              <a:latin typeface="Calibri"/>
              <a:ea typeface="Calibri"/>
              <a:cs typeface="Calibri"/>
              <a:sym typeface="Calibri"/>
            </a:endParaRPr>
          </a:p>
        </p:txBody>
      </p:sp>
      <p:sp>
        <p:nvSpPr>
          <p:cNvPr id="52" name="Google Shape;52;p2"/>
          <p:cNvSpPr txBox="1"/>
          <p:nvPr/>
        </p:nvSpPr>
        <p:spPr>
          <a:xfrm>
            <a:off x="5989320" y="91440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Endpoints</a:t>
            </a:r>
            <a:endParaRPr b="0" i="0" sz="1400" u="none" cap="none" strike="noStrike">
              <a:solidFill>
                <a:schemeClr val="dk1"/>
              </a:solidFill>
              <a:latin typeface="Calibri"/>
              <a:ea typeface="Calibri"/>
              <a:cs typeface="Calibri"/>
              <a:sym typeface="Calibri"/>
            </a:endParaRPr>
          </a:p>
        </p:txBody>
      </p:sp>
      <p:sp>
        <p:nvSpPr>
          <p:cNvPr id="53" name="Google Shape;53;p2"/>
          <p:cNvSpPr txBox="1"/>
          <p:nvPr/>
        </p:nvSpPr>
        <p:spPr>
          <a:xfrm>
            <a:off x="5989320" y="1234440"/>
            <a:ext cx="269748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POST /tickets</a:t>
            </a:r>
            <a:endParaRPr b="0" i="0" sz="1100" u="none" cap="none" strike="noStrike">
              <a:solidFill>
                <a:schemeClr val="dk1"/>
              </a:solidFill>
              <a:latin typeface="Calibri"/>
              <a:ea typeface="Calibri"/>
              <a:cs typeface="Calibri"/>
              <a:sym typeface="Calibri"/>
            </a:endParaRPr>
          </a:p>
          <a:p>
            <a:pPr indent="0" lvl="0" marL="0" rtl="0" algn="l">
              <a:spcBef>
                <a:spcPts val="300"/>
              </a:spcBef>
              <a:spcAft>
                <a:spcPts val="0"/>
              </a:spcAft>
              <a:buNone/>
            </a:pPr>
            <a:r>
              <a:rPr lang="en-US" sz="1100">
                <a:solidFill>
                  <a:schemeClr val="dk1"/>
                </a:solidFill>
                <a:latin typeface="Calibri"/>
                <a:ea typeface="Calibri"/>
                <a:cs typeface="Calibri"/>
                <a:sym typeface="Calibri"/>
              </a:rPr>
              <a:t>Classifies one narrative and stores the result. Returns HTTP 201 and the category. Invalid output returns HTTP 502.</a:t>
            </a:r>
            <a:endParaRPr sz="1100">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GET /search?q=</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Case-insensitive substring search of stored narratives.</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GET /stats</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100"/>
              <a:buFont typeface="Calibri"/>
              <a:buNone/>
            </a:pPr>
            <a:r>
              <a:rPr lang="en-US" sz="1100">
                <a:solidFill>
                  <a:schemeClr val="dk1"/>
                </a:solidFill>
                <a:latin typeface="Calibri"/>
                <a:ea typeface="Calibri"/>
                <a:cs typeface="Calibri"/>
                <a:sym typeface="Calibri"/>
              </a:rPr>
              <a:t>Returns ticket counts for all seven categories.</a:t>
            </a:r>
            <a:endParaRPr b="0" i="0" sz="1100" u="none" cap="none" strike="noStrike">
              <a:solidFill>
                <a:schemeClr val="dk1"/>
              </a:solidFill>
              <a:latin typeface="Calibri"/>
              <a:ea typeface="Calibri"/>
              <a:cs typeface="Calibri"/>
              <a:sym typeface="Calibri"/>
            </a:endParaRPr>
          </a:p>
        </p:txBody>
      </p:sp>
      <p:sp>
        <p:nvSpPr>
          <p:cNvPr id="54" name="Google Shape;54;p2"/>
          <p:cNvSpPr/>
          <p:nvPr/>
        </p:nvSpPr>
        <p:spPr>
          <a:xfrm>
            <a:off x="5989320" y="3429000"/>
            <a:ext cx="2697480" cy="1051560"/>
          </a:xfrm>
          <a:prstGeom prst="roundRect">
            <a:avLst>
              <a:gd fmla="val 6957"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txBox="1"/>
          <p:nvPr/>
        </p:nvSpPr>
        <p:spPr>
          <a:xfrm>
            <a:off x="6099048" y="3520440"/>
            <a:ext cx="2514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lang="en-US" sz="1100">
                <a:solidFill>
                  <a:schemeClr val="accent5"/>
                </a:solidFill>
                <a:latin typeface="Calibri"/>
                <a:ea typeface="Calibri"/>
                <a:cs typeface="Calibri"/>
                <a:sym typeface="Calibri"/>
              </a:rPr>
              <a:t>Synchronous </a:t>
            </a:r>
            <a:r>
              <a:rPr b="1" i="0" lang="en-US" sz="1100" u="none" cap="none" strike="noStrike">
                <a:solidFill>
                  <a:schemeClr val="accent5"/>
                </a:solidFill>
                <a:latin typeface="Calibri"/>
                <a:ea typeface="Calibri"/>
                <a:cs typeface="Calibri"/>
                <a:sym typeface="Calibri"/>
              </a:rPr>
              <a:t>Baseline</a:t>
            </a:r>
            <a:endParaRPr b="0" i="0" sz="1100" u="none" cap="none" strike="noStrike">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POST /tickets waits for the model result. The service has no cache, application queue, retries, or batching.</a:t>
            </a:r>
            <a:endParaRPr b="0" i="0" sz="1100" u="none" cap="none" strike="noStrike">
              <a:solidFill>
                <a:schemeClr val="dk1"/>
              </a:solidFill>
              <a:latin typeface="Calibri"/>
              <a:ea typeface="Calibri"/>
              <a:cs typeface="Calibri"/>
              <a:sym typeface="Calibri"/>
            </a:endParaRPr>
          </a:p>
        </p:txBody>
      </p:sp>
      <p:sp>
        <p:nvSpPr>
          <p:cNvPr id="56" name="Google Shape;56;p2"/>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Workload: 81 tickets/h at peak, 105/h with growth headroom</a:t>
            </a:r>
            <a:endParaRPr sz="2200"/>
          </a:p>
        </p:txBody>
      </p:sp>
      <p:sp>
        <p:nvSpPr>
          <p:cNvPr id="63" name="Google Shape;63;p3"/>
          <p:cNvSpPr txBox="1"/>
          <p:nvPr/>
        </p:nvSpPr>
        <p:spPr>
          <a:xfrm>
            <a:off x="457200" y="914400"/>
            <a:ext cx="1920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600"/>
              <a:buFont typeface="Cambria"/>
              <a:buNone/>
            </a:pPr>
            <a:r>
              <a:rPr b="1" i="0" lang="en-US" sz="2600" u="none" cap="none" strike="noStrike">
                <a:solidFill>
                  <a:schemeClr val="dk2"/>
                </a:solidFill>
                <a:latin typeface="Cambria"/>
                <a:ea typeface="Cambria"/>
                <a:cs typeface="Cambria"/>
                <a:sym typeface="Cambria"/>
              </a:rPr>
              <a:t>189,070</a:t>
            </a:r>
            <a:endParaRPr b="0" i="0" sz="2600" u="none" cap="none" strike="noStrike">
              <a:solidFill>
                <a:schemeClr val="dk1"/>
              </a:solidFill>
              <a:latin typeface="Calibri"/>
              <a:ea typeface="Calibri"/>
              <a:cs typeface="Calibri"/>
              <a:sym typeface="Calibri"/>
            </a:endParaRPr>
          </a:p>
        </p:txBody>
      </p:sp>
      <p:sp>
        <p:nvSpPr>
          <p:cNvPr id="64" name="Google Shape;64;p3"/>
          <p:cNvSpPr txBox="1"/>
          <p:nvPr/>
        </p:nvSpPr>
        <p:spPr>
          <a:xfrm>
            <a:off x="457200" y="1371600"/>
            <a:ext cx="19202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complaints/year: Barclays Bank UK, H1 2026 × 2 [S: R1]</a:t>
            </a:r>
            <a:endParaRPr b="0" i="0" sz="1000" u="none" cap="none" strike="noStrike">
              <a:solidFill>
                <a:schemeClr val="dk1"/>
              </a:solidFill>
              <a:latin typeface="Calibri"/>
              <a:ea typeface="Calibri"/>
              <a:cs typeface="Calibri"/>
              <a:sym typeface="Calibri"/>
            </a:endParaRPr>
          </a:p>
        </p:txBody>
      </p:sp>
      <p:sp>
        <p:nvSpPr>
          <p:cNvPr id="65" name="Google Shape;65;p3"/>
          <p:cNvSpPr txBox="1"/>
          <p:nvPr/>
        </p:nvSpPr>
        <p:spPr>
          <a:xfrm>
            <a:off x="2468880" y="914400"/>
            <a:ext cx="1920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2600"/>
              <a:buFont typeface="Cambria"/>
              <a:buNone/>
            </a:pPr>
            <a:r>
              <a:rPr b="1" i="0" lang="en-US" sz="2600" u="none" cap="none" strike="noStrike">
                <a:solidFill>
                  <a:schemeClr val="accent2"/>
                </a:solidFill>
                <a:latin typeface="Cambria"/>
                <a:ea typeface="Cambria"/>
                <a:cs typeface="Cambria"/>
                <a:sym typeface="Cambria"/>
              </a:rPr>
              <a:t>81 / h</a:t>
            </a:r>
            <a:endParaRPr b="0" i="0" sz="2600" u="none" cap="none" strike="noStrike">
              <a:solidFill>
                <a:schemeClr val="dk1"/>
              </a:solidFill>
              <a:latin typeface="Calibri"/>
              <a:ea typeface="Calibri"/>
              <a:cs typeface="Calibri"/>
              <a:sym typeface="Calibri"/>
            </a:endParaRPr>
          </a:p>
        </p:txBody>
      </p:sp>
      <p:sp>
        <p:nvSpPr>
          <p:cNvPr id="66" name="Google Shape;66;p3"/>
          <p:cNvSpPr txBox="1"/>
          <p:nvPr/>
        </p:nvSpPr>
        <p:spPr>
          <a:xfrm>
            <a:off x="2468880" y="1371600"/>
            <a:ext cx="19202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present-day peak hour [E]</a:t>
            </a:r>
            <a:endParaRPr b="0" i="0" sz="1000" u="none" cap="none" strike="noStrike">
              <a:solidFill>
                <a:schemeClr val="dk1"/>
              </a:solidFill>
              <a:latin typeface="Calibri"/>
              <a:ea typeface="Calibri"/>
              <a:cs typeface="Calibri"/>
              <a:sym typeface="Calibri"/>
            </a:endParaRPr>
          </a:p>
        </p:txBody>
      </p:sp>
      <p:sp>
        <p:nvSpPr>
          <p:cNvPr id="67" name="Google Shape;67;p3"/>
          <p:cNvSpPr txBox="1"/>
          <p:nvPr/>
        </p:nvSpPr>
        <p:spPr>
          <a:xfrm>
            <a:off x="457200" y="1783080"/>
            <a:ext cx="1920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105 / h</a:t>
            </a:r>
            <a:endParaRPr b="0" i="0" sz="2600" u="none" cap="none" strike="noStrike">
              <a:solidFill>
                <a:schemeClr val="dk1"/>
              </a:solidFill>
              <a:latin typeface="Calibri"/>
              <a:ea typeface="Calibri"/>
              <a:cs typeface="Calibri"/>
              <a:sym typeface="Calibri"/>
            </a:endParaRPr>
          </a:p>
        </p:txBody>
      </p:sp>
      <p:sp>
        <p:nvSpPr>
          <p:cNvPr id="68" name="Google Shape;68;p3"/>
          <p:cNvSpPr txBox="1"/>
          <p:nvPr/>
        </p:nvSpPr>
        <p:spPr>
          <a:xfrm>
            <a:off x="457200" y="2240280"/>
            <a:ext cx="19202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requirement load: peak + 30% growth [S: R5]</a:t>
            </a:r>
            <a:endParaRPr b="0" i="0" sz="1000" u="none" cap="none" strike="noStrike">
              <a:solidFill>
                <a:schemeClr val="dk1"/>
              </a:solidFill>
              <a:latin typeface="Calibri"/>
              <a:ea typeface="Calibri"/>
              <a:cs typeface="Calibri"/>
              <a:sym typeface="Calibri"/>
            </a:endParaRPr>
          </a:p>
        </p:txBody>
      </p:sp>
      <p:sp>
        <p:nvSpPr>
          <p:cNvPr id="69" name="Google Shape;69;p3"/>
          <p:cNvSpPr txBox="1"/>
          <p:nvPr/>
        </p:nvSpPr>
        <p:spPr>
          <a:xfrm>
            <a:off x="2468880" y="1783080"/>
            <a:ext cx="1920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600"/>
              <a:buFont typeface="Cambria"/>
              <a:buNone/>
            </a:pPr>
            <a:r>
              <a:rPr b="1" i="0" lang="en-US" sz="2600" u="none" cap="none" strike="noStrike">
                <a:solidFill>
                  <a:schemeClr val="dk2"/>
                </a:solidFill>
                <a:latin typeface="Cambria"/>
                <a:ea typeface="Cambria"/>
                <a:cs typeface="Cambria"/>
                <a:sym typeface="Cambria"/>
              </a:rPr>
              <a:t>316 / h</a:t>
            </a:r>
            <a:endParaRPr b="0" i="0" sz="2600" u="none" cap="none" strike="noStrike">
              <a:solidFill>
                <a:schemeClr val="dk1"/>
              </a:solidFill>
              <a:latin typeface="Calibri"/>
              <a:ea typeface="Calibri"/>
              <a:cs typeface="Calibri"/>
              <a:sym typeface="Calibri"/>
            </a:endParaRPr>
          </a:p>
        </p:txBody>
      </p:sp>
      <p:sp>
        <p:nvSpPr>
          <p:cNvPr id="70" name="Google Shape;70;p3"/>
          <p:cNvSpPr txBox="1"/>
          <p:nvPr/>
        </p:nvSpPr>
        <p:spPr>
          <a:xfrm>
            <a:off x="2468880" y="2240280"/>
            <a:ext cx="19202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agent searches at 105/h (6 per agent-hour) [E]</a:t>
            </a:r>
            <a:endParaRPr b="0" i="0" sz="1000" u="none" cap="none" strike="noStrike">
              <a:solidFill>
                <a:schemeClr val="dk1"/>
              </a:solidFill>
              <a:latin typeface="Calibri"/>
              <a:ea typeface="Calibri"/>
              <a:cs typeface="Calibri"/>
              <a:sym typeface="Calibri"/>
            </a:endParaRPr>
          </a:p>
        </p:txBody>
      </p:sp>
      <p:sp>
        <p:nvSpPr>
          <p:cNvPr id="71" name="Google Shape;71;p3"/>
          <p:cNvSpPr txBox="1"/>
          <p:nvPr/>
        </p:nvSpPr>
        <p:spPr>
          <a:xfrm>
            <a:off x="457200" y="2651760"/>
            <a:ext cx="4023360" cy="6400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chemeClr val="dk1"/>
                </a:solidFill>
                <a:latin typeface="Calibri"/>
                <a:ea typeface="Calibri"/>
                <a:cs typeface="Calibri"/>
                <a:sym typeface="Calibri"/>
              </a:rPr>
              <a:t>Peak calculation: </a:t>
            </a:r>
            <a:r>
              <a:rPr lang="en-US" sz="1000">
                <a:solidFill>
                  <a:schemeClr val="dk1"/>
                </a:solidFill>
                <a:latin typeface="Calibri"/>
                <a:ea typeface="Calibri"/>
                <a:cs typeface="Calibri"/>
                <a:sym typeface="Calibri"/>
              </a:rPr>
              <a:t>189,070 / 365 × 1.25 / 12 × 1.5 = 81 tickets/h.</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b="1" lang="en-US" sz="1000">
                <a:solidFill>
                  <a:schemeClr val="dk1"/>
                </a:solidFill>
                <a:latin typeface="Calibri"/>
                <a:ea typeface="Calibri"/>
                <a:cs typeface="Calibri"/>
                <a:sym typeface="Calibri"/>
              </a:rPr>
              <a:t>Sources:</a:t>
            </a:r>
            <a:r>
              <a:rPr lang="en-US" sz="1000">
                <a:solidFill>
                  <a:schemeClr val="dk1"/>
                </a:solidFill>
                <a:latin typeface="Calibri"/>
                <a:ea typeface="Calibri"/>
                <a:cs typeface="Calibri"/>
                <a:sym typeface="Calibri"/>
              </a:rPr>
              <a:t> Annual volume and daily factor [R1, R3]. Estimates: 12-hour arrival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US" sz="1000">
                <a:solidFill>
                  <a:schemeClr val="dk1"/>
                </a:solidFill>
                <a:latin typeface="Calibri"/>
                <a:ea typeface="Calibri"/>
                <a:cs typeface="Calibri"/>
                <a:sym typeface="Calibri"/>
              </a:rPr>
              <a:t>window and 1.5 hourly factor [R6, R7].</a:t>
            </a:r>
            <a:endParaRPr sz="1000">
              <a:solidFill>
                <a:schemeClr val="dk1"/>
              </a:solidFill>
              <a:latin typeface="Calibri"/>
              <a:ea typeface="Calibri"/>
              <a:cs typeface="Calibri"/>
              <a:sym typeface="Calibri"/>
            </a:endParaRPr>
          </a:p>
        </p:txBody>
      </p:sp>
      <p:graphicFrame>
        <p:nvGraphicFramePr>
          <p:cNvPr id="72" name="Google Shape;72;p3"/>
          <p:cNvGraphicFramePr/>
          <p:nvPr/>
        </p:nvGraphicFramePr>
        <p:xfrm>
          <a:off x="457200" y="3310128"/>
          <a:ext cx="3000000" cy="3000000"/>
        </p:xfrm>
        <a:graphic>
          <a:graphicData uri="http://schemas.openxmlformats.org/drawingml/2006/table">
            <a:tbl>
              <a:tblPr>
                <a:noFill/>
                <a:tableStyleId>{DEE76F54-DCC2-4723-B163-4ADD76A469FF}</a:tableStyleId>
              </a:tblPr>
              <a:tblGrid>
                <a:gridCol w="1554475"/>
                <a:gridCol w="777250"/>
                <a:gridCol w="777250"/>
                <a:gridCol w="914400"/>
              </a:tblGrid>
              <a:tr h="201175">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rPr>
                        <a:t>Level</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rPr>
                        <a:t>POST/h</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rPr>
                        <a:t>Search/h</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rPr>
                        <a:t>Tested</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r>
              <a:tr h="2011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Off-peak (Sunday)</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18</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55</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2011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Average</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43</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130</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3 runs</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2011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Peak</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81</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243</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3 runs</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2011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Peak + 30% (R1–R4)</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105</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316</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3 runs</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201175">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Burst / surge</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130 / 243</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316</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rPr>
                        <a:t>stress ramp</a:t>
                      </a:r>
                      <a:endParaRPr sz="950" u="none" cap="none" strike="noStrike"/>
                    </a:p>
                  </a:txBody>
                  <a:tcPr marT="36575" marB="36575" marR="36575" marL="36575">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bl>
          </a:graphicData>
        </a:graphic>
      </p:graphicFrame>
      <p:graphicFrame>
        <p:nvGraphicFramePr>
          <p:cNvPr id="73" name="Google Shape;73;p3"/>
          <p:cNvGraphicFramePr/>
          <p:nvPr/>
        </p:nvGraphicFramePr>
        <p:xfrm>
          <a:off x="5033175" y="914400"/>
          <a:ext cx="3594000" cy="2674800"/>
        </p:xfrm>
        <a:graphic>
          <a:graphicData uri="http://schemas.openxmlformats.org/drawingml/2006/chart">
            <c:chart r:id="rId3"/>
          </a:graphicData>
        </a:graphic>
      </p:graphicFrame>
      <p:sp>
        <p:nvSpPr>
          <p:cNvPr id="74" name="Google Shape;74;p3"/>
          <p:cNvSpPr txBox="1"/>
          <p:nvPr/>
        </p:nvSpPr>
        <p:spPr>
          <a:xfrm>
            <a:off x="4754880" y="3840480"/>
            <a:ext cx="3931920" cy="5486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Ticket length: median 140, p95 305, p99 352, maximum 369 words. The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US" sz="1000">
                <a:solidFill>
                  <a:schemeClr val="dk1"/>
                </a:solidFill>
                <a:latin typeface="Calibri"/>
                <a:ea typeface="Calibri"/>
                <a:cs typeface="Calibri"/>
                <a:sym typeface="Calibri"/>
              </a:rPr>
              <a:t>extract limits narratives to 200–2,000 characters.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US" sz="1000">
                <a:solidFill>
                  <a:schemeClr val="dk1"/>
                </a:solidFill>
                <a:latin typeface="Calibri"/>
                <a:ea typeface="Calibri"/>
                <a:cs typeface="Calibri"/>
                <a:sym typeface="Calibri"/>
              </a:rPr>
              <a:t>Longer client tickets can increase latency.</a:t>
            </a:r>
            <a:endParaRPr sz="1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75" name="Google Shape;75;p3"/>
          <p:cNvSpPr txBox="1"/>
          <p:nvPr/>
        </p:nvSpPr>
        <p:spPr>
          <a:xfrm>
            <a:off x="4754880" y="4434840"/>
            <a:ext cx="39319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900"/>
              <a:buFont typeface="Calibri"/>
              <a:buNone/>
            </a:pPr>
            <a:r>
              <a:rPr b="0" i="1" lang="en-US" sz="900" u="none" cap="none" strike="noStrike">
                <a:solidFill>
                  <a:schemeClr val="accent5"/>
                </a:solidFill>
                <a:latin typeface="Calibri"/>
                <a:ea typeface="Calibri"/>
                <a:cs typeface="Calibri"/>
                <a:sym typeface="Calibri"/>
              </a:rPr>
              <a:t>[S] sourced · [E] estimate · [M] measured. Sources on slide 12; full derivation in workload/WORKLOAD.md.</a:t>
            </a:r>
            <a:endParaRPr b="0" i="0" sz="900" u="none" cap="none" strike="noStrike">
              <a:solidFill>
                <a:schemeClr val="dk1"/>
              </a:solidFill>
              <a:latin typeface="Calibri"/>
              <a:ea typeface="Calibri"/>
              <a:cs typeface="Calibri"/>
              <a:sym typeface="Calibri"/>
            </a:endParaRPr>
          </a:p>
        </p:txBody>
      </p:sp>
      <p:sp>
        <p:nvSpPr>
          <p:cNvPr id="76" name="Google Shape;76;p3"/>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
        <p:nvSpPr>
          <p:cNvPr id="77" name="Google Shape;77;p3"/>
          <p:cNvSpPr txBox="1"/>
          <p:nvPr/>
        </p:nvSpPr>
        <p:spPr>
          <a:xfrm rot="-5400000">
            <a:off x="4510275" y="2114700"/>
            <a:ext cx="9258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t>Tickets</a:t>
            </a:r>
            <a:endParaRPr sz="1100"/>
          </a:p>
        </p:txBody>
      </p:sp>
      <p:sp>
        <p:nvSpPr>
          <p:cNvPr id="78" name="Google Shape;78;p3"/>
          <p:cNvSpPr txBox="1"/>
          <p:nvPr/>
        </p:nvSpPr>
        <p:spPr>
          <a:xfrm>
            <a:off x="6020325" y="3471775"/>
            <a:ext cx="16197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t>Words per t</a:t>
            </a:r>
            <a:r>
              <a:rPr lang="en-US" sz="1100"/>
              <a:t>icket</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Requirements: testable, identical for every candidate</a:t>
            </a:r>
            <a:endParaRPr sz="2200"/>
          </a:p>
        </p:txBody>
      </p:sp>
      <p:sp>
        <p:nvSpPr>
          <p:cNvPr id="85" name="Google Shape;85;p4"/>
          <p:cNvSpPr txBox="1"/>
          <p:nvPr/>
        </p:nvSpPr>
        <p:spPr>
          <a:xfrm>
            <a:off x="457200" y="82296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0" i="0" lang="en-US" sz="1100" u="none" cap="none" strike="noStrike">
                <a:solidFill>
                  <a:schemeClr val="accent5"/>
                </a:solidFill>
                <a:latin typeface="Calibri"/>
                <a:ea typeface="Calibri"/>
                <a:cs typeface="Calibri"/>
                <a:sym typeface="Calibri"/>
              </a:rPr>
              <a:t>R1–R4 condition: open-loop mixed load, 105 POST/h + 316 search/h, 20-min steady window after a 2-min warm-up, 3 runs. R5–R7: the frozen 160-ticket golden set. </a:t>
            </a:r>
            <a:endParaRPr b="0" i="0" sz="1100" u="none" cap="none" strike="noStrike">
              <a:solidFill>
                <a:schemeClr val="dk1"/>
              </a:solidFill>
              <a:latin typeface="Calibri"/>
              <a:ea typeface="Calibri"/>
              <a:cs typeface="Calibri"/>
              <a:sym typeface="Calibri"/>
            </a:endParaRPr>
          </a:p>
        </p:txBody>
      </p:sp>
      <p:graphicFrame>
        <p:nvGraphicFramePr>
          <p:cNvPr id="86" name="Google Shape;86;p4"/>
          <p:cNvGraphicFramePr/>
          <p:nvPr/>
        </p:nvGraphicFramePr>
        <p:xfrm>
          <a:off x="457200" y="1234440"/>
          <a:ext cx="3000000" cy="3000000"/>
        </p:xfrm>
        <a:graphic>
          <a:graphicData uri="http://schemas.openxmlformats.org/drawingml/2006/table">
            <a:tbl>
              <a:tblPr>
                <a:noFill/>
                <a:tableStyleId>{DEE76F54-DCC2-4723-B163-4ADD76A469FF}</a:tableStyleId>
              </a:tblPr>
              <a:tblGrid>
                <a:gridCol w="1325875"/>
                <a:gridCol w="3154675"/>
                <a:gridCol w="3749050"/>
              </a:tblGrid>
              <a:tr h="32917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rPr>
                        <a:t>Req</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rPr>
                        <a:t>Testable statement</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rPr>
                        <a:t>Why this number</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R1 Throughput</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 </a:t>
                      </a:r>
                      <a:r>
                        <a:rPr b="1" lang="en-US" sz="1050" u="none" cap="none" strike="noStrike">
                          <a:solidFill>
                            <a:srgbClr val="000000"/>
                          </a:solidFill>
                        </a:rPr>
                        <a:t>105 </a:t>
                      </a:r>
                      <a:r>
                        <a:rPr lang="en-US" sz="1050" u="none" cap="none" strike="noStrike">
                          <a:solidFill>
                            <a:srgbClr val="000000"/>
                          </a:solidFill>
                        </a:rPr>
                        <a:t>successful classifications/h; backlog not growing</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4A5A60"/>
                        </a:buClr>
                        <a:buSzPts val="1050"/>
                        <a:buFont typeface="Calibri"/>
                        <a:buNone/>
                      </a:pPr>
                      <a:r>
                        <a:rPr lang="en-US" sz="1050" u="none" cap="none" strike="noStrike">
                          <a:solidFill>
                            <a:srgbClr val="4A5A60"/>
                          </a:solidFill>
                        </a:rPr>
                        <a:t>Peak 81/h + 30% one-year growth (FIDReC +32%)</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R2 POST latency</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p95 ≤ 30 s, p99 ≤ 60 s</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rtl="0" algn="l">
                        <a:spcBef>
                          <a:spcPts val="0"/>
                        </a:spcBef>
                        <a:spcAft>
                          <a:spcPts val="0"/>
                        </a:spcAft>
                        <a:buNone/>
                      </a:pPr>
                      <a:r>
                        <a:rPr lang="en-US" sz="1050">
                          <a:solidFill>
                            <a:srgbClr val="4A5A60"/>
                          </a:solidFill>
                        </a:rPr>
                        <a:t>Automated intake can wait. The p95 target is below the 34-second mean arrival interval. This alone does not prove queue stability.</a:t>
                      </a:r>
                      <a:endParaRPr sz="1050">
                        <a:solidFill>
                          <a:srgbClr val="4A5A60"/>
                        </a:solidFill>
                      </a:endParaRPr>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R3 Search latency</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p95 ≤ 2 s, p99 ≤ 5 s</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4A5A60"/>
                        </a:buClr>
                        <a:buSzPts val="1050"/>
                        <a:buFont typeface="Calibri"/>
                        <a:buNone/>
                      </a:pPr>
                      <a:r>
                        <a:rPr lang="en-US" sz="1050" u="none" cap="none" strike="noStrike">
                          <a:solidFill>
                            <a:srgbClr val="4A5A60"/>
                          </a:solidFill>
                        </a:rPr>
                        <a:t>Agents search interactively while handling a case</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R4 Reliability</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b="1" lang="en-US" sz="1050" u="none" cap="none" strike="noStrike">
                          <a:solidFill>
                            <a:srgbClr val="000000"/>
                          </a:solidFill>
                        </a:rPr>
                        <a:t>≤ 1.0%</a:t>
                      </a:r>
                      <a:r>
                        <a:rPr lang="en-US" sz="1050" u="none" cap="none" strike="noStrike">
                          <a:solidFill>
                            <a:srgbClr val="000000"/>
                          </a:solidFill>
                        </a:rPr>
                        <a:t> errors per endpoint; /stats delta = successful POSTs</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4A5A60"/>
                        </a:buClr>
                        <a:buSzPts val="1050"/>
                        <a:buFont typeface="Calibri"/>
                        <a:buNone/>
                      </a:pPr>
                      <a:r>
                        <a:rPr lang="en-US" sz="1050" u="none" cap="none" strike="noStrike">
                          <a:solidFill>
                            <a:srgbClr val="4A5A60"/>
                          </a:solidFill>
                        </a:rPr>
                        <a:t>A failed classification is an unrouted ticket</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R5 Accuracy</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b="1" lang="en-US" sz="1050" u="none" cap="none" strike="noStrike">
                          <a:solidFill>
                            <a:srgbClr val="000000"/>
                          </a:solidFill>
                        </a:rPr>
                        <a:t>≥ 85.0%</a:t>
                      </a:r>
                      <a:r>
                        <a:rPr lang="en-US" sz="1050" u="none" cap="none" strike="noStrike">
                          <a:solidFill>
                            <a:srgbClr val="000000"/>
                          </a:solidFill>
                        </a:rPr>
                        <a:t> overall (≥ 136/160)</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4A5A60"/>
                        </a:buClr>
                        <a:buSzPts val="1050"/>
                        <a:buFont typeface="Calibri"/>
                        <a:buNone/>
                      </a:pPr>
                      <a:r>
                        <a:rPr lang="en-US" sz="1050" u="none" cap="none" strike="noStrike">
                          <a:solidFill>
                            <a:srgbClr val="4A5A60"/>
                          </a:solidFill>
                        </a:rPr>
                        <a:t>≥ 5 of 6 routed correctly, else manual correction cost dominates</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R6 Per category</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every category </a:t>
                      </a:r>
                      <a:r>
                        <a:rPr b="1" lang="en-US" sz="1050" u="none" cap="none" strike="noStrike">
                          <a:solidFill>
                            <a:srgbClr val="000000"/>
                          </a:solidFill>
                        </a:rPr>
                        <a:t>≥ 70.0%</a:t>
                      </a:r>
                      <a:endParaRPr b="1"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4A5A60"/>
                        </a:buClr>
                        <a:buSzPts val="1050"/>
                        <a:buFont typeface="Calibri"/>
                        <a:buNone/>
                      </a:pPr>
                      <a:r>
                        <a:rPr lang="en-US" sz="1050" u="none" cap="none" strike="noStrike">
                          <a:solidFill>
                            <a:srgbClr val="4A5A60"/>
                          </a:solidFill>
                        </a:rPr>
                        <a:t>Stops a small team (Credit card, n = 11) being sacrificed for the average</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R7 Conformance</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b="1" lang="en-US" sz="1050" u="none" cap="none" strike="noStrike">
                          <a:solidFill>
                            <a:srgbClr val="000000"/>
                          </a:solidFill>
                        </a:rPr>
                        <a:t>≥ 99.0%</a:t>
                      </a:r>
                      <a:r>
                        <a:rPr lang="en-US" sz="1050" u="none" cap="none" strike="noStrike">
                          <a:solidFill>
                            <a:srgbClr val="000000"/>
                          </a:solidFill>
                        </a:rPr>
                        <a:t> valid JSON with an exact category name</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4A5A60"/>
                        </a:buClr>
                        <a:buSzPts val="1050"/>
                        <a:buFont typeface="Calibri"/>
                        <a:buNone/>
                      </a:pPr>
                      <a:r>
                        <a:rPr lang="en-US" sz="1050" u="none" cap="none" strike="noStrike">
                          <a:solidFill>
                            <a:srgbClr val="4A5A60"/>
                          </a:solidFill>
                        </a:rPr>
                        <a:t>Non-exact output cannot be routed</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329175">
                <a:tc>
                  <a:txBody>
                    <a:bodyPr/>
                    <a:lstStyle/>
                    <a:p>
                      <a:pPr indent="0" lvl="0" marL="0" marR="0" rtl="0" algn="l">
                        <a:spcBef>
                          <a:spcPts val="0"/>
                        </a:spcBef>
                        <a:spcAft>
                          <a:spcPts val="0"/>
                        </a:spcAft>
                        <a:buClr>
                          <a:srgbClr val="12343B"/>
                        </a:buClr>
                        <a:buSzPts val="1050"/>
                        <a:buFont typeface="Calibri"/>
                        <a:buNone/>
                      </a:pPr>
                      <a:r>
                        <a:rPr b="1" lang="en-US" sz="1050" u="none" cap="none" strike="noStrike">
                          <a:solidFill>
                            <a:srgbClr val="12343B"/>
                          </a:solidFill>
                        </a:rPr>
                        <a:t>R8 Deployment</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50"/>
                        <a:buFont typeface="Calibri"/>
                        <a:buNone/>
                      </a:pPr>
                      <a:r>
                        <a:rPr lang="en-US" sz="1050" u="none" cap="none" strike="noStrike">
                          <a:solidFill>
                            <a:srgbClr val="000000"/>
                          </a:solidFill>
                        </a:rPr>
                        <a:t>CPU-only local Ollama; </a:t>
                      </a:r>
                      <a:r>
                        <a:rPr b="1" lang="en-US" sz="1050" u="none" cap="none" strike="noStrike">
                          <a:solidFill>
                            <a:srgbClr val="000000"/>
                          </a:solidFill>
                        </a:rPr>
                        <a:t>0</a:t>
                      </a:r>
                      <a:r>
                        <a:rPr lang="en-US" sz="1050" u="none" cap="none" strike="noStrike">
                          <a:solidFill>
                            <a:srgbClr val="000000"/>
                          </a:solidFill>
                        </a:rPr>
                        <a:t> restarts or OOM kills</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4A5A60"/>
                        </a:buClr>
                        <a:buSzPts val="1050"/>
                        <a:buFont typeface="Calibri"/>
                        <a:buNone/>
                      </a:pPr>
                      <a:r>
                        <a:rPr lang="en-US" sz="1050">
                          <a:solidFill>
                            <a:srgbClr val="4A5A60"/>
                          </a:solidFill>
                        </a:rPr>
                        <a:t>Inference must stay on client-controlled CPU hardware.</a:t>
                      </a:r>
                      <a:endParaRPr sz="1050" u="none" cap="none" strike="noStrike"/>
                    </a:p>
                  </a:txBody>
                  <a:tcPr marT="45725" marB="45725" marR="45725" marL="457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bl>
          </a:graphicData>
        </a:graphic>
      </p:graphicFrame>
      <p:sp>
        <p:nvSpPr>
          <p:cNvPr id="87" name="Google Shape;87;p4"/>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5"/>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lang="en-US"/>
              <a:t>Candidate models and exact weight digests</a:t>
            </a:r>
            <a:endParaRPr sz="2200"/>
          </a:p>
        </p:txBody>
      </p:sp>
      <p:sp>
        <p:nvSpPr>
          <p:cNvPr id="94" name="Google Shape;94;p5"/>
          <p:cNvSpPr/>
          <p:nvPr/>
        </p:nvSpPr>
        <p:spPr>
          <a:xfrm>
            <a:off x="457200" y="914400"/>
            <a:ext cx="2606040" cy="2377440"/>
          </a:xfrm>
          <a:prstGeom prst="roundRect">
            <a:avLst>
              <a:gd fmla="val 3077" name="adj"/>
            </a:avLst>
          </a:prstGeom>
          <a:solidFill>
            <a:srgbClr val="EEF3F4"/>
          </a:solidFill>
          <a:ln cap="flat" cmpd="sng" w="12700">
            <a:solidFill>
              <a:srgbClr val="EE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621792" y="1051560"/>
            <a:ext cx="292608" cy="292608"/>
          </a:xfrm>
          <a:prstGeom prst="ellipse">
            <a:avLst/>
          </a:prstGeom>
          <a:solidFill>
            <a:srgbClr val="8E9AA3"/>
          </a:solidFill>
          <a:ln cap="flat" cmpd="sng" w="12700">
            <a:solidFill>
              <a:srgbClr val="8E9A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txBox="1"/>
          <p:nvPr/>
        </p:nvSpPr>
        <p:spPr>
          <a:xfrm>
            <a:off x="1005840" y="1024128"/>
            <a:ext cx="1965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mbria"/>
              <a:buNone/>
            </a:pPr>
            <a:r>
              <a:rPr b="1" i="0" lang="en-US" sz="1500" u="none" cap="none" strike="noStrike">
                <a:solidFill>
                  <a:schemeClr val="dk2"/>
                </a:solidFill>
                <a:latin typeface="Cambria"/>
                <a:ea typeface="Cambria"/>
                <a:cs typeface="Cambria"/>
                <a:sym typeface="Cambria"/>
              </a:rPr>
              <a:t>Gemma 3 1B</a:t>
            </a:r>
            <a:endParaRPr b="0" i="0" sz="1500" u="none" cap="none" strike="noStrike">
              <a:solidFill>
                <a:schemeClr val="dk1"/>
              </a:solidFill>
              <a:latin typeface="Calibri"/>
              <a:ea typeface="Calibri"/>
              <a:cs typeface="Calibri"/>
              <a:sym typeface="Calibri"/>
            </a:endParaRPr>
          </a:p>
        </p:txBody>
      </p:sp>
      <p:sp>
        <p:nvSpPr>
          <p:cNvPr id="97" name="Google Shape;97;p5"/>
          <p:cNvSpPr txBox="1"/>
          <p:nvPr/>
        </p:nvSpPr>
        <p:spPr>
          <a:xfrm>
            <a:off x="621792" y="1463040"/>
            <a:ext cx="2286000" cy="1783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E9AA3"/>
              </a:buClr>
              <a:buSzPts val="1100"/>
              <a:buFont typeface="Calibri"/>
              <a:buNone/>
            </a:pPr>
            <a:r>
              <a:rPr b="1" i="0" lang="en-US" sz="1100" u="none" cap="none" strike="noStrike">
                <a:solidFill>
                  <a:srgbClr val="8E9AA3"/>
                </a:solidFill>
                <a:latin typeface="Calibri"/>
                <a:ea typeface="Calibri"/>
                <a:cs typeface="Calibri"/>
                <a:sym typeface="Calibri"/>
              </a:rPr>
              <a:t>Small · 1.0B</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ourier New"/>
              <a:buNone/>
            </a:pPr>
            <a:r>
              <a:rPr b="0" i="0" lang="en-US" sz="950" u="none" cap="none" strike="noStrike">
                <a:solidFill>
                  <a:schemeClr val="dk1"/>
                </a:solidFill>
                <a:latin typeface="Courier New"/>
                <a:ea typeface="Courier New"/>
                <a:cs typeface="Courier New"/>
                <a:sym typeface="Courier New"/>
              </a:rPr>
              <a:t>gemma3:1b-it-q4_K_M</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ID 8648f39daa8f · weights sha256:7cd4618c1faf…</a:t>
            </a:r>
            <a:endParaRPr b="0" i="0" sz="9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alibri"/>
              <a:buNone/>
            </a:pPr>
            <a:r>
              <a:rPr lang="en-US" sz="950" u="sng">
                <a:solidFill>
                  <a:schemeClr val="hlink"/>
                </a:solidFill>
                <a:latin typeface="Calibri"/>
                <a:ea typeface="Calibri"/>
                <a:cs typeface="Calibri"/>
                <a:sym typeface="Calibri"/>
                <a:hlinkClick r:id="rId3"/>
              </a:rPr>
              <a:t>https://ollama.com/library/gemma3:1b-it-q4_K_M</a:t>
            </a:r>
            <a:r>
              <a:rPr lang="en-US" sz="950">
                <a:solidFill>
                  <a:schemeClr val="dk1"/>
                </a:solidFill>
                <a:latin typeface="Calibri"/>
                <a:ea typeface="Calibri"/>
                <a:cs typeface="Calibri"/>
                <a:sym typeface="Calibri"/>
              </a:rPr>
              <a:t>  </a:t>
            </a:r>
            <a:endParaRPr sz="950">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815 MB · Gemma Terms of Use</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100"/>
              <a:buFont typeface="Calibri"/>
              <a:buNone/>
            </a:pPr>
            <a:r>
              <a:rPr b="0" i="1" lang="en-US" sz="1100" u="none" cap="none" strike="noStrike">
                <a:solidFill>
                  <a:schemeClr val="dk1"/>
                </a:solidFill>
                <a:latin typeface="Calibri"/>
                <a:ea typeface="Calibri"/>
                <a:cs typeface="Calibri"/>
                <a:sym typeface="Calibri"/>
              </a:rPr>
              <a:t>Fast, low-resource floor of the trade-off</a:t>
            </a:r>
            <a:endParaRPr b="0" i="0" sz="1100" u="none" cap="none" strike="noStrike">
              <a:solidFill>
                <a:schemeClr val="dk1"/>
              </a:solidFill>
              <a:latin typeface="Calibri"/>
              <a:ea typeface="Calibri"/>
              <a:cs typeface="Calibri"/>
              <a:sym typeface="Calibri"/>
            </a:endParaRPr>
          </a:p>
        </p:txBody>
      </p:sp>
      <p:sp>
        <p:nvSpPr>
          <p:cNvPr id="98" name="Google Shape;98;p5"/>
          <p:cNvSpPr/>
          <p:nvPr/>
        </p:nvSpPr>
        <p:spPr>
          <a:xfrm>
            <a:off x="3246120" y="914400"/>
            <a:ext cx="2606040" cy="2377440"/>
          </a:xfrm>
          <a:prstGeom prst="roundRect">
            <a:avLst>
              <a:gd fmla="val 3077" name="adj"/>
            </a:avLst>
          </a:prstGeom>
          <a:solidFill>
            <a:srgbClr val="EEF3F4"/>
          </a:solidFill>
          <a:ln cap="flat" cmpd="sng" w="12700">
            <a:solidFill>
              <a:srgbClr val="EE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3410712" y="1051560"/>
            <a:ext cx="292608" cy="292608"/>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txBox="1"/>
          <p:nvPr/>
        </p:nvSpPr>
        <p:spPr>
          <a:xfrm>
            <a:off x="3794760" y="1024128"/>
            <a:ext cx="1965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mbria"/>
              <a:buNone/>
            </a:pPr>
            <a:r>
              <a:rPr b="1" i="0" lang="en-US" sz="1500" u="none" cap="none" strike="noStrike">
                <a:solidFill>
                  <a:schemeClr val="dk2"/>
                </a:solidFill>
                <a:latin typeface="Cambria"/>
                <a:ea typeface="Cambria"/>
                <a:cs typeface="Cambria"/>
                <a:sym typeface="Cambria"/>
              </a:rPr>
              <a:t>Qwen3 4B Instruct</a:t>
            </a:r>
            <a:endParaRPr b="0" i="0" sz="1500" u="none" cap="none" strike="noStrike">
              <a:solidFill>
                <a:schemeClr val="dk1"/>
              </a:solidFill>
              <a:latin typeface="Calibri"/>
              <a:ea typeface="Calibri"/>
              <a:cs typeface="Calibri"/>
              <a:sym typeface="Calibri"/>
            </a:endParaRPr>
          </a:p>
        </p:txBody>
      </p:sp>
      <p:sp>
        <p:nvSpPr>
          <p:cNvPr id="101" name="Google Shape;101;p5"/>
          <p:cNvSpPr txBox="1"/>
          <p:nvPr/>
        </p:nvSpPr>
        <p:spPr>
          <a:xfrm>
            <a:off x="3410712" y="1463040"/>
            <a:ext cx="2286000" cy="1783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1" i="0" lang="en-US" sz="1100" u="none" cap="none" strike="noStrike">
                <a:solidFill>
                  <a:srgbClr val="2A9D8F"/>
                </a:solidFill>
                <a:latin typeface="Calibri"/>
                <a:ea typeface="Calibri"/>
                <a:cs typeface="Calibri"/>
                <a:sym typeface="Calibri"/>
              </a:rPr>
              <a:t>Medium · 4.0B</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ourier New"/>
              <a:buNone/>
            </a:pPr>
            <a:r>
              <a:rPr b="0" i="0" lang="en-US" sz="950" u="none" cap="none" strike="noStrike">
                <a:solidFill>
                  <a:schemeClr val="dk1"/>
                </a:solidFill>
                <a:latin typeface="Courier New"/>
                <a:ea typeface="Courier New"/>
                <a:cs typeface="Courier New"/>
                <a:sym typeface="Courier New"/>
              </a:rPr>
              <a:t>qwen3:4b-instruct-2507-q4_K_M</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ID 0edcdef34593 · weights sha256:85e4a5b7b8ef…</a:t>
            </a:r>
            <a:endParaRPr b="0" i="0" sz="9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alibri"/>
              <a:buNone/>
            </a:pPr>
            <a:r>
              <a:rPr lang="en-US" sz="950" u="sng">
                <a:solidFill>
                  <a:schemeClr val="hlink"/>
                </a:solidFill>
                <a:latin typeface="Calibri"/>
                <a:ea typeface="Calibri"/>
                <a:cs typeface="Calibri"/>
                <a:sym typeface="Calibri"/>
                <a:hlinkClick r:id="rId4"/>
              </a:rPr>
              <a:t>https://ollama.com/library/qwen3:4b-instruct-2507-q4_K_M</a:t>
            </a:r>
            <a:r>
              <a:rPr lang="en-US" sz="950">
                <a:solidFill>
                  <a:schemeClr val="dk1"/>
                </a:solidFill>
                <a:latin typeface="Calibri"/>
                <a:ea typeface="Calibri"/>
                <a:cs typeface="Calibri"/>
                <a:sym typeface="Calibri"/>
              </a:rPr>
              <a:t> </a:t>
            </a:r>
            <a:endParaRPr sz="950">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2.5 GB · Apache 2.0</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100"/>
              <a:buFont typeface="Calibri"/>
              <a:buNone/>
            </a:pPr>
            <a:r>
              <a:rPr b="0" i="1" lang="en-US" sz="1100" u="none" cap="none" strike="noStrike">
                <a:solidFill>
                  <a:schemeClr val="dk1"/>
                </a:solidFill>
                <a:latin typeface="Calibri"/>
                <a:ea typeface="Calibri"/>
                <a:cs typeface="Calibri"/>
                <a:sym typeface="Calibri"/>
              </a:rPr>
              <a:t>Predicted balance; non-thinking variant, no reasoning tokens</a:t>
            </a:r>
            <a:endParaRPr b="0" i="0" sz="1100" u="none" cap="none" strike="noStrike">
              <a:solidFill>
                <a:schemeClr val="dk1"/>
              </a:solidFill>
              <a:latin typeface="Calibri"/>
              <a:ea typeface="Calibri"/>
              <a:cs typeface="Calibri"/>
              <a:sym typeface="Calibri"/>
            </a:endParaRPr>
          </a:p>
        </p:txBody>
      </p:sp>
      <p:sp>
        <p:nvSpPr>
          <p:cNvPr id="102" name="Google Shape;102;p5"/>
          <p:cNvSpPr/>
          <p:nvPr/>
        </p:nvSpPr>
        <p:spPr>
          <a:xfrm>
            <a:off x="6035040" y="914400"/>
            <a:ext cx="2606040" cy="2377440"/>
          </a:xfrm>
          <a:prstGeom prst="roundRect">
            <a:avLst>
              <a:gd fmla="val 3077" name="adj"/>
            </a:avLst>
          </a:prstGeom>
          <a:solidFill>
            <a:srgbClr val="EEF3F4"/>
          </a:solidFill>
          <a:ln cap="flat" cmpd="sng" w="12700">
            <a:solidFill>
              <a:srgbClr val="EE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6199632" y="1051560"/>
            <a:ext cx="292608" cy="292608"/>
          </a:xfrm>
          <a:prstGeom prst="ellipse">
            <a:avLst/>
          </a:prstGeom>
          <a:solidFill>
            <a:srgbClr val="E07A1F"/>
          </a:solidFill>
          <a:ln cap="flat" cmpd="sng" w="12700">
            <a:solidFill>
              <a:srgbClr val="E07A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txBox="1"/>
          <p:nvPr/>
        </p:nvSpPr>
        <p:spPr>
          <a:xfrm>
            <a:off x="6583680" y="1024128"/>
            <a:ext cx="1965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mbria"/>
              <a:buNone/>
            </a:pPr>
            <a:r>
              <a:rPr b="1" i="0" lang="en-US" sz="1500" u="none" cap="none" strike="noStrike">
                <a:solidFill>
                  <a:schemeClr val="dk2"/>
                </a:solidFill>
                <a:latin typeface="Cambria"/>
                <a:ea typeface="Cambria"/>
                <a:cs typeface="Cambria"/>
                <a:sym typeface="Cambria"/>
              </a:rPr>
              <a:t>Llama 3.1 8B Instruct</a:t>
            </a:r>
            <a:endParaRPr b="0" i="0" sz="1500" u="none" cap="none" strike="noStrike">
              <a:solidFill>
                <a:schemeClr val="dk1"/>
              </a:solidFill>
              <a:latin typeface="Calibri"/>
              <a:ea typeface="Calibri"/>
              <a:cs typeface="Calibri"/>
              <a:sym typeface="Calibri"/>
            </a:endParaRPr>
          </a:p>
        </p:txBody>
      </p:sp>
      <p:sp>
        <p:nvSpPr>
          <p:cNvPr id="105" name="Google Shape;105;p5"/>
          <p:cNvSpPr txBox="1"/>
          <p:nvPr/>
        </p:nvSpPr>
        <p:spPr>
          <a:xfrm>
            <a:off x="6199632" y="1463040"/>
            <a:ext cx="2286000" cy="1783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1F"/>
              </a:buClr>
              <a:buSzPts val="1100"/>
              <a:buFont typeface="Calibri"/>
              <a:buNone/>
            </a:pPr>
            <a:r>
              <a:rPr b="1" i="0" lang="en-US" sz="1100" u="none" cap="none" strike="noStrike">
                <a:solidFill>
                  <a:srgbClr val="E07A1F"/>
                </a:solidFill>
                <a:latin typeface="Calibri"/>
                <a:ea typeface="Calibri"/>
                <a:cs typeface="Calibri"/>
                <a:sym typeface="Calibri"/>
              </a:rPr>
              <a:t>Large · 8.0B</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ourier New"/>
              <a:buNone/>
            </a:pPr>
            <a:r>
              <a:rPr b="0" i="0" lang="en-US" sz="950" u="none" cap="none" strike="noStrike">
                <a:solidFill>
                  <a:schemeClr val="dk1"/>
                </a:solidFill>
                <a:latin typeface="Courier New"/>
                <a:ea typeface="Courier New"/>
                <a:cs typeface="Courier New"/>
                <a:sym typeface="Courier New"/>
              </a:rPr>
              <a:t>llama3.1:8b-instruct-q4_K_M</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ID 46e0c10c039e · weights sha256:667b0c1932bc…</a:t>
            </a:r>
            <a:endParaRPr b="0" i="0" sz="9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950"/>
              <a:buFont typeface="Calibri"/>
              <a:buNone/>
            </a:pPr>
            <a:r>
              <a:rPr lang="en-US" sz="950" u="sng">
                <a:solidFill>
                  <a:schemeClr val="hlink"/>
                </a:solidFill>
                <a:latin typeface="Calibri"/>
                <a:ea typeface="Calibri"/>
                <a:cs typeface="Calibri"/>
                <a:sym typeface="Calibri"/>
                <a:hlinkClick r:id="rId5"/>
              </a:rPr>
              <a:t>https://ollama.com/library/llama3.1:8b-instruct-q4_K_M</a:t>
            </a:r>
            <a:r>
              <a:rPr lang="en-US" sz="950">
                <a:solidFill>
                  <a:schemeClr val="dk1"/>
                </a:solidFill>
                <a:latin typeface="Calibri"/>
                <a:ea typeface="Calibri"/>
                <a:cs typeface="Calibri"/>
                <a:sym typeface="Calibri"/>
              </a:rPr>
              <a:t> </a:t>
            </a:r>
            <a:endParaRPr sz="950">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4.9 GB · Llama 3.1 Community License</a:t>
            </a:r>
            <a:endParaRPr b="0" i="0" sz="1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100"/>
              <a:buFont typeface="Calibri"/>
              <a:buNone/>
            </a:pPr>
            <a:r>
              <a:rPr b="0" i="1" lang="en-US" sz="1100" u="none" cap="none" strike="noStrike">
                <a:solidFill>
                  <a:schemeClr val="dk1"/>
                </a:solidFill>
                <a:latin typeface="Calibri"/>
                <a:ea typeface="Calibri"/>
                <a:cs typeface="Calibri"/>
                <a:sym typeface="Calibri"/>
              </a:rPr>
              <a:t>Accuracy ceiling a CPU server can plausibly run</a:t>
            </a:r>
            <a:endParaRPr b="0" i="0" sz="1100" u="none" cap="none" strike="noStrike">
              <a:solidFill>
                <a:schemeClr val="dk1"/>
              </a:solidFill>
              <a:latin typeface="Calibri"/>
              <a:ea typeface="Calibri"/>
              <a:cs typeface="Calibri"/>
              <a:sym typeface="Calibri"/>
            </a:endParaRPr>
          </a:p>
        </p:txBody>
      </p:sp>
      <p:sp>
        <p:nvSpPr>
          <p:cNvPr id="106" name="Google Shape;106;p5"/>
          <p:cNvSpPr txBox="1"/>
          <p:nvPr/>
        </p:nvSpPr>
        <p:spPr>
          <a:xfrm>
            <a:off x="457200" y="3520440"/>
            <a:ext cx="8229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Calibri"/>
              <a:buNone/>
            </a:pPr>
            <a:r>
              <a:rPr b="1" i="0" lang="en-US" sz="1150" u="none" cap="none" strike="noStrike">
                <a:solidFill>
                  <a:schemeClr val="dk1"/>
                </a:solidFill>
                <a:latin typeface="Calibri"/>
                <a:ea typeface="Calibri"/>
                <a:cs typeface="Calibri"/>
                <a:sym typeface="Calibri"/>
              </a:rPr>
              <a:t>Why this set: </a:t>
            </a:r>
            <a:r>
              <a:rPr b="0" i="0" lang="en-US" sz="1150" u="none" cap="none" strike="noStrike">
                <a:solidFill>
                  <a:schemeClr val="dk1"/>
                </a:solidFill>
                <a:latin typeface="Calibri"/>
                <a:ea typeface="Calibri"/>
                <a:cs typeface="Calibri"/>
                <a:sym typeface="Calibri"/>
              </a:rPr>
              <a:t>parameters roughly double at each step, so the speed-versus-accuracy trade-off is visible across what a CPU server can run. Phi-4 Mini 3.8B was dropped before benchmarking because it duplicated the 4B class. </a:t>
            </a:r>
            <a:r>
              <a:rPr b="1" i="0" lang="en-US" sz="1150" u="none" cap="none" strike="noStrike">
                <a:solidFill>
                  <a:schemeClr val="dk1"/>
                </a:solidFill>
                <a:latin typeface="Calibri"/>
                <a:ea typeface="Calibri"/>
                <a:cs typeface="Calibri"/>
                <a:sym typeface="Calibri"/>
              </a:rPr>
              <a:t>Held constant: </a:t>
            </a:r>
            <a:r>
              <a:rPr b="0" i="0" lang="en-US" sz="1150" u="none" cap="none" strike="noStrike">
                <a:solidFill>
                  <a:schemeClr val="dk1"/>
                </a:solidFill>
                <a:latin typeface="Calibri"/>
                <a:ea typeface="Calibri"/>
                <a:cs typeface="Calibri"/>
                <a:sym typeface="Calibri"/>
              </a:rPr>
              <a:t>Q4_K_M weights, Ollama 0.12.3, same prompt, JSON mode, temperature 0, num_ctx 4096. IDs recorded locally after pulling (evidence/step4/ollama-list.txt).</a:t>
            </a:r>
            <a:endParaRPr b="0" i="0" sz="1150" u="none" cap="none" strike="noStrike">
              <a:solidFill>
                <a:schemeClr val="dk1"/>
              </a:solidFill>
              <a:latin typeface="Calibri"/>
              <a:ea typeface="Calibri"/>
              <a:cs typeface="Calibri"/>
              <a:sym typeface="Calibri"/>
            </a:endParaRPr>
          </a:p>
        </p:txBody>
      </p:sp>
      <p:sp>
        <p:nvSpPr>
          <p:cNvPr id="107" name="Google Shape;107;p5"/>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Golden set: 160 tickets, κ = 0.896, frozen before testing</a:t>
            </a:r>
            <a:endParaRPr sz="2200"/>
          </a:p>
        </p:txBody>
      </p:sp>
      <p:sp>
        <p:nvSpPr>
          <p:cNvPr id="114" name="Google Shape;114;p6"/>
          <p:cNvSpPr txBox="1"/>
          <p:nvPr/>
        </p:nvSpPr>
        <p:spPr>
          <a:xfrm>
            <a:off x="457200" y="868680"/>
            <a:ext cx="1463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600"/>
              <a:buFont typeface="Cambria"/>
              <a:buNone/>
            </a:pPr>
            <a:r>
              <a:rPr b="1" i="0" lang="en-US" sz="2600" u="none" cap="none" strike="noStrike">
                <a:solidFill>
                  <a:schemeClr val="dk2"/>
                </a:solidFill>
                <a:latin typeface="Cambria"/>
                <a:ea typeface="Cambria"/>
                <a:cs typeface="Cambria"/>
                <a:sym typeface="Cambria"/>
              </a:rPr>
              <a:t>160</a:t>
            </a:r>
            <a:endParaRPr b="0" i="0" sz="2600" u="none" cap="none" strike="noStrike">
              <a:solidFill>
                <a:schemeClr val="dk1"/>
              </a:solidFill>
              <a:latin typeface="Calibri"/>
              <a:ea typeface="Calibri"/>
              <a:cs typeface="Calibri"/>
              <a:sym typeface="Calibri"/>
            </a:endParaRPr>
          </a:p>
        </p:txBody>
      </p:sp>
      <p:sp>
        <p:nvSpPr>
          <p:cNvPr id="115" name="Google Shape;115;p6"/>
          <p:cNvSpPr txBox="1"/>
          <p:nvPr/>
        </p:nvSpPr>
        <p:spPr>
          <a:xfrm>
            <a:off x="457200" y="1325880"/>
            <a:ext cx="14630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tickets, rows 9840–9999</a:t>
            </a:r>
            <a:endParaRPr b="0" i="0" sz="1000" u="none" cap="none" strike="noStrike">
              <a:solidFill>
                <a:schemeClr val="dk1"/>
              </a:solidFill>
              <a:latin typeface="Calibri"/>
              <a:ea typeface="Calibri"/>
              <a:cs typeface="Calibri"/>
              <a:sym typeface="Calibri"/>
            </a:endParaRPr>
          </a:p>
        </p:txBody>
      </p:sp>
      <p:sp>
        <p:nvSpPr>
          <p:cNvPr id="116" name="Google Shape;116;p6"/>
          <p:cNvSpPr txBox="1"/>
          <p:nvPr/>
        </p:nvSpPr>
        <p:spPr>
          <a:xfrm>
            <a:off x="2011680" y="868680"/>
            <a:ext cx="1463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κ 0.896</a:t>
            </a:r>
            <a:endParaRPr b="0" i="0" sz="2600" u="none" cap="none" strike="noStrike">
              <a:solidFill>
                <a:schemeClr val="dk1"/>
              </a:solidFill>
              <a:latin typeface="Calibri"/>
              <a:ea typeface="Calibri"/>
              <a:cs typeface="Calibri"/>
              <a:sym typeface="Calibri"/>
            </a:endParaRPr>
          </a:p>
        </p:txBody>
      </p:sp>
      <p:sp>
        <p:nvSpPr>
          <p:cNvPr id="117" name="Google Shape;117;p6"/>
          <p:cNvSpPr txBox="1"/>
          <p:nvPr/>
        </p:nvSpPr>
        <p:spPr>
          <a:xfrm>
            <a:off x="2011680" y="1325880"/>
            <a:ext cx="14630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Cohen's kappa (146/160 agree)</a:t>
            </a:r>
            <a:endParaRPr b="0" i="0" sz="1000" u="none" cap="none" strike="noStrike">
              <a:solidFill>
                <a:schemeClr val="dk1"/>
              </a:solidFill>
              <a:latin typeface="Calibri"/>
              <a:ea typeface="Calibri"/>
              <a:cs typeface="Calibri"/>
              <a:sym typeface="Calibri"/>
            </a:endParaRPr>
          </a:p>
        </p:txBody>
      </p:sp>
      <p:sp>
        <p:nvSpPr>
          <p:cNvPr id="118" name="Google Shape;118;p6"/>
          <p:cNvSpPr txBox="1"/>
          <p:nvPr/>
        </p:nvSpPr>
        <p:spPr>
          <a:xfrm>
            <a:off x="3566160" y="868680"/>
            <a:ext cx="1463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2600"/>
              <a:buFont typeface="Cambria"/>
              <a:buNone/>
            </a:pPr>
            <a:r>
              <a:rPr b="1" i="0" lang="en-US" sz="2600" u="none" cap="none" strike="noStrike">
                <a:solidFill>
                  <a:schemeClr val="accent2"/>
                </a:solidFill>
                <a:latin typeface="Cambria"/>
                <a:ea typeface="Cambria"/>
                <a:cs typeface="Cambria"/>
                <a:sym typeface="Cambria"/>
              </a:rPr>
              <a:t>14</a:t>
            </a:r>
            <a:endParaRPr b="0" i="0" sz="2600" u="none" cap="none" strike="noStrike">
              <a:solidFill>
                <a:schemeClr val="dk1"/>
              </a:solidFill>
              <a:latin typeface="Calibri"/>
              <a:ea typeface="Calibri"/>
              <a:cs typeface="Calibri"/>
              <a:sym typeface="Calibri"/>
            </a:endParaRPr>
          </a:p>
        </p:txBody>
      </p:sp>
      <p:sp>
        <p:nvSpPr>
          <p:cNvPr id="119" name="Google Shape;119;p6"/>
          <p:cNvSpPr txBox="1"/>
          <p:nvPr/>
        </p:nvSpPr>
        <p:spPr>
          <a:xfrm>
            <a:off x="3566160" y="1325880"/>
            <a:ext cx="14630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b="0" i="0" lang="en-US" sz="1000" u="none" cap="none" strike="noStrike">
                <a:solidFill>
                  <a:schemeClr val="dk1"/>
                </a:solidFill>
                <a:latin typeface="Calibri"/>
                <a:ea typeface="Calibri"/>
                <a:cs typeface="Calibri"/>
                <a:sym typeface="Calibri"/>
              </a:rPr>
              <a:t>disagreements, all resolved and recorded</a:t>
            </a:r>
            <a:endParaRPr b="0" i="0" sz="1000" u="none" cap="none" strike="noStrike">
              <a:solidFill>
                <a:schemeClr val="dk1"/>
              </a:solidFill>
              <a:latin typeface="Calibri"/>
              <a:ea typeface="Calibri"/>
              <a:cs typeface="Calibri"/>
              <a:sym typeface="Calibri"/>
            </a:endParaRPr>
          </a:p>
        </p:txBody>
      </p:sp>
      <p:sp>
        <p:nvSpPr>
          <p:cNvPr id="120" name="Google Shape;120;p6"/>
          <p:cNvSpPr txBox="1"/>
          <p:nvPr/>
        </p:nvSpPr>
        <p:spPr>
          <a:xfrm>
            <a:off x="5120640" y="868680"/>
            <a:ext cx="1645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600"/>
              <a:buFont typeface="Cambria"/>
              <a:buNone/>
            </a:pPr>
            <a:r>
              <a:rPr b="1" i="0" lang="en-US" sz="2600" u="none" cap="none" strike="noStrike">
                <a:solidFill>
                  <a:schemeClr val="dk2"/>
                </a:solidFill>
                <a:latin typeface="Cambria"/>
                <a:ea typeface="Cambria"/>
                <a:cs typeface="Cambria"/>
                <a:sym typeface="Cambria"/>
              </a:rPr>
              <a:t>3</a:t>
            </a:r>
            <a:r>
              <a:rPr b="1" lang="en-US" sz="2600">
                <a:solidFill>
                  <a:schemeClr val="dk2"/>
                </a:solidFill>
                <a:latin typeface="Cambria"/>
                <a:ea typeface="Cambria"/>
                <a:cs typeface="Cambria"/>
                <a:sym typeface="Cambria"/>
              </a:rPr>
              <a:t>4</a:t>
            </a:r>
            <a:r>
              <a:rPr b="1" i="0" lang="en-US" sz="2600" u="none" cap="none" strike="noStrike">
                <a:solidFill>
                  <a:schemeClr val="dk2"/>
                </a:solidFill>
                <a:latin typeface="Cambria"/>
                <a:ea typeface="Cambria"/>
                <a:cs typeface="Cambria"/>
                <a:sym typeface="Cambria"/>
              </a:rPr>
              <a:t> / 160</a:t>
            </a:r>
            <a:endParaRPr b="0" i="0" sz="2600" u="none" cap="none" strike="noStrike">
              <a:solidFill>
                <a:schemeClr val="dk1"/>
              </a:solidFill>
              <a:latin typeface="Calibri"/>
              <a:ea typeface="Calibri"/>
              <a:cs typeface="Calibri"/>
              <a:sym typeface="Calibri"/>
            </a:endParaRPr>
          </a:p>
        </p:txBody>
      </p:sp>
      <p:sp>
        <p:nvSpPr>
          <p:cNvPr id="121" name="Google Shape;121;p6"/>
          <p:cNvSpPr txBox="1"/>
          <p:nvPr/>
        </p:nvSpPr>
        <p:spPr>
          <a:xfrm>
            <a:off x="5120640" y="1325880"/>
            <a:ext cx="16459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33 / 160 changed at first check (20.6%); 34 after resolution</a:t>
            </a:r>
            <a:endParaRPr sz="1000">
              <a:solidFill>
                <a:schemeClr val="dk1"/>
              </a:solidFill>
              <a:latin typeface="Calibri"/>
              <a:ea typeface="Calibri"/>
              <a:cs typeface="Calibri"/>
              <a:sym typeface="Calibri"/>
            </a:endParaRPr>
          </a:p>
        </p:txBody>
      </p:sp>
      <p:sp>
        <p:nvSpPr>
          <p:cNvPr id="122" name="Google Shape;122;p6"/>
          <p:cNvSpPr txBox="1"/>
          <p:nvPr/>
        </p:nvSpPr>
        <p:spPr>
          <a:xfrm>
            <a:off x="457200" y="187452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Labelling protocol (labelling_protocol.txt)</a:t>
            </a:r>
            <a:endParaRPr b="0" i="0" sz="1300" u="none" cap="none" strike="noStrike">
              <a:solidFill>
                <a:schemeClr val="dk1"/>
              </a:solidFill>
              <a:latin typeface="Calibri"/>
              <a:ea typeface="Calibri"/>
              <a:cs typeface="Calibri"/>
              <a:sym typeface="Calibri"/>
            </a:endParaRPr>
          </a:p>
        </p:txBody>
      </p:sp>
      <p:sp>
        <p:nvSpPr>
          <p:cNvPr id="123" name="Google Shape;123;p6"/>
          <p:cNvSpPr txBox="1"/>
          <p:nvPr/>
        </p:nvSpPr>
        <p:spPr>
          <a:xfrm>
            <a:off x="457200" y="2194560"/>
            <a:ext cx="4023360" cy="160020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Decide by the customer's problem and the resolution they want (added in revision 2, 7 Oct)</a:t>
            </a:r>
            <a:endParaRPr b="0" i="0" sz="110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Several fits → the most-mentioned theme; ties → the order of the category list</a:t>
            </a:r>
            <a:endParaRPr b="0" i="0" sz="110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Mortgage outranks loan or debt; Money transfer is the lowest priority</a:t>
            </a:r>
            <a:endParaRPr b="0" i="0" sz="1100" u="none" cap="none" strike="noStrike">
              <a:solidFill>
                <a:schemeClr val="dk1"/>
              </a:solidFill>
              <a:latin typeface="Calibri"/>
              <a:ea typeface="Calibri"/>
              <a:cs typeface="Calibri"/>
              <a:sym typeface="Calibri"/>
            </a:endParaRPr>
          </a:p>
          <a:p>
            <a:pPr indent="-152400" lvl="0" marL="152400" marR="0" rtl="0" algn="l">
              <a:spcBef>
                <a:spcPts val="400"/>
              </a:spcBef>
              <a:spcAft>
                <a:spcPts val="0"/>
              </a:spcAft>
              <a:buClr>
                <a:schemeClr val="dk1"/>
              </a:buClr>
              <a:buSzPts val="1100"/>
              <a:buFont typeface="Calibri"/>
              <a:buChar char="•"/>
            </a:pPr>
            <a:r>
              <a:rPr b="0" i="0" lang="en-US" sz="1100" u="none" cap="none" strike="noStrike">
                <a:solidFill>
                  <a:schemeClr val="dk1"/>
                </a:solidFill>
                <a:latin typeface="Calibri"/>
                <a:ea typeface="Calibri"/>
                <a:cs typeface="Calibri"/>
                <a:sym typeface="Calibri"/>
              </a:rPr>
              <a:t>Credit card excludes credit-card debt; Debt collection includes collector activity after settlement</a:t>
            </a:r>
            <a:endParaRPr b="0" i="0" sz="1100" u="none" cap="none" strike="noStrike">
              <a:solidFill>
                <a:schemeClr val="dk1"/>
              </a:solidFill>
              <a:latin typeface="Calibri"/>
              <a:ea typeface="Calibri"/>
              <a:cs typeface="Calibri"/>
              <a:sym typeface="Calibri"/>
            </a:endParaRPr>
          </a:p>
        </p:txBody>
      </p:sp>
      <p:sp>
        <p:nvSpPr>
          <p:cNvPr id="124" name="Google Shape;124;p6"/>
          <p:cNvSpPr txBox="1"/>
          <p:nvPr/>
        </p:nvSpPr>
        <p:spPr>
          <a:xfrm>
            <a:off x="457200" y="3886200"/>
            <a:ext cx="4023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1" lang="en-US" sz="1000" u="none" cap="none" strike="noStrike">
                <a:solidFill>
                  <a:schemeClr val="accent5"/>
                </a:solidFill>
                <a:latin typeface="Calibri"/>
                <a:ea typeface="Calibri"/>
                <a:cs typeface="Calibri"/>
                <a:sym typeface="Calibri"/>
              </a:rPr>
              <a:t>Process: </a:t>
            </a:r>
            <a:r>
              <a:rPr i="1" lang="en-US" sz="1000">
                <a:solidFill>
                  <a:schemeClr val="accent5"/>
                </a:solidFill>
                <a:latin typeface="Calibri"/>
                <a:ea typeface="Calibri"/>
                <a:cs typeface="Calibri"/>
                <a:sym typeface="Calibri"/>
              </a:rPr>
              <a:t> Two people labelled every ticket independently, without </a:t>
            </a:r>
            <a:endParaRPr i="1" sz="1000">
              <a:solidFill>
                <a:schemeClr val="accent5"/>
              </a:solidFill>
              <a:latin typeface="Calibri"/>
              <a:ea typeface="Calibri"/>
              <a:cs typeface="Calibri"/>
              <a:sym typeface="Calibri"/>
            </a:endParaRPr>
          </a:p>
          <a:p>
            <a:pPr indent="0" lvl="0" marL="0" rtl="0" algn="l">
              <a:spcBef>
                <a:spcPts val="0"/>
              </a:spcBef>
              <a:spcAft>
                <a:spcPts val="0"/>
              </a:spcAft>
              <a:buNone/>
            </a:pPr>
            <a:r>
              <a:rPr i="1" lang="en-US" sz="1000">
                <a:solidFill>
                  <a:schemeClr val="accent5"/>
                </a:solidFill>
                <a:latin typeface="Calibri"/>
                <a:ea typeface="Calibri"/>
                <a:cs typeface="Calibri"/>
                <a:sym typeface="Calibri"/>
              </a:rPr>
              <a:t>conferring. They then discussed all 14 disagreements and recorded the </a:t>
            </a:r>
            <a:endParaRPr i="1" sz="1000">
              <a:solidFill>
                <a:schemeClr val="accent5"/>
              </a:solidFill>
              <a:latin typeface="Calibri"/>
              <a:ea typeface="Calibri"/>
              <a:cs typeface="Calibri"/>
              <a:sym typeface="Calibri"/>
            </a:endParaRPr>
          </a:p>
          <a:p>
            <a:pPr indent="0" lvl="0" marL="0" rtl="0" algn="l">
              <a:spcBef>
                <a:spcPts val="0"/>
              </a:spcBef>
              <a:spcAft>
                <a:spcPts val="0"/>
              </a:spcAft>
              <a:buNone/>
            </a:pPr>
            <a:r>
              <a:rPr i="1" lang="en-US" sz="1000">
                <a:solidFill>
                  <a:schemeClr val="accent5"/>
                </a:solidFill>
                <a:latin typeface="Calibri"/>
                <a:ea typeface="Calibri"/>
                <a:cs typeface="Calibri"/>
                <a:sym typeface="Calibri"/>
              </a:rPr>
              <a:t>final labels.</a:t>
            </a:r>
            <a:endParaRPr i="1" sz="1000">
              <a:solidFill>
                <a:schemeClr val="accent5"/>
              </a:solidFill>
              <a:latin typeface="Calibri"/>
              <a:ea typeface="Calibri"/>
              <a:cs typeface="Calibri"/>
              <a:sym typeface="Calibri"/>
            </a:endParaRPr>
          </a:p>
          <a:p>
            <a:pPr indent="0" lvl="0" marL="0" marR="0" rtl="0" algn="l">
              <a:spcBef>
                <a:spcPts val="0"/>
              </a:spcBef>
              <a:spcAft>
                <a:spcPts val="0"/>
              </a:spcAft>
              <a:buClr>
                <a:schemeClr val="accent5"/>
              </a:buClr>
              <a:buSzPts val="1000"/>
              <a:buFont typeface="Calibri"/>
              <a:buNone/>
            </a:pPr>
            <a:r>
              <a:t/>
            </a:r>
            <a:endParaRPr i="1" sz="1000">
              <a:solidFill>
                <a:schemeClr val="accent5"/>
              </a:solidFill>
              <a:latin typeface="Calibri"/>
              <a:ea typeface="Calibri"/>
              <a:cs typeface="Calibri"/>
              <a:sym typeface="Calibri"/>
            </a:endParaRPr>
          </a:p>
        </p:txBody>
      </p:sp>
      <p:sp>
        <p:nvSpPr>
          <p:cNvPr id="125" name="Google Shape;125;p6"/>
          <p:cNvSpPr txBox="1"/>
          <p:nvPr/>
        </p:nvSpPr>
        <p:spPr>
          <a:xfrm>
            <a:off x="4754880" y="1874520"/>
            <a:ext cx="39319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Resolved disagreements</a:t>
            </a:r>
            <a:endParaRPr b="0" i="0" sz="1300" u="none" cap="none" strike="noStrike">
              <a:solidFill>
                <a:schemeClr val="dk1"/>
              </a:solidFill>
              <a:latin typeface="Calibri"/>
              <a:ea typeface="Calibri"/>
              <a:cs typeface="Calibri"/>
              <a:sym typeface="Calibri"/>
            </a:endParaRPr>
          </a:p>
        </p:txBody>
      </p:sp>
      <p:sp>
        <p:nvSpPr>
          <p:cNvPr id="126" name="Google Shape;126;p6"/>
          <p:cNvSpPr/>
          <p:nvPr/>
        </p:nvSpPr>
        <p:spPr>
          <a:xfrm>
            <a:off x="4754880" y="2194560"/>
            <a:ext cx="3931920" cy="868680"/>
          </a:xfrm>
          <a:prstGeom prst="roundRect">
            <a:avLst>
              <a:gd fmla="val 8421" name="adj"/>
            </a:avLst>
          </a:prstGeom>
          <a:solidFill>
            <a:srgbClr val="EEF3F4"/>
          </a:solidFill>
          <a:ln cap="flat" cmpd="sng" w="12700">
            <a:solidFill>
              <a:srgbClr val="EE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txBox="1"/>
          <p:nvPr/>
        </p:nvSpPr>
        <p:spPr>
          <a:xfrm>
            <a:off x="4864608" y="2267712"/>
            <a:ext cx="3712464"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Calibri"/>
              <a:buNone/>
            </a:pPr>
            <a:r>
              <a:rPr b="1" i="0" lang="en-US" sz="1050" u="none" cap="none" strike="noStrike">
                <a:solidFill>
                  <a:schemeClr val="dk1"/>
                </a:solidFill>
                <a:latin typeface="Calibri"/>
                <a:ea typeface="Calibri"/>
                <a:cs typeface="Calibri"/>
                <a:sym typeface="Calibri"/>
              </a:rPr>
              <a:t>Row 9928: loan from Western Finance, then collection pressure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Labeller: Consumer loan · Reviewer: Debt collection → Debt collection (collection activity dominates the complaint)</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4754880" y="3200400"/>
            <a:ext cx="3931920" cy="868680"/>
          </a:xfrm>
          <a:prstGeom prst="roundRect">
            <a:avLst>
              <a:gd fmla="val 8421" name="adj"/>
            </a:avLst>
          </a:prstGeom>
          <a:solidFill>
            <a:srgbClr val="EEF3F4"/>
          </a:solidFill>
          <a:ln cap="flat" cmpd="sng" w="12700">
            <a:solidFill>
              <a:srgbClr val="EE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txBox="1"/>
          <p:nvPr/>
        </p:nvSpPr>
        <p:spPr>
          <a:xfrm>
            <a:off x="4864608" y="3273552"/>
            <a:ext cx="3712464"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Calibri"/>
              <a:buNone/>
            </a:pPr>
            <a:r>
              <a:rPr b="1" i="0" lang="en-US" sz="1050" u="none" cap="none" strike="noStrike">
                <a:solidFill>
                  <a:schemeClr val="dk1"/>
                </a:solidFill>
                <a:latin typeface="Calibri"/>
                <a:ea typeface="Calibri"/>
                <a:cs typeface="Calibri"/>
                <a:sym typeface="Calibri"/>
              </a:rPr>
              <a:t>Row 9880: Cash App card activation, account and money taken</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Labeller: Bank account · Reviewer: Money transfer → Money transfer (payment-app service, not a bank)</a:t>
            </a:r>
            <a:endParaRPr b="0" i="0" sz="1050" u="none" cap="none" strike="noStrike">
              <a:solidFill>
                <a:schemeClr val="dk1"/>
              </a:solidFill>
              <a:latin typeface="Calibri"/>
              <a:ea typeface="Calibri"/>
              <a:cs typeface="Calibri"/>
              <a:sym typeface="Calibri"/>
            </a:endParaRPr>
          </a:p>
        </p:txBody>
      </p:sp>
      <p:sp>
        <p:nvSpPr>
          <p:cNvPr id="130" name="Google Shape;130;p6"/>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
        <p:nvSpPr>
          <p:cNvPr id="131" name="Google Shape;131;p6"/>
          <p:cNvSpPr/>
          <p:nvPr/>
        </p:nvSpPr>
        <p:spPr>
          <a:xfrm>
            <a:off x="4754950" y="4206225"/>
            <a:ext cx="3931800" cy="274200"/>
          </a:xfrm>
          <a:prstGeom prst="roundRect">
            <a:avLst>
              <a:gd fmla="val 8421" name="adj"/>
            </a:avLst>
          </a:prstGeom>
          <a:solidFill>
            <a:srgbClr val="EEF3F4"/>
          </a:solidFill>
          <a:ln cap="flat" cmpd="sng" w="12700">
            <a:solidFill>
              <a:srgbClr val="EE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050"/>
              <a:buFont typeface="Calibri"/>
              <a:buNone/>
            </a:pPr>
            <a:r>
              <a:rPr b="1" lang="en-US" sz="1050">
                <a:solidFill>
                  <a:schemeClr val="dk1"/>
                </a:solidFill>
                <a:latin typeface="Calibri"/>
                <a:ea typeface="Calibri"/>
                <a:cs typeface="Calibri"/>
                <a:sym typeface="Calibri"/>
              </a:rPr>
              <a:t>… and 12 more, listed in evidence/step1/agreement.txt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Test environment: service and load generator kept apart</a:t>
            </a:r>
            <a:endParaRPr sz="2200"/>
          </a:p>
        </p:txBody>
      </p:sp>
      <p:sp>
        <p:nvSpPr>
          <p:cNvPr id="138" name="Google Shape;138;p7"/>
          <p:cNvSpPr/>
          <p:nvPr/>
        </p:nvSpPr>
        <p:spPr>
          <a:xfrm>
            <a:off x="457200" y="868680"/>
            <a:ext cx="4023360" cy="2103120"/>
          </a:xfrm>
          <a:prstGeom prst="roundRect">
            <a:avLst>
              <a:gd fmla="val 3478"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txBox="1"/>
          <p:nvPr/>
        </p:nvSpPr>
        <p:spPr>
          <a:xfrm>
            <a:off x="594360" y="960120"/>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Service </a:t>
            </a:r>
            <a:r>
              <a:rPr b="1" lang="en-US" sz="1300">
                <a:solidFill>
                  <a:schemeClr val="dk2"/>
                </a:solidFill>
                <a:latin typeface="Calibri"/>
                <a:ea typeface="Calibri"/>
                <a:cs typeface="Calibri"/>
                <a:sym typeface="Calibri"/>
              </a:rPr>
              <a:t>Laptop</a:t>
            </a:r>
            <a:r>
              <a:rPr b="1" i="0" lang="en-US" sz="1300" u="none" cap="none" strike="noStrike">
                <a:solidFill>
                  <a:schemeClr val="dk2"/>
                </a:solidFill>
                <a:latin typeface="Calibri"/>
                <a:ea typeface="Calibri"/>
                <a:cs typeface="Calibri"/>
                <a:sym typeface="Calibri"/>
              </a:rPr>
              <a:t>: API + PostgreSQL + Ollama</a:t>
            </a:r>
            <a:endParaRPr b="0" i="0" sz="1300" u="none" cap="none" strike="noStrike">
              <a:solidFill>
                <a:schemeClr val="dk1"/>
              </a:solidFill>
              <a:latin typeface="Calibri"/>
              <a:ea typeface="Calibri"/>
              <a:cs typeface="Calibri"/>
              <a:sym typeface="Calibri"/>
            </a:endParaRPr>
          </a:p>
        </p:txBody>
      </p:sp>
      <p:sp>
        <p:nvSpPr>
          <p:cNvPr id="140" name="Google Shape;140;p7"/>
          <p:cNvSpPr txBox="1"/>
          <p:nvPr/>
        </p:nvSpPr>
        <p:spPr>
          <a:xfrm>
            <a:off x="594360" y="1280160"/>
            <a:ext cx="3749040" cy="16459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Lenovo 83JT laptop, Intel Core Ultra 7 256V: 4 performance + 4 low-power cores, 8 threads</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16 GB RAM; Docker VM limited to 8 CPUs / 7.5 GiB</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Windows 11 Home 10.0.26200; Docker 29.5.3, Compose v5.1.4</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Ollama 0.12.3: library=cpu, '100% CPU', NUM_PARALLEL 1</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Wi-Fi 7 adapter; on mains power, sleep disabled</a:t>
            </a:r>
            <a:endParaRPr b="0" i="0" sz="1050" u="none" cap="none" strike="noStrike">
              <a:solidFill>
                <a:schemeClr val="dk1"/>
              </a:solidFill>
              <a:latin typeface="Calibri"/>
              <a:ea typeface="Calibri"/>
              <a:cs typeface="Calibri"/>
              <a:sym typeface="Calibri"/>
            </a:endParaRPr>
          </a:p>
        </p:txBody>
      </p:sp>
      <p:sp>
        <p:nvSpPr>
          <p:cNvPr id="141" name="Google Shape;141;p7"/>
          <p:cNvSpPr/>
          <p:nvPr/>
        </p:nvSpPr>
        <p:spPr>
          <a:xfrm>
            <a:off x="4663440" y="868680"/>
            <a:ext cx="4023360" cy="2103120"/>
          </a:xfrm>
          <a:prstGeom prst="roundRect">
            <a:avLst>
              <a:gd fmla="val 3478" name="adj"/>
            </a:avLst>
          </a:prstGeom>
          <a:solidFill>
            <a:srgbClr val="FBEBDD"/>
          </a:solidFill>
          <a:ln cap="flat" cmpd="sng" w="12700">
            <a:solidFill>
              <a:srgbClr val="FB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txBox="1"/>
          <p:nvPr/>
        </p:nvSpPr>
        <p:spPr>
          <a:xfrm>
            <a:off x="4800600" y="960120"/>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Load-generator PC: JMeter only</a:t>
            </a:r>
            <a:endParaRPr b="0" i="0" sz="1300" u="none" cap="none" strike="noStrike">
              <a:solidFill>
                <a:schemeClr val="dk1"/>
              </a:solidFill>
              <a:latin typeface="Calibri"/>
              <a:ea typeface="Calibri"/>
              <a:cs typeface="Calibri"/>
              <a:sym typeface="Calibri"/>
            </a:endParaRPr>
          </a:p>
        </p:txBody>
      </p:sp>
      <p:sp>
        <p:nvSpPr>
          <p:cNvPr id="143" name="Google Shape;143;p7"/>
          <p:cNvSpPr txBox="1"/>
          <p:nvPr/>
        </p:nvSpPr>
        <p:spPr>
          <a:xfrm>
            <a:off x="4800600" y="1280160"/>
            <a:ext cx="3749040" cy="16459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MSI MS-7C91 desktop, AMD Ryzen 5 3600, 6 cores / 12 threads</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32 GB RAM; Windows 10 Pro 22H2</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Apache JMeter 5.6.3 on Temurin OpenJDK 17.0.20.1, no plugins</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Wired Ethernet 1 Gbps to the same router</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 Never co-hosted with the service</a:t>
            </a:r>
            <a:endParaRPr b="0" i="0" sz="1050" u="none" cap="none" strike="noStrike">
              <a:solidFill>
                <a:schemeClr val="dk1"/>
              </a:solidFill>
              <a:latin typeface="Calibri"/>
              <a:ea typeface="Calibri"/>
              <a:cs typeface="Calibri"/>
              <a:sym typeface="Calibri"/>
            </a:endParaRPr>
          </a:p>
        </p:txBody>
      </p:sp>
      <p:sp>
        <p:nvSpPr>
          <p:cNvPr id="144" name="Google Shape;144;p7"/>
          <p:cNvSpPr txBox="1"/>
          <p:nvPr/>
        </p:nvSpPr>
        <p:spPr>
          <a:xfrm>
            <a:off x="457200" y="310896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How results scale to the client</a:t>
            </a:r>
            <a:endParaRPr b="0" i="0" sz="1300" u="none" cap="none" strike="noStrike">
              <a:solidFill>
                <a:schemeClr val="dk1"/>
              </a:solidFill>
              <a:latin typeface="Calibri"/>
              <a:ea typeface="Calibri"/>
              <a:cs typeface="Calibri"/>
              <a:sym typeface="Calibri"/>
            </a:endParaRPr>
          </a:p>
        </p:txBody>
      </p:sp>
      <p:sp>
        <p:nvSpPr>
          <p:cNvPr id="145" name="Google Shape;145;p7"/>
          <p:cNvSpPr txBox="1"/>
          <p:nvPr/>
        </p:nvSpPr>
        <p:spPr>
          <a:xfrm>
            <a:off x="457200" y="3401568"/>
            <a:ext cx="4023360" cy="12801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050">
                <a:solidFill>
                  <a:schemeClr val="dk1"/>
                </a:solidFill>
                <a:latin typeface="Calibri"/>
                <a:ea typeface="Calibri"/>
                <a:cs typeface="Calibri"/>
                <a:sym typeface="Calibri"/>
              </a:rPr>
              <a:t>One Ollama inference stream limits classification throughput. A simple </a:t>
            </a:r>
            <a:endParaRPr sz="1050">
              <a:solidFill>
                <a:schemeClr val="dk1"/>
              </a:solidFill>
              <a:latin typeface="Calibri"/>
              <a:ea typeface="Calibri"/>
              <a:cs typeface="Calibri"/>
              <a:sym typeface="Calibri"/>
            </a:endParaRPr>
          </a:p>
          <a:p>
            <a:pPr indent="0" lvl="0" marL="0" rtl="0" algn="l">
              <a:spcBef>
                <a:spcPts val="0"/>
              </a:spcBef>
              <a:spcAft>
                <a:spcPts val="0"/>
              </a:spcAft>
              <a:buNone/>
            </a:pPr>
            <a:r>
              <a:rPr lang="en-US" sz="1050">
                <a:solidFill>
                  <a:schemeClr val="dk1"/>
                </a:solidFill>
                <a:latin typeface="Calibri"/>
                <a:ea typeface="Calibri"/>
                <a:cs typeface="Calibri"/>
                <a:sym typeface="Calibri"/>
              </a:rPr>
              <a:t>capacity estimate is 3,600 divided by mean service time in seconds. Faster CPUs or separate model instances can increase capacity. Client-server measurements must verify the increase.</a:t>
            </a:r>
            <a:endParaRPr sz="10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146" name="Google Shape;146;p7"/>
          <p:cNvSpPr txBox="1"/>
          <p:nvPr/>
        </p:nvSpPr>
        <p:spPr>
          <a:xfrm>
            <a:off x="4663440" y="310896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Limitations</a:t>
            </a:r>
            <a:endParaRPr b="0" i="0" sz="1300" u="none" cap="none" strike="noStrike">
              <a:solidFill>
                <a:schemeClr val="dk1"/>
              </a:solidFill>
              <a:latin typeface="Calibri"/>
              <a:ea typeface="Calibri"/>
              <a:cs typeface="Calibri"/>
              <a:sym typeface="Calibri"/>
            </a:endParaRPr>
          </a:p>
        </p:txBody>
      </p:sp>
      <p:sp>
        <p:nvSpPr>
          <p:cNvPr id="147" name="Google Shape;147;p7"/>
          <p:cNvSpPr txBox="1"/>
          <p:nvPr/>
        </p:nvSpPr>
        <p:spPr>
          <a:xfrm>
            <a:off x="4663440" y="3401568"/>
            <a:ext cx="4023360" cy="12801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Laptop thermals and hybrid cores; WSL2 VM overhead</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Home Wi-Fi, not isolated: JMeter time exceeds server time by a median of 34 ms (p95 112 ms)</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About 35 POSTs per 20-min window, so p99 ≈ maximum</a:t>
            </a:r>
            <a:endParaRPr b="0" i="0" sz="1050" u="none" cap="none" strike="noStrike">
              <a:solidFill>
                <a:schemeClr val="dk1"/>
              </a:solidFill>
              <a:latin typeface="Calibri"/>
              <a:ea typeface="Calibri"/>
              <a:cs typeface="Calibri"/>
              <a:sym typeface="Calibri"/>
            </a:endParaRPr>
          </a:p>
          <a:p>
            <a:pPr indent="-152400" lvl="0" marL="152400" marR="0" rtl="0" algn="l">
              <a:spcBef>
                <a:spcPts val="200"/>
              </a:spcBef>
              <a:spcAft>
                <a:spcPts val="0"/>
              </a:spcAft>
              <a:buClr>
                <a:schemeClr val="dk1"/>
              </a:buClr>
              <a:buSzPts val="1050"/>
              <a:buFont typeface="Calibri"/>
              <a:buChar char="•"/>
            </a:pPr>
            <a:r>
              <a:rPr b="0" i="0" lang="en-US" sz="1050" u="none" cap="none" strike="noStrike">
                <a:solidFill>
                  <a:schemeClr val="dk1"/>
                </a:solidFill>
                <a:latin typeface="Calibri"/>
                <a:ea typeface="Calibri"/>
                <a:cs typeface="Calibri"/>
                <a:sym typeface="Calibri"/>
              </a:rPr>
              <a:t>Extract clipped to 200–2,000 characters</a:t>
            </a:r>
            <a:endParaRPr b="0" i="0" sz="1050" u="none" cap="none" strike="noStrike">
              <a:solidFill>
                <a:schemeClr val="dk1"/>
              </a:solidFill>
              <a:latin typeface="Calibri"/>
              <a:ea typeface="Calibri"/>
              <a:cs typeface="Calibri"/>
              <a:sym typeface="Calibri"/>
            </a:endParaRPr>
          </a:p>
        </p:txBody>
      </p:sp>
      <p:sp>
        <p:nvSpPr>
          <p:cNvPr id="148" name="Google Shape;148;p7"/>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pic>
        <p:nvPicPr>
          <p:cNvPr id="149" name="Google Shape;149;p7"/>
          <p:cNvPicPr preferRelativeResize="0"/>
          <p:nvPr/>
        </p:nvPicPr>
        <p:blipFill>
          <a:blip r:embed="rId3">
            <a:alphaModFix/>
          </a:blip>
          <a:stretch>
            <a:fillRect/>
          </a:stretch>
        </p:blipFill>
        <p:spPr>
          <a:xfrm>
            <a:off x="3696600" y="2204875"/>
            <a:ext cx="733749" cy="733749"/>
          </a:xfrm>
          <a:prstGeom prst="rect">
            <a:avLst/>
          </a:prstGeom>
          <a:noFill/>
          <a:ln>
            <a:noFill/>
          </a:ln>
        </p:spPr>
      </p:pic>
      <p:pic>
        <p:nvPicPr>
          <p:cNvPr id="150" name="Google Shape;150;p7"/>
          <p:cNvPicPr preferRelativeResize="0"/>
          <p:nvPr/>
        </p:nvPicPr>
        <p:blipFill>
          <a:blip r:embed="rId4">
            <a:alphaModFix/>
          </a:blip>
          <a:stretch>
            <a:fillRect/>
          </a:stretch>
        </p:blipFill>
        <p:spPr>
          <a:xfrm>
            <a:off x="7192526" y="1875650"/>
            <a:ext cx="1494275" cy="1096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Playbook: freeze, deploy, measure, reconcile</a:t>
            </a:r>
            <a:endParaRPr sz="2200"/>
          </a:p>
        </p:txBody>
      </p:sp>
      <p:sp>
        <p:nvSpPr>
          <p:cNvPr id="157" name="Google Shape;157;p8"/>
          <p:cNvSpPr/>
          <p:nvPr/>
        </p:nvSpPr>
        <p:spPr>
          <a:xfrm>
            <a:off x="457200" y="868680"/>
            <a:ext cx="2606040" cy="1005840"/>
          </a:xfrm>
          <a:prstGeom prst="roundRect">
            <a:avLst>
              <a:gd fmla="val 7273"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txBox="1"/>
          <p:nvPr/>
        </p:nvSpPr>
        <p:spPr>
          <a:xfrm>
            <a:off x="566928" y="941832"/>
            <a:ext cx="2395728"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343B"/>
              </a:buClr>
              <a:buSzPts val="1300"/>
              <a:buFont typeface="Calibri"/>
              <a:buNone/>
            </a:pPr>
            <a:r>
              <a:rPr b="1" i="0" lang="en-US" sz="1300" u="none" cap="none" strike="noStrike">
                <a:solidFill>
                  <a:srgbClr val="12343B"/>
                </a:solidFill>
                <a:latin typeface="Calibri"/>
                <a:ea typeface="Calibri"/>
                <a:cs typeface="Calibri"/>
                <a:sym typeface="Calibri"/>
              </a:rPr>
              <a:t>1 Freeze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Golden set + predictions committed (3567f80) before any model run</a:t>
            </a:r>
            <a:endParaRPr b="0" i="0" sz="1050" u="none" cap="none" strike="noStrike">
              <a:solidFill>
                <a:schemeClr val="dk1"/>
              </a:solidFill>
              <a:latin typeface="Calibri"/>
              <a:ea typeface="Calibri"/>
              <a:cs typeface="Calibri"/>
              <a:sym typeface="Calibri"/>
            </a:endParaRPr>
          </a:p>
        </p:txBody>
      </p:sp>
      <p:sp>
        <p:nvSpPr>
          <p:cNvPr id="159" name="Google Shape;159;p8"/>
          <p:cNvSpPr/>
          <p:nvPr/>
        </p:nvSpPr>
        <p:spPr>
          <a:xfrm>
            <a:off x="3246120" y="868680"/>
            <a:ext cx="2606040" cy="1005840"/>
          </a:xfrm>
          <a:prstGeom prst="roundRect">
            <a:avLst>
              <a:gd fmla="val 7273"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txBox="1"/>
          <p:nvPr/>
        </p:nvSpPr>
        <p:spPr>
          <a:xfrm>
            <a:off x="3355848" y="941832"/>
            <a:ext cx="2395728"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343B"/>
              </a:buClr>
              <a:buSzPts val="1300"/>
              <a:buFont typeface="Calibri"/>
              <a:buNone/>
            </a:pPr>
            <a:r>
              <a:rPr b="1" i="0" lang="en-US" sz="1300" u="none" cap="none" strike="noStrike">
                <a:solidFill>
                  <a:srgbClr val="12343B"/>
                </a:solidFill>
                <a:latin typeface="Calibri"/>
                <a:ea typeface="Calibri"/>
                <a:cs typeface="Calibri"/>
                <a:sym typeface="Calibri"/>
              </a:rPr>
              <a:t>2 Deploy</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switch_model.ps1: save logs, set tag, 2 synthetic warm-ups, TRUNCATE, check /stats = 0</a:t>
            </a:r>
            <a:endParaRPr b="0" i="0" sz="1050" u="none" cap="none" strike="noStrike">
              <a:solidFill>
                <a:schemeClr val="dk1"/>
              </a:solidFill>
              <a:latin typeface="Calibri"/>
              <a:ea typeface="Calibri"/>
              <a:cs typeface="Calibri"/>
              <a:sym typeface="Calibri"/>
            </a:endParaRPr>
          </a:p>
        </p:txBody>
      </p:sp>
      <p:sp>
        <p:nvSpPr>
          <p:cNvPr id="161" name="Google Shape;161;p8"/>
          <p:cNvSpPr/>
          <p:nvPr/>
        </p:nvSpPr>
        <p:spPr>
          <a:xfrm>
            <a:off x="6035040" y="868680"/>
            <a:ext cx="2606040" cy="1005840"/>
          </a:xfrm>
          <a:prstGeom prst="roundRect">
            <a:avLst>
              <a:gd fmla="val 7273"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txBox="1"/>
          <p:nvPr/>
        </p:nvSpPr>
        <p:spPr>
          <a:xfrm>
            <a:off x="6144768" y="941832"/>
            <a:ext cx="2395728"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343B"/>
              </a:buClr>
              <a:buSzPts val="1300"/>
              <a:buFont typeface="Calibri"/>
              <a:buNone/>
            </a:pPr>
            <a:r>
              <a:rPr b="1" i="0" lang="en-US" sz="1300" u="none" cap="none" strike="noStrike">
                <a:solidFill>
                  <a:srgbClr val="12343B"/>
                </a:solidFill>
                <a:latin typeface="Calibri"/>
                <a:ea typeface="Calibri"/>
                <a:cs typeface="Calibri"/>
                <a:sym typeface="Calibri"/>
              </a:rPr>
              <a:t>3 Accuracy</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160 golden tickets, one at a time, via POST /tickets; non-201 = wrong + non-conformant</a:t>
            </a:r>
            <a:endParaRPr b="0" i="0" sz="1050" u="none" cap="none" strike="noStrike">
              <a:solidFill>
                <a:schemeClr val="dk1"/>
              </a:solidFill>
              <a:latin typeface="Calibri"/>
              <a:ea typeface="Calibri"/>
              <a:cs typeface="Calibri"/>
              <a:sym typeface="Calibri"/>
            </a:endParaRPr>
          </a:p>
        </p:txBody>
      </p:sp>
      <p:sp>
        <p:nvSpPr>
          <p:cNvPr id="163" name="Google Shape;163;p8"/>
          <p:cNvSpPr/>
          <p:nvPr/>
        </p:nvSpPr>
        <p:spPr>
          <a:xfrm>
            <a:off x="457200" y="2011680"/>
            <a:ext cx="2606040" cy="1005840"/>
          </a:xfrm>
          <a:prstGeom prst="roundRect">
            <a:avLst>
              <a:gd fmla="val 7273"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txBox="1"/>
          <p:nvPr/>
        </p:nvSpPr>
        <p:spPr>
          <a:xfrm>
            <a:off x="566928" y="2084832"/>
            <a:ext cx="2395728"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343B"/>
              </a:buClr>
              <a:buSzPts val="1300"/>
              <a:buFont typeface="Calibri"/>
              <a:buNone/>
            </a:pPr>
            <a:r>
              <a:rPr b="1" i="0" lang="en-US" sz="1300" u="none" cap="none" strike="noStrike">
                <a:solidFill>
                  <a:srgbClr val="12343B"/>
                </a:solidFill>
                <a:latin typeface="Calibri"/>
                <a:ea typeface="Calibri"/>
                <a:cs typeface="Calibri"/>
                <a:sym typeface="Calibri"/>
              </a:rPr>
              <a:t>4 Load</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Redeploy (empty DB); 3 levels × 3 runs from the load-generator PC</a:t>
            </a:r>
            <a:endParaRPr b="0" i="0" sz="1050" u="none" cap="none" strike="noStrike">
              <a:solidFill>
                <a:schemeClr val="dk1"/>
              </a:solidFill>
              <a:latin typeface="Calibri"/>
              <a:ea typeface="Calibri"/>
              <a:cs typeface="Calibri"/>
              <a:sym typeface="Calibri"/>
            </a:endParaRPr>
          </a:p>
        </p:txBody>
      </p:sp>
      <p:sp>
        <p:nvSpPr>
          <p:cNvPr id="165" name="Google Shape;165;p8"/>
          <p:cNvSpPr/>
          <p:nvPr/>
        </p:nvSpPr>
        <p:spPr>
          <a:xfrm>
            <a:off x="3246120" y="2011680"/>
            <a:ext cx="2606040" cy="1005840"/>
          </a:xfrm>
          <a:prstGeom prst="roundRect">
            <a:avLst>
              <a:gd fmla="val 7273" name="adj"/>
            </a:avLst>
          </a:prstGeom>
          <a:solidFill>
            <a:srgbClr val="FBEBDD"/>
          </a:solidFill>
          <a:ln cap="flat" cmpd="sng" w="12700">
            <a:solidFill>
              <a:srgbClr val="FBEB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txBox="1"/>
          <p:nvPr/>
        </p:nvSpPr>
        <p:spPr>
          <a:xfrm>
            <a:off x="3355848" y="2084832"/>
            <a:ext cx="2395728"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343B"/>
              </a:buClr>
              <a:buSzPts val="1300"/>
              <a:buFont typeface="Calibri"/>
              <a:buNone/>
            </a:pPr>
            <a:r>
              <a:rPr b="1" i="0" lang="en-US" sz="1300" u="none" cap="none" strike="noStrike">
                <a:solidFill>
                  <a:srgbClr val="12343B"/>
                </a:solidFill>
                <a:latin typeface="Calibri"/>
                <a:ea typeface="Calibri"/>
                <a:cs typeface="Calibri"/>
                <a:sym typeface="Calibri"/>
              </a:rPr>
              <a:t>5 Stress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Qwen3 4B: POST ramp 60 → 1,200/h over 40 min; search fixed at 316/h</a:t>
            </a:r>
            <a:endParaRPr b="0" i="0" sz="1050" u="none" cap="none" strike="noStrike">
              <a:solidFill>
                <a:schemeClr val="dk1"/>
              </a:solidFill>
              <a:latin typeface="Calibri"/>
              <a:ea typeface="Calibri"/>
              <a:cs typeface="Calibri"/>
              <a:sym typeface="Calibri"/>
            </a:endParaRPr>
          </a:p>
        </p:txBody>
      </p:sp>
      <p:sp>
        <p:nvSpPr>
          <p:cNvPr id="167" name="Google Shape;167;p8"/>
          <p:cNvSpPr/>
          <p:nvPr/>
        </p:nvSpPr>
        <p:spPr>
          <a:xfrm>
            <a:off x="6035040" y="2011680"/>
            <a:ext cx="2606040" cy="1005840"/>
          </a:xfrm>
          <a:prstGeom prst="roundRect">
            <a:avLst>
              <a:gd fmla="val 7273"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txBox="1"/>
          <p:nvPr/>
        </p:nvSpPr>
        <p:spPr>
          <a:xfrm>
            <a:off x="6144768" y="2084832"/>
            <a:ext cx="2395728"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343B"/>
              </a:buClr>
              <a:buSzPts val="1300"/>
              <a:buFont typeface="Calibri"/>
              <a:buNone/>
            </a:pPr>
            <a:r>
              <a:rPr b="1" i="0" lang="en-US" sz="1300" u="none" cap="none" strike="noStrike">
                <a:solidFill>
                  <a:srgbClr val="12343B"/>
                </a:solidFill>
                <a:latin typeface="Calibri"/>
                <a:ea typeface="Calibri"/>
                <a:cs typeface="Calibri"/>
                <a:sym typeface="Calibri"/>
              </a:rPr>
              <a:t>6 Reconcile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rPr b="0" i="0" lang="en-US" sz="1050" u="none" cap="none" strike="noStrike">
                <a:solidFill>
                  <a:schemeClr val="dk1"/>
                </a:solidFill>
                <a:latin typeface="Calibri"/>
                <a:ea typeface="Calibri"/>
                <a:cs typeface="Calibri"/>
                <a:sym typeface="Calibri"/>
              </a:rPr>
              <a:t>save_logs.ps1 → analyse_jtl.py: every JMeter sample ↔ log line by request ID; /stats delta</a:t>
            </a:r>
            <a:endParaRPr b="0" i="0" sz="1050" u="none" cap="none" strike="noStrike">
              <a:solidFill>
                <a:schemeClr val="dk1"/>
              </a:solidFill>
              <a:latin typeface="Calibri"/>
              <a:ea typeface="Calibri"/>
              <a:cs typeface="Calibri"/>
              <a:sym typeface="Calibri"/>
            </a:endParaRPr>
          </a:p>
        </p:txBody>
      </p:sp>
      <p:sp>
        <p:nvSpPr>
          <p:cNvPr id="169" name="Google Shape;169;p8"/>
          <p:cNvSpPr/>
          <p:nvPr/>
        </p:nvSpPr>
        <p:spPr>
          <a:xfrm>
            <a:off x="457200" y="3246120"/>
            <a:ext cx="8229600" cy="1463040"/>
          </a:xfrm>
          <a:prstGeom prst="roundRect">
            <a:avLst>
              <a:gd fmla="val 5000" name="adj"/>
            </a:avLst>
          </a:prstGeom>
          <a:solidFill>
            <a:srgbClr val="F4F6F7"/>
          </a:solidFill>
          <a:ln cap="flat" cmpd="sng" w="12700">
            <a:solidFill>
              <a:srgbClr val="F4F6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txBox="1"/>
          <p:nvPr/>
        </p:nvSpPr>
        <p:spPr>
          <a:xfrm>
            <a:off x="594360" y="3310128"/>
            <a:ext cx="795528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Open-loop JMeter configuration (step5/jmeter/ticket_triage.jmx)</a:t>
            </a:r>
            <a:endParaRPr b="0" i="0" sz="1200" u="none" cap="none" strike="noStrike">
              <a:solidFill>
                <a:schemeClr val="dk1"/>
              </a:solidFill>
              <a:latin typeface="Calibri"/>
              <a:ea typeface="Calibri"/>
              <a:cs typeface="Calibri"/>
              <a:sym typeface="Calibri"/>
            </a:endParaRPr>
          </a:p>
        </p:txBody>
      </p:sp>
      <p:sp>
        <p:nvSpPr>
          <p:cNvPr id="171" name="Google Shape;171;p8"/>
          <p:cNvSpPr txBox="1"/>
          <p:nvPr/>
        </p:nvSpPr>
        <p:spPr>
          <a:xfrm>
            <a:off x="594360" y="3584448"/>
            <a:ext cx="7955280" cy="1097280"/>
          </a:xfrm>
          <a:prstGeom prst="rect">
            <a:avLst/>
          </a:prstGeom>
          <a:noFill/>
          <a:ln>
            <a:noFill/>
          </a:ln>
        </p:spPr>
        <p:txBody>
          <a:bodyPr anchorCtr="0" anchor="t" bIns="0" lIns="0" spcFirstLastPara="1" rIns="0" wrap="square" tIns="0">
            <a:noAutofit/>
          </a:bodyPr>
          <a:lstStyle/>
          <a:p>
            <a:pPr indent="0" lvl="0" marL="0" rtl="0" algn="l">
              <a:spcBef>
                <a:spcPts val="200"/>
              </a:spcBef>
              <a:spcAft>
                <a:spcPts val="0"/>
              </a:spcAft>
              <a:buNone/>
            </a:pPr>
            <a:r>
              <a:rPr lang="en-US" sz="1050">
                <a:solidFill>
                  <a:schemeClr val="dk1"/>
                </a:solidFill>
                <a:latin typeface="Calibri"/>
                <a:ea typeface="Calibri"/>
                <a:cs typeface="Calibri"/>
                <a:sym typeface="Calibri"/>
              </a:rPr>
              <a:t>• Use two Open Model Thread Groups for POST and search traffic. Arrivals do not wait for responses.</a:t>
            </a:r>
            <a:endParaRPr sz="1050">
              <a:solidFill>
                <a:schemeClr val="dk1"/>
              </a:solidFill>
              <a:latin typeface="Calibri"/>
              <a:ea typeface="Calibri"/>
              <a:cs typeface="Calibri"/>
              <a:sym typeface="Calibri"/>
            </a:endParaRPr>
          </a:p>
          <a:p>
            <a:pPr indent="0" lvl="0" marL="0" rtl="0" algn="l">
              <a:spcBef>
                <a:spcPts val="200"/>
              </a:spcBef>
              <a:spcAft>
                <a:spcPts val="0"/>
              </a:spcAft>
              <a:buNone/>
            </a:pPr>
            <a:r>
              <a:rPr lang="en-US" sz="1050">
                <a:solidFill>
                  <a:schemeClr val="dk1"/>
                </a:solidFill>
                <a:latin typeface="Calibri"/>
                <a:ea typeface="Calibri"/>
                <a:cs typeface="Calibri"/>
                <a:sym typeface="Calibri"/>
              </a:rPr>
              <a:t>• Schedule: rate(R/hour) random_arrivals(22 min) pause(1 min). Exclude the first 2 minutes. Measure the next 20 minutes.</a:t>
            </a:r>
            <a:endParaRPr sz="1050">
              <a:solidFill>
                <a:schemeClr val="dk1"/>
              </a:solidFill>
              <a:latin typeface="Calibri"/>
              <a:ea typeface="Calibri"/>
              <a:cs typeface="Calibri"/>
              <a:sym typeface="Calibri"/>
            </a:endParaRPr>
          </a:p>
          <a:p>
            <a:pPr indent="0" lvl="0" marL="0" rtl="0" algn="l">
              <a:spcBef>
                <a:spcPts val="200"/>
              </a:spcBef>
              <a:spcAft>
                <a:spcPts val="0"/>
              </a:spcAft>
              <a:buNone/>
            </a:pPr>
            <a:r>
              <a:rPr lang="en-US" sz="1050">
                <a:solidFill>
                  <a:schemeClr val="dk1"/>
                </a:solidFill>
                <a:latin typeface="Calibri"/>
                <a:ea typeface="Calibri"/>
                <a:cs typeface="Calibri"/>
                <a:sym typeface="Calibri"/>
              </a:rPr>
              <a:t>• Use arrival seeds 1, 2, and 3. Wait 60 seconds between runs. Connection timeout: 10 seconds. Response timeout: 310 seconds.</a:t>
            </a:r>
            <a:endParaRPr sz="1050">
              <a:solidFill>
                <a:schemeClr val="dk1"/>
              </a:solidFill>
              <a:latin typeface="Calibri"/>
              <a:ea typeface="Calibri"/>
              <a:cs typeface="Calibri"/>
              <a:sym typeface="Calibri"/>
            </a:endParaRPr>
          </a:p>
          <a:p>
            <a:pPr indent="0" lvl="0" marL="0" rtl="0" algn="l">
              <a:spcBef>
                <a:spcPts val="200"/>
              </a:spcBef>
              <a:spcAft>
                <a:spcPts val="0"/>
              </a:spcAft>
              <a:buNone/>
            </a:pPr>
            <a:r>
              <a:rPr lang="en-US" sz="1050">
                <a:solidFill>
                  <a:schemeClr val="dk1"/>
                </a:solidFill>
                <a:latin typeface="Calibri"/>
                <a:ea typeface="Calibri"/>
                <a:cs typeface="Calibri"/>
                <a:sym typeface="Calibri"/>
              </a:rPr>
              <a:t>• Data: team rows 9000–9839 and 20 search terms. Save X-Request-ID in the JTL file and service log.</a:t>
            </a:r>
            <a:endParaRPr sz="1050">
              <a:solidFill>
                <a:schemeClr val="dk1"/>
              </a:solidFill>
              <a:latin typeface="Calibri"/>
              <a:ea typeface="Calibri"/>
              <a:cs typeface="Calibri"/>
              <a:sym typeface="Calibri"/>
            </a:endParaRPr>
          </a:p>
          <a:p>
            <a:pPr indent="0" lvl="0" marL="0" marR="0" rtl="0" algn="l">
              <a:spcBef>
                <a:spcPts val="200"/>
              </a:spcBef>
              <a:spcAft>
                <a:spcPts val="0"/>
              </a:spcAft>
              <a:buNone/>
            </a:pPr>
            <a:r>
              <a:t/>
            </a:r>
            <a:endParaRPr sz="1050">
              <a:solidFill>
                <a:schemeClr val="dk1"/>
              </a:solidFill>
              <a:latin typeface="Calibri"/>
              <a:ea typeface="Calibri"/>
              <a:cs typeface="Calibri"/>
              <a:sym typeface="Calibri"/>
            </a:endParaRPr>
          </a:p>
        </p:txBody>
      </p:sp>
      <p:sp>
        <p:nvSpPr>
          <p:cNvPr id="172" name="Google Shape;172;p8"/>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Load and stress: Ollama inference is the bottleneck</a:t>
            </a:r>
            <a:endParaRPr sz="2200"/>
          </a:p>
        </p:txBody>
      </p:sp>
      <p:sp>
        <p:nvSpPr>
          <p:cNvPr id="179" name="Google Shape;179;p9"/>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pic>
        <p:nvPicPr>
          <p:cNvPr id="180" name="Google Shape;180;p9"/>
          <p:cNvPicPr preferRelativeResize="0"/>
          <p:nvPr/>
        </p:nvPicPr>
        <p:blipFill>
          <a:blip r:embed="rId3">
            <a:alphaModFix/>
          </a:blip>
          <a:stretch>
            <a:fillRect/>
          </a:stretch>
        </p:blipFill>
        <p:spPr>
          <a:xfrm>
            <a:off x="457200" y="726900"/>
            <a:ext cx="8293549" cy="4119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Accuracy: no candidate reaches 85%; Llama best at 75.6%</a:t>
            </a:r>
            <a:endParaRPr sz="2200"/>
          </a:p>
        </p:txBody>
      </p:sp>
      <p:graphicFrame>
        <p:nvGraphicFramePr>
          <p:cNvPr id="187" name="Google Shape;187;p10"/>
          <p:cNvGraphicFramePr/>
          <p:nvPr/>
        </p:nvGraphicFramePr>
        <p:xfrm>
          <a:off x="365760" y="822960"/>
          <a:ext cx="5394960" cy="3840480"/>
        </p:xfrm>
        <a:graphic>
          <a:graphicData uri="http://schemas.openxmlformats.org/drawingml/2006/chart">
            <c:chart r:id="rId3"/>
          </a:graphicData>
        </a:graphic>
      </p:graphicFrame>
      <p:sp>
        <p:nvSpPr>
          <p:cNvPr id="188" name="Google Shape;188;p10"/>
          <p:cNvSpPr txBox="1"/>
          <p:nvPr/>
        </p:nvSpPr>
        <p:spPr>
          <a:xfrm>
            <a:off x="5989320" y="868680"/>
            <a:ext cx="11430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E9AA3"/>
              </a:buClr>
              <a:buSzPts val="2200"/>
              <a:buFont typeface="Cambria"/>
              <a:buNone/>
            </a:pPr>
            <a:r>
              <a:rPr b="1" i="0" lang="en-US" sz="2200" u="none" cap="none" strike="noStrike">
                <a:solidFill>
                  <a:srgbClr val="8E9AA3"/>
                </a:solidFill>
                <a:latin typeface="Cambria"/>
                <a:ea typeface="Cambria"/>
                <a:cs typeface="Cambria"/>
                <a:sym typeface="Cambria"/>
              </a:rPr>
              <a:t>30.0%</a:t>
            </a:r>
            <a:endParaRPr b="0" i="0" sz="2200" u="none" cap="none" strike="noStrike">
              <a:solidFill>
                <a:schemeClr val="dk1"/>
              </a:solidFill>
              <a:latin typeface="Calibri"/>
              <a:ea typeface="Calibri"/>
              <a:cs typeface="Calibri"/>
              <a:sym typeface="Calibri"/>
            </a:endParaRPr>
          </a:p>
        </p:txBody>
      </p:sp>
      <p:sp>
        <p:nvSpPr>
          <p:cNvPr id="189" name="Google Shape;189;p10"/>
          <p:cNvSpPr txBox="1"/>
          <p:nvPr/>
        </p:nvSpPr>
        <p:spPr>
          <a:xfrm>
            <a:off x="7132320" y="886968"/>
            <a:ext cx="1600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Calibri"/>
              <a:buNone/>
            </a:pPr>
            <a:r>
              <a:rPr b="1" i="0" lang="en-US" sz="950" u="none" cap="none" strike="noStrike">
                <a:solidFill>
                  <a:schemeClr val="dk1"/>
                </a:solidFill>
                <a:latin typeface="Calibri"/>
                <a:ea typeface="Calibri"/>
                <a:cs typeface="Calibri"/>
                <a:sym typeface="Calibri"/>
              </a:rPr>
              <a:t>Gemma 3 1B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48/160 · valid output 81.9%</a:t>
            </a:r>
            <a:endParaRPr b="0" i="0" sz="950" u="none" cap="none" strike="noStrike">
              <a:solidFill>
                <a:schemeClr val="dk1"/>
              </a:solidFill>
              <a:latin typeface="Calibri"/>
              <a:ea typeface="Calibri"/>
              <a:cs typeface="Calibri"/>
              <a:sym typeface="Calibri"/>
            </a:endParaRPr>
          </a:p>
        </p:txBody>
      </p:sp>
      <p:sp>
        <p:nvSpPr>
          <p:cNvPr id="190" name="Google Shape;190;p10"/>
          <p:cNvSpPr txBox="1"/>
          <p:nvPr/>
        </p:nvSpPr>
        <p:spPr>
          <a:xfrm>
            <a:off x="5989320" y="1554480"/>
            <a:ext cx="11430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9D8F"/>
              </a:buClr>
              <a:buSzPts val="2200"/>
              <a:buFont typeface="Cambria"/>
              <a:buNone/>
            </a:pPr>
            <a:r>
              <a:rPr b="1" i="0" lang="en-US" sz="2200" u="none" cap="none" strike="noStrike">
                <a:solidFill>
                  <a:srgbClr val="2A9D8F"/>
                </a:solidFill>
                <a:latin typeface="Cambria"/>
                <a:ea typeface="Cambria"/>
                <a:cs typeface="Cambria"/>
                <a:sym typeface="Cambria"/>
              </a:rPr>
              <a:t>68.8%</a:t>
            </a:r>
            <a:endParaRPr b="0" i="0" sz="2200" u="none" cap="none" strike="noStrike">
              <a:solidFill>
                <a:schemeClr val="dk1"/>
              </a:solidFill>
              <a:latin typeface="Calibri"/>
              <a:ea typeface="Calibri"/>
              <a:cs typeface="Calibri"/>
              <a:sym typeface="Calibri"/>
            </a:endParaRPr>
          </a:p>
        </p:txBody>
      </p:sp>
      <p:sp>
        <p:nvSpPr>
          <p:cNvPr id="191" name="Google Shape;191;p10"/>
          <p:cNvSpPr txBox="1"/>
          <p:nvPr/>
        </p:nvSpPr>
        <p:spPr>
          <a:xfrm>
            <a:off x="7132320" y="1572768"/>
            <a:ext cx="1600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Calibri"/>
              <a:buNone/>
            </a:pPr>
            <a:r>
              <a:rPr b="1" i="0" lang="en-US" sz="950" u="none" cap="none" strike="noStrike">
                <a:solidFill>
                  <a:schemeClr val="dk1"/>
                </a:solidFill>
                <a:latin typeface="Calibri"/>
                <a:ea typeface="Calibri"/>
                <a:cs typeface="Calibri"/>
                <a:sym typeface="Calibri"/>
              </a:rPr>
              <a:t>Qwen3 4B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110/160 · valid output 98.1%</a:t>
            </a:r>
            <a:endParaRPr b="0" i="0" sz="950" u="none" cap="none" strike="noStrike">
              <a:solidFill>
                <a:schemeClr val="dk1"/>
              </a:solidFill>
              <a:latin typeface="Calibri"/>
              <a:ea typeface="Calibri"/>
              <a:cs typeface="Calibri"/>
              <a:sym typeface="Calibri"/>
            </a:endParaRPr>
          </a:p>
        </p:txBody>
      </p:sp>
      <p:sp>
        <p:nvSpPr>
          <p:cNvPr id="192" name="Google Shape;192;p10"/>
          <p:cNvSpPr txBox="1"/>
          <p:nvPr/>
        </p:nvSpPr>
        <p:spPr>
          <a:xfrm>
            <a:off x="5989320" y="2240280"/>
            <a:ext cx="11430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1F"/>
              </a:buClr>
              <a:buSzPts val="2200"/>
              <a:buFont typeface="Cambria"/>
              <a:buNone/>
            </a:pPr>
            <a:r>
              <a:rPr b="1" i="0" lang="en-US" sz="2200" u="none" cap="none" strike="noStrike">
                <a:solidFill>
                  <a:srgbClr val="E07A1F"/>
                </a:solidFill>
                <a:latin typeface="Cambria"/>
                <a:ea typeface="Cambria"/>
                <a:cs typeface="Cambria"/>
                <a:sym typeface="Cambria"/>
              </a:rPr>
              <a:t>75.6%</a:t>
            </a:r>
            <a:endParaRPr b="0" i="0" sz="2200" u="none" cap="none" strike="noStrike">
              <a:solidFill>
                <a:schemeClr val="dk1"/>
              </a:solidFill>
              <a:latin typeface="Calibri"/>
              <a:ea typeface="Calibri"/>
              <a:cs typeface="Calibri"/>
              <a:sym typeface="Calibri"/>
            </a:endParaRPr>
          </a:p>
        </p:txBody>
      </p:sp>
      <p:sp>
        <p:nvSpPr>
          <p:cNvPr id="193" name="Google Shape;193;p10"/>
          <p:cNvSpPr txBox="1"/>
          <p:nvPr/>
        </p:nvSpPr>
        <p:spPr>
          <a:xfrm>
            <a:off x="7132320" y="2258568"/>
            <a:ext cx="1600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Calibri"/>
              <a:buNone/>
            </a:pPr>
            <a:r>
              <a:rPr b="1" i="0" lang="en-US" sz="950" u="none" cap="none" strike="noStrike">
                <a:solidFill>
                  <a:schemeClr val="dk1"/>
                </a:solidFill>
                <a:latin typeface="Calibri"/>
                <a:ea typeface="Calibri"/>
                <a:cs typeface="Calibri"/>
                <a:sym typeface="Calibri"/>
              </a:rPr>
              <a:t>Llama 3.1 8B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121/160 · valid output 99.4%</a:t>
            </a:r>
            <a:endParaRPr b="0" i="0" sz="950" u="none" cap="none" strike="noStrike">
              <a:solidFill>
                <a:schemeClr val="dk1"/>
              </a:solidFill>
              <a:latin typeface="Calibri"/>
              <a:ea typeface="Calibri"/>
              <a:cs typeface="Calibri"/>
              <a:sym typeface="Calibri"/>
            </a:endParaRPr>
          </a:p>
        </p:txBody>
      </p:sp>
      <p:sp>
        <p:nvSpPr>
          <p:cNvPr id="194" name="Google Shape;194;p10"/>
          <p:cNvSpPr txBox="1"/>
          <p:nvPr/>
        </p:nvSpPr>
        <p:spPr>
          <a:xfrm>
            <a:off x="5989320" y="2971800"/>
            <a:ext cx="27432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Where each model goes wrong</a:t>
            </a:r>
            <a:endParaRPr b="0" i="0" sz="1200" u="none" cap="none" strike="noStrike">
              <a:solidFill>
                <a:schemeClr val="dk1"/>
              </a:solidFill>
              <a:latin typeface="Calibri"/>
              <a:ea typeface="Calibri"/>
              <a:cs typeface="Calibri"/>
              <a:sym typeface="Calibri"/>
            </a:endParaRPr>
          </a:p>
        </p:txBody>
      </p:sp>
      <p:sp>
        <p:nvSpPr>
          <p:cNvPr id="195" name="Google Shape;195;p10"/>
          <p:cNvSpPr txBox="1"/>
          <p:nvPr/>
        </p:nvSpPr>
        <p:spPr>
          <a:xfrm>
            <a:off x="5989320" y="3246120"/>
            <a:ext cx="2743200" cy="15087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chemeClr val="dk1"/>
              </a:buClr>
              <a:buSzPts val="950"/>
              <a:buFont typeface="Calibri"/>
              <a:buChar char="•"/>
            </a:pPr>
            <a:r>
              <a:rPr b="0" i="0" lang="en-US" sz="950" u="none" cap="none" strike="noStrike">
                <a:solidFill>
                  <a:schemeClr val="dk1"/>
                </a:solidFill>
                <a:latin typeface="Calibri"/>
                <a:ea typeface="Calibri"/>
                <a:cs typeface="Calibri"/>
                <a:sym typeface="Calibri"/>
              </a:rPr>
              <a:t>Gemma: 26 of 29 invalid answers are capitalisation ('Consumer Loan'); 18/30 Bank → Credit reporting; Money transfer 0/28</a:t>
            </a:r>
            <a:endParaRPr b="0" i="0" sz="9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chemeClr val="dk1"/>
              </a:buClr>
              <a:buSzPts val="950"/>
              <a:buFont typeface="Calibri"/>
              <a:buChar char="•"/>
            </a:pPr>
            <a:r>
              <a:rPr b="0" i="0" lang="en-US" sz="950" u="none" cap="none" strike="noStrike">
                <a:solidFill>
                  <a:schemeClr val="dk1"/>
                </a:solidFill>
                <a:latin typeface="Calibri"/>
                <a:ea typeface="Calibri"/>
                <a:cs typeface="Calibri"/>
                <a:sym typeface="Calibri"/>
              </a:rPr>
              <a:t>Qwen: 9/33 Credit reporting → Credit card; 3 lowercase answers (R7 98.1%)</a:t>
            </a:r>
            <a:endParaRPr b="0" i="0" sz="95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chemeClr val="dk1"/>
              </a:buClr>
              <a:buSzPts val="950"/>
              <a:buFont typeface="Calibri"/>
              <a:buChar char="•"/>
            </a:pPr>
            <a:r>
              <a:rPr b="0" i="0" lang="en-US" sz="950" u="none" cap="none" strike="noStrike">
                <a:solidFill>
                  <a:schemeClr val="dk1"/>
                </a:solidFill>
                <a:latin typeface="Calibri"/>
                <a:ea typeface="Calibri"/>
                <a:cs typeface="Calibri"/>
                <a:sym typeface="Calibri"/>
              </a:rPr>
              <a:t>Llama: errors spread out; 16 tickets wrongly sent to Credit card; Bank account 66.7%</a:t>
            </a:r>
            <a:endParaRPr b="0" i="0" sz="950" u="none" cap="none" strike="noStrike">
              <a:solidFill>
                <a:schemeClr val="dk1"/>
              </a:solidFill>
              <a:latin typeface="Calibri"/>
              <a:ea typeface="Calibri"/>
              <a:cs typeface="Calibri"/>
              <a:sym typeface="Calibri"/>
            </a:endParaRPr>
          </a:p>
        </p:txBody>
      </p:sp>
      <p:sp>
        <p:nvSpPr>
          <p:cNvPr id="196" name="Google Shape;196;p10"/>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1"/>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Recommendation: Qwen3 4B, for assisted routing only</a:t>
            </a:r>
            <a:endParaRPr sz="2200"/>
          </a:p>
        </p:txBody>
      </p:sp>
      <p:graphicFrame>
        <p:nvGraphicFramePr>
          <p:cNvPr id="203" name="Google Shape;203;p11"/>
          <p:cNvGraphicFramePr/>
          <p:nvPr/>
        </p:nvGraphicFramePr>
        <p:xfrm>
          <a:off x="457200" y="868680"/>
          <a:ext cx="3000000" cy="3000000"/>
        </p:xfrm>
        <a:graphic>
          <a:graphicData uri="http://schemas.openxmlformats.org/drawingml/2006/table">
            <a:tbl>
              <a:tblPr>
                <a:noFill/>
                <a:tableStyleId>{DEE76F54-DCC2-4723-B163-4ADD76A469FF}</a:tableStyleId>
              </a:tblPr>
              <a:tblGrid>
                <a:gridCol w="1188725"/>
                <a:gridCol w="640075"/>
                <a:gridCol w="640075"/>
                <a:gridCol w="640075"/>
              </a:tblGrid>
              <a:tr h="219450">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Req</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Gemma</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Qwen</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Llama</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2343B"/>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R1 Throughput</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R2 POST latency</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R3 Search</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R4 Errors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R5 Accuracy</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R6 Per category</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R7 Conformance</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FAIL</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0392B"/>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r>
              <a:tr h="21945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R8 CPU-only</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00"/>
                        <a:buFont typeface="Calibri"/>
                        <a:buNone/>
                      </a:pPr>
                      <a:r>
                        <a:rPr b="1" lang="en-US" sz="900" u="none" cap="none" strike="noStrike">
                          <a:solidFill>
                            <a:srgbClr val="FFFFFF"/>
                          </a:solidFill>
                        </a:rPr>
                        <a:t>PASS</a:t>
                      </a:r>
                      <a:endParaRPr sz="900" u="none" cap="none" strike="noStrike"/>
                    </a:p>
                  </a:txBody>
                  <a:tcPr marT="27425" marB="27425" marR="27425" marL="274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2A9D8F"/>
                    </a:solidFill>
                  </a:tcPr>
                </a:tc>
              </a:tr>
            </a:tbl>
          </a:graphicData>
        </a:graphic>
      </p:graphicFrame>
      <p:sp>
        <p:nvSpPr>
          <p:cNvPr id="204" name="Google Shape;204;p11"/>
          <p:cNvSpPr txBox="1"/>
          <p:nvPr/>
        </p:nvSpPr>
        <p:spPr>
          <a:xfrm>
            <a:off x="457200" y="2926080"/>
            <a:ext cx="3108960" cy="4114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US" sz="850">
                <a:solidFill>
                  <a:schemeClr val="accent5"/>
                </a:solidFill>
                <a:latin typeface="Calibri"/>
                <a:ea typeface="Calibri"/>
                <a:cs typeface="Calibri"/>
                <a:sym typeface="Calibri"/>
              </a:rPr>
              <a:t>Qwen R1: 102/h &lt;105/h. Not demonstrated.</a:t>
            </a:r>
            <a:endParaRPr i="1" sz="850">
              <a:solidFill>
                <a:schemeClr val="accent5"/>
              </a:solidFill>
              <a:latin typeface="Calibri"/>
              <a:ea typeface="Calibri"/>
              <a:cs typeface="Calibri"/>
              <a:sym typeface="Calibri"/>
            </a:endParaRPr>
          </a:p>
          <a:p>
            <a:pPr indent="0" lvl="0" marL="0" rtl="0" algn="l">
              <a:spcBef>
                <a:spcPts val="0"/>
              </a:spcBef>
              <a:spcAft>
                <a:spcPts val="0"/>
              </a:spcAft>
              <a:buNone/>
            </a:pPr>
            <a:r>
              <a:rPr i="1" lang="en-US" sz="850">
                <a:solidFill>
                  <a:schemeClr val="accent5"/>
                </a:solidFill>
                <a:latin typeface="Calibri"/>
                <a:ea typeface="Calibri"/>
                <a:cs typeface="Calibri"/>
                <a:sym typeface="Calibri"/>
              </a:rPr>
              <a:t>*Llama R4: 1.9% client errors. Server completions do not erase them.</a:t>
            </a:r>
            <a:endParaRPr i="1" sz="850">
              <a:solidFill>
                <a:schemeClr val="accent5"/>
              </a:solidFill>
              <a:latin typeface="Calibri"/>
              <a:ea typeface="Calibri"/>
              <a:cs typeface="Calibri"/>
              <a:sym typeface="Calibri"/>
            </a:endParaRPr>
          </a:p>
          <a:p>
            <a:pPr indent="0" lvl="0" marL="0" rtl="0" algn="l">
              <a:spcBef>
                <a:spcPts val="0"/>
              </a:spcBef>
              <a:spcAft>
                <a:spcPts val="0"/>
              </a:spcAft>
              <a:buNone/>
            </a:pPr>
            <a:r>
              <a:t/>
            </a:r>
            <a:endParaRPr i="1" sz="850">
              <a:solidFill>
                <a:schemeClr val="accent5"/>
              </a:solidFill>
              <a:latin typeface="Calibri"/>
              <a:ea typeface="Calibri"/>
              <a:cs typeface="Calibri"/>
              <a:sym typeface="Calibri"/>
            </a:endParaRPr>
          </a:p>
          <a:p>
            <a:pPr indent="0" lvl="0" marL="0" marR="0" rtl="0" algn="l">
              <a:spcBef>
                <a:spcPts val="0"/>
              </a:spcBef>
              <a:spcAft>
                <a:spcPts val="0"/>
              </a:spcAft>
              <a:buClr>
                <a:schemeClr val="accent5"/>
              </a:buClr>
              <a:buSzPts val="850"/>
              <a:buFont typeface="Calibri"/>
              <a:buNone/>
            </a:pPr>
            <a:r>
              <a:t/>
            </a:r>
            <a:endParaRPr i="1" sz="850">
              <a:solidFill>
                <a:schemeClr val="accent5"/>
              </a:solidFill>
              <a:latin typeface="Calibri"/>
              <a:ea typeface="Calibri"/>
              <a:cs typeface="Calibri"/>
              <a:sym typeface="Calibri"/>
            </a:endParaRPr>
          </a:p>
        </p:txBody>
      </p:sp>
      <p:graphicFrame>
        <p:nvGraphicFramePr>
          <p:cNvPr id="205" name="Google Shape;205;p11"/>
          <p:cNvGraphicFramePr/>
          <p:nvPr/>
        </p:nvGraphicFramePr>
        <p:xfrm>
          <a:off x="457200" y="3337560"/>
          <a:ext cx="3000000" cy="3000000"/>
        </p:xfrm>
        <a:graphic>
          <a:graphicData uri="http://schemas.openxmlformats.org/drawingml/2006/table">
            <a:tbl>
              <a:tblPr>
                <a:noFill/>
                <a:tableStyleId>{DEE76F54-DCC2-4723-B163-4ADD76A469FF}</a:tableStyleId>
              </a:tblPr>
              <a:tblGrid>
                <a:gridCol w="960125"/>
                <a:gridCol w="914400"/>
                <a:gridCol w="960125"/>
                <a:gridCol w="274325"/>
              </a:tblGrid>
              <a:tr h="182875">
                <a:tc>
                  <a:txBody>
                    <a:bodyPr/>
                    <a:lstStyle/>
                    <a:p>
                      <a:pPr indent="0" lvl="0" marL="0" marR="0" rtl="0" algn="l">
                        <a:spcBef>
                          <a:spcPts val="0"/>
                        </a:spcBef>
                        <a:spcAft>
                          <a:spcPts val="0"/>
                        </a:spcAft>
                        <a:buClr>
                          <a:srgbClr val="FFFFFF"/>
                        </a:buClr>
                        <a:buSzPts val="850"/>
                        <a:buFont typeface="Calibri"/>
                        <a:buNone/>
                      </a:pPr>
                      <a:r>
                        <a:rPr b="1" lang="en-US" sz="850" u="none" cap="none" strike="noStrike">
                          <a:solidFill>
                            <a:srgbClr val="FFFFFF"/>
                          </a:solidFill>
                        </a:rPr>
                        <a:t>Prediction</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850"/>
                        <a:buFont typeface="Calibri"/>
                        <a:buNone/>
                      </a:pPr>
                      <a:r>
                        <a:rPr b="1" lang="en-US" sz="850" u="none" cap="none" strike="noStrike">
                          <a:solidFill>
                            <a:srgbClr val="FFFFFF"/>
                          </a:solidFill>
                        </a:rPr>
                        <a:t>Predicted</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rgbClr val="FFFFFF"/>
                        </a:buClr>
                        <a:buSzPts val="850"/>
                        <a:buFont typeface="Calibri"/>
                        <a:buNone/>
                      </a:pPr>
                      <a:r>
                        <a:rPr b="1" lang="en-US" sz="850" u="none" cap="none" strike="noStrike">
                          <a:solidFill>
                            <a:srgbClr val="FFFFFF"/>
                          </a:solidFill>
                        </a:rPr>
                        <a:t>Measured</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c>
                  <a:txBody>
                    <a:bodyPr/>
                    <a:lstStyle/>
                    <a:p>
                      <a:pPr indent="0" lvl="0" marL="0" marR="0" rtl="0" algn="l">
                        <a:spcBef>
                          <a:spcPts val="0"/>
                        </a:spcBef>
                        <a:spcAft>
                          <a:spcPts val="0"/>
                        </a:spcAft>
                        <a:buClr>
                          <a:schemeClr val="dk1"/>
                        </a:buClr>
                        <a:buSzPts val="850"/>
                        <a:buFont typeface="Calibri"/>
                        <a:buNone/>
                      </a:pPr>
                      <a:r>
                        <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solidFill>
                      <a:srgbClr val="12343B"/>
                    </a:solidFill>
                  </a:tcPr>
                </a:tc>
              </a:tr>
              <a:tr h="182875">
                <a:tc>
                  <a:txBody>
                    <a:bodyPr/>
                    <a:lstStyle/>
                    <a:p>
                      <a:pPr indent="0" lvl="0" marL="0" marR="0" rtl="0" algn="l">
                        <a:spcBef>
                          <a:spcPts val="0"/>
                        </a:spcBef>
                        <a:spcAft>
                          <a:spcPts val="0"/>
                        </a:spcAft>
                        <a:buClr>
                          <a:srgbClr val="000000"/>
                        </a:buClr>
                        <a:buSzPts val="850"/>
                        <a:buFont typeface="Calibri"/>
                        <a:buNone/>
                      </a:pPr>
                      <a:r>
                        <a:rPr b="1" lang="en-US" sz="850" u="none" cap="none" strike="noStrike">
                          <a:solidFill>
                            <a:srgbClr val="000000"/>
                          </a:solidFill>
                        </a:rPr>
                        <a:t>Bottleneck</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Ollama CPU; 502 at 300 s</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Confirmed</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ctr">
                        <a:spcBef>
                          <a:spcPts val="0"/>
                        </a:spcBef>
                        <a:spcAft>
                          <a:spcPts val="0"/>
                        </a:spcAft>
                        <a:buClr>
                          <a:srgbClr val="2A9D8F"/>
                        </a:buClr>
                        <a:buSzPts val="850"/>
                        <a:buFont typeface="Calibri"/>
                        <a:buNone/>
                      </a:pPr>
                      <a:r>
                        <a:rPr b="1" lang="en-US" sz="850" u="none" cap="none" strike="noStrike">
                          <a:solidFill>
                            <a:srgbClr val="2A9D8F"/>
                          </a:solidFill>
                        </a:rPr>
                        <a:t>✓</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850"/>
                        <a:buFont typeface="Calibri"/>
                        <a:buNone/>
                      </a:pPr>
                      <a:r>
                        <a:rPr b="1" lang="en-US" sz="850" u="none" cap="none" strike="noStrike">
                          <a:solidFill>
                            <a:srgbClr val="000000"/>
                          </a:solidFill>
                        </a:rPr>
                        <a:t>Accuracy G/Q/L</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52 / 74 / 71%</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30 / 69 / 76%</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850"/>
                        <a:buFont typeface="Calibri"/>
                        <a:buNone/>
                      </a:pPr>
                      <a:r>
                        <a:rPr b="1" lang="en-US" sz="850" u="none" cap="none" strike="noStrike">
                          <a:solidFill>
                            <a:srgbClr val="C0392B"/>
                          </a:solidFill>
                        </a:rPr>
                        <a:t>✗</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850"/>
                        <a:buFont typeface="Calibri"/>
                        <a:buNone/>
                      </a:pPr>
                      <a:r>
                        <a:rPr b="1" lang="en-US" sz="850" u="none" cap="none" strike="noStrike">
                          <a:solidFill>
                            <a:srgbClr val="000000"/>
                          </a:solidFill>
                        </a:rPr>
                        <a:t>Latency G/Q/L</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1.5 / 5 / 10 s</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2.4 / 7.9 / 13.2 s</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850"/>
                        <a:buFont typeface="Calibri"/>
                        <a:buNone/>
                      </a:pPr>
                      <a:r>
                        <a:rPr b="1" lang="en-US" sz="850" u="none" cap="none" strike="noStrike">
                          <a:solidFill>
                            <a:srgbClr val="C0392B"/>
                          </a:solidFill>
                        </a:rPr>
                        <a:t>✗</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850"/>
                        <a:buFont typeface="Calibri"/>
                        <a:buNone/>
                      </a:pPr>
                      <a:r>
                        <a:rPr b="1" lang="en-US" sz="850" u="none" cap="none" strike="noStrike">
                          <a:solidFill>
                            <a:srgbClr val="000000"/>
                          </a:solidFill>
                        </a:rPr>
                        <a:t>Qwen limit</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~700/h</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~470/h</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850"/>
                        <a:buFont typeface="Calibri"/>
                        <a:buNone/>
                      </a:pPr>
                      <a:r>
                        <a:rPr b="1" lang="en-US" sz="850" u="none" cap="none" strike="noStrike">
                          <a:solidFill>
                            <a:srgbClr val="C0392B"/>
                          </a:solidFill>
                        </a:rPr>
                        <a:t>✗</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850"/>
                        <a:buFont typeface="Calibri"/>
                        <a:buNone/>
                      </a:pPr>
                      <a:r>
                        <a:rPr b="1" lang="en-US" sz="850" u="none" cap="none" strike="noStrike">
                          <a:solidFill>
                            <a:srgbClr val="000000"/>
                          </a:solidFill>
                        </a:rPr>
                        <a:t>Hardest category</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Money transfer</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Gemma only</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850"/>
                        <a:buFont typeface="Calibri"/>
                        <a:buNone/>
                      </a:pPr>
                      <a:r>
                        <a:rPr b="1" lang="en-US" sz="850" u="none" cap="none" strike="noStrike">
                          <a:solidFill>
                            <a:srgbClr val="C0392B"/>
                          </a:solidFill>
                        </a:rPr>
                        <a:t>✗</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850"/>
                        <a:buFont typeface="Calibri"/>
                        <a:buNone/>
                      </a:pPr>
                      <a:r>
                        <a:rPr b="1" lang="en-US" sz="850" u="none" cap="none" strike="noStrike">
                          <a:solidFill>
                            <a:srgbClr val="000000"/>
                          </a:solidFill>
                        </a:rPr>
                        <a:t>Llama R1, R2</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pass</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fail</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850"/>
                        <a:buFont typeface="Calibri"/>
                        <a:buNone/>
                      </a:pPr>
                      <a:r>
                        <a:rPr b="1" lang="en-US" sz="850" u="none" cap="none" strike="noStrike">
                          <a:solidFill>
                            <a:srgbClr val="C0392B"/>
                          </a:solidFill>
                        </a:rPr>
                        <a:t>✗</a:t>
                      </a:r>
                      <a:endParaRPr sz="850" u="none" cap="none" strike="noStrike"/>
                    </a:p>
                  </a:txBody>
                  <a:tcPr marT="27425" marB="27425" marR="27425" marL="27425" anchor="ctr">
                    <a:lnL cap="flat" cmpd="sng" w="9525">
                      <a:solidFill>
                        <a:srgbClr val="D5DEE1"/>
                      </a:solidFill>
                      <a:prstDash val="solid"/>
                      <a:round/>
                      <a:headEnd len="sm" w="sm" type="none"/>
                      <a:tailEnd len="sm" w="sm" type="none"/>
                    </a:lnL>
                    <a:lnR cap="flat" cmpd="sng" w="9525">
                      <a:solidFill>
                        <a:srgbClr val="D5DEE1"/>
                      </a:solidFill>
                      <a:prstDash val="solid"/>
                      <a:round/>
                      <a:headEnd len="sm" w="sm" type="none"/>
                      <a:tailEnd len="sm" w="sm" type="none"/>
                    </a:lnR>
                    <a:lnT cap="flat" cmpd="sng" w="9525">
                      <a:solidFill>
                        <a:srgbClr val="D5DEE1"/>
                      </a:solidFill>
                      <a:prstDash val="solid"/>
                      <a:round/>
                      <a:headEnd len="sm" w="sm" type="none"/>
                      <a:tailEnd len="sm" w="sm" type="none"/>
                    </a:lnT>
                    <a:lnB cap="flat" cmpd="sng" w="9525">
                      <a:solidFill>
                        <a:srgbClr val="D5DEE1"/>
                      </a:solidFill>
                      <a:prstDash val="solid"/>
                      <a:round/>
                      <a:headEnd len="sm" w="sm" type="none"/>
                      <a:tailEnd len="sm" w="sm" type="none"/>
                    </a:lnB>
                  </a:tcPr>
                </a:tc>
              </a:tr>
            </a:tbl>
          </a:graphicData>
        </a:graphic>
      </p:graphicFrame>
      <p:sp>
        <p:nvSpPr>
          <p:cNvPr id="206" name="Google Shape;206;p11"/>
          <p:cNvSpPr/>
          <p:nvPr/>
        </p:nvSpPr>
        <p:spPr>
          <a:xfrm>
            <a:off x="3794760" y="868680"/>
            <a:ext cx="4892040" cy="2103120"/>
          </a:xfrm>
          <a:prstGeom prst="roundRect">
            <a:avLst>
              <a:gd fmla="val 3478" name="adj"/>
            </a:avLst>
          </a:prstGeom>
          <a:solidFill>
            <a:srgbClr val="DDF0EE"/>
          </a:solidFill>
          <a:ln cap="flat" cmpd="sng" w="12700">
            <a:solidFill>
              <a:srgbClr val="DD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txBox="1"/>
          <p:nvPr/>
        </p:nvSpPr>
        <p:spPr>
          <a:xfrm>
            <a:off x="3931920" y="941832"/>
            <a:ext cx="4617720" cy="2029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343B"/>
              </a:buClr>
              <a:buSzPts val="1200"/>
              <a:buFont typeface="Calibri"/>
              <a:buNone/>
            </a:pPr>
            <a:r>
              <a:rPr b="1" i="0" lang="en-US" sz="1200" u="none" cap="none" strike="noStrike">
                <a:solidFill>
                  <a:srgbClr val="12343B"/>
                </a:solidFill>
                <a:latin typeface="Calibri"/>
                <a:ea typeface="Calibri"/>
                <a:cs typeface="Calibri"/>
                <a:sym typeface="Calibri"/>
              </a:rPr>
              <a:t>Deploy Qwen3 4B (0edcdef34593) to suggest a category that an agent confirms</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The only candidate meeting every service requirement (R1–R4, R8) at peak + 30%: p95 11.8 s against 30 s, 0% errors, and capacity ~470/h (4.5× the 105/h need), which absorbs bursts and surges.</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Llama is 6.8 points more accurate and the only model passing R7, but on this CPU it fails R1 and R2 (p95 up to 90 s). We do not trade peak capacity for accuracy that still misses R5.</a:t>
            </a:r>
            <a:endParaRPr b="0" i="0" sz="1000" u="none" cap="none" strike="noStrike">
              <a:solidFill>
                <a:schemeClr val="dk1"/>
              </a:solidFill>
              <a:latin typeface="Calibri"/>
              <a:ea typeface="Calibri"/>
              <a:cs typeface="Calibri"/>
              <a:sym typeface="Calibri"/>
            </a:endParaRPr>
          </a:p>
          <a:p>
            <a:pPr indent="-152400" lvl="0" marL="152400" marR="0" rtl="0" algn="l">
              <a:spcBef>
                <a:spcPts val="3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Gemma is ruled out: 16.5% of tickets rejected, 30% accurate.</a:t>
            </a:r>
            <a:endParaRPr b="0" i="0" sz="1000" u="none" cap="none" strike="noStrike">
              <a:solidFill>
                <a:schemeClr val="dk1"/>
              </a:solidFill>
              <a:latin typeface="Calibri"/>
              <a:ea typeface="Calibri"/>
              <a:cs typeface="Calibri"/>
              <a:sym typeface="Calibri"/>
            </a:endParaRPr>
          </a:p>
        </p:txBody>
      </p:sp>
      <p:sp>
        <p:nvSpPr>
          <p:cNvPr id="208" name="Google Shape;208;p11"/>
          <p:cNvSpPr/>
          <p:nvPr/>
        </p:nvSpPr>
        <p:spPr>
          <a:xfrm>
            <a:off x="3794760" y="3108960"/>
            <a:ext cx="4892040" cy="731520"/>
          </a:xfrm>
          <a:prstGeom prst="roundRect">
            <a:avLst>
              <a:gd fmla="val 10000" name="adj"/>
            </a:avLst>
          </a:prstGeom>
          <a:solidFill>
            <a:srgbClr val="FBE3E0"/>
          </a:solidFill>
          <a:ln cap="flat" cmpd="sng" w="12700">
            <a:solidFill>
              <a:srgbClr val="FBE3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txBox="1"/>
          <p:nvPr/>
        </p:nvSpPr>
        <p:spPr>
          <a:xfrm>
            <a:off x="3931920" y="3172968"/>
            <a:ext cx="4617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Not met by any candidate: </a:t>
            </a:r>
            <a:r>
              <a:rPr b="0" i="0" lang="en-US" sz="1000" u="none" cap="none" strike="noStrike">
                <a:solidFill>
                  <a:schemeClr val="dk1"/>
                </a:solidFill>
                <a:latin typeface="Calibri"/>
                <a:ea typeface="Calibri"/>
                <a:cs typeface="Calibri"/>
                <a:sym typeface="Calibri"/>
              </a:rPr>
              <a:t>R5 (85% overall) and R6 (70% per category). Qwen also misses R7 (98.1%). Fully automatic routing cannot be promised on this hardware.</a:t>
            </a:r>
            <a:endParaRPr b="0" i="0" sz="1000" u="none" cap="none" strike="noStrike">
              <a:solidFill>
                <a:schemeClr val="dk1"/>
              </a:solidFill>
              <a:latin typeface="Calibri"/>
              <a:ea typeface="Calibri"/>
              <a:cs typeface="Calibri"/>
              <a:sym typeface="Calibri"/>
            </a:endParaRPr>
          </a:p>
        </p:txBody>
      </p:sp>
      <p:sp>
        <p:nvSpPr>
          <p:cNvPr id="210" name="Google Shape;210;p11"/>
          <p:cNvSpPr txBox="1"/>
          <p:nvPr/>
        </p:nvSpPr>
        <p:spPr>
          <a:xfrm>
            <a:off x="3794760" y="3904488"/>
            <a:ext cx="48920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Calibri"/>
              <a:buNone/>
            </a:pPr>
            <a:r>
              <a:rPr b="1" i="0" lang="en-US" sz="950" u="none" cap="none" strike="noStrike">
                <a:solidFill>
                  <a:schemeClr val="dk1"/>
                </a:solidFill>
                <a:latin typeface="Calibri"/>
                <a:ea typeface="Calibri"/>
                <a:cs typeface="Calibri"/>
                <a:sym typeface="Calibri"/>
              </a:rPr>
              <a:t>Why our predictions were wrong: </a:t>
            </a:r>
            <a:r>
              <a:rPr b="0" i="0" lang="en-US" sz="950" u="none" cap="none" strike="noStrike">
                <a:solidFill>
                  <a:schemeClr val="dk1"/>
                </a:solidFill>
                <a:latin typeface="Calibri"/>
                <a:ea typeface="Calibri"/>
                <a:cs typeface="Calibri"/>
                <a:sym typeface="Calibri"/>
              </a:rPr>
              <a:t>we modelled 8 equal cores, but the 256V has 4 low-power cores and runs inference inside WSL2, the likely reason every model ran 1.3–1.6× slower (not measured separately). We reasoned from mean utilisation and ignored Poisson bursts (Llama R2). The prompt lacks our protocol's rules, which caps accuracy. </a:t>
            </a:r>
            <a:r>
              <a:rPr b="1" i="0" lang="en-US" sz="950" u="none" cap="none" strike="noStrike">
                <a:solidFill>
                  <a:schemeClr val="dk1"/>
                </a:solidFill>
                <a:latin typeface="Calibri"/>
                <a:ea typeface="Calibri"/>
                <a:cs typeface="Calibri"/>
                <a:sym typeface="Calibri"/>
              </a:rPr>
              <a:t>Assignment 2: </a:t>
            </a:r>
            <a:r>
              <a:rPr b="0" i="0" lang="en-US" sz="950" u="none" cap="none" strike="noStrike">
                <a:solidFill>
                  <a:schemeClr val="dk1"/>
                </a:solidFill>
                <a:latin typeface="Calibri"/>
                <a:ea typeface="Calibri"/>
                <a:cs typeface="Calibri"/>
                <a:sym typeface="Calibri"/>
              </a:rPr>
              <a:t>case-insensitive parsing, protocol rules in the prompt, more cores per Ollama instance.</a:t>
            </a:r>
            <a:endParaRPr b="0" i="0" sz="950" u="none" cap="none" strike="noStrike">
              <a:solidFill>
                <a:schemeClr val="dk1"/>
              </a:solidFill>
              <a:latin typeface="Calibri"/>
              <a:ea typeface="Calibri"/>
              <a:cs typeface="Calibri"/>
              <a:sym typeface="Calibri"/>
            </a:endParaRPr>
          </a:p>
        </p:txBody>
      </p:sp>
      <p:sp>
        <p:nvSpPr>
          <p:cNvPr id="211" name="Google Shape;211;p11"/>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type="title"/>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Cambria"/>
              <a:buNone/>
            </a:pPr>
            <a:r>
              <a:rPr b="1" lang="en-US" sz="2200">
                <a:solidFill>
                  <a:schemeClr val="dk2"/>
                </a:solidFill>
                <a:latin typeface="Cambria"/>
                <a:ea typeface="Cambria"/>
                <a:cs typeface="Cambria"/>
                <a:sym typeface="Cambria"/>
              </a:rPr>
              <a:t>References and acknowledgements</a:t>
            </a:r>
            <a:endParaRPr sz="2200"/>
          </a:p>
        </p:txBody>
      </p:sp>
      <p:sp>
        <p:nvSpPr>
          <p:cNvPr id="218" name="Google Shape;218;p12"/>
          <p:cNvSpPr txBox="1"/>
          <p:nvPr/>
        </p:nvSpPr>
        <p:spPr>
          <a:xfrm>
            <a:off x="457200" y="86868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Data and workload sources</a:t>
            </a:r>
            <a:endParaRPr b="0" i="0" sz="1200" u="none" cap="none" strike="noStrike">
              <a:solidFill>
                <a:schemeClr val="dk1"/>
              </a:solidFill>
              <a:latin typeface="Calibri"/>
              <a:ea typeface="Calibri"/>
              <a:cs typeface="Calibri"/>
              <a:sym typeface="Calibri"/>
            </a:endParaRPr>
          </a:p>
        </p:txBody>
      </p:sp>
      <p:sp>
        <p:nvSpPr>
          <p:cNvPr id="219" name="Google Shape;219;p12"/>
          <p:cNvSpPr txBox="1"/>
          <p:nvPr/>
        </p:nvSpPr>
        <p:spPr>
          <a:xfrm>
            <a:off x="457200" y="1188720"/>
            <a:ext cx="4023360" cy="3566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Consumer Financial Protection Bureau. Consumer Complaint Database. consumerfinance.gov/data-research/consumer-complaints (course extract, team rows 9000–9999)</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[R1] Barclays (2026). UK complaints data, January to June 2026. home.barclays/who-we-are/reporting/uk-complaints-data</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[R2] CFPB (2024, 2025). Consumer Response Annual Reports 2023, 2024. files.consumerfinance.gov</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[R3] CFPB Consumer Complaint Database API, daily counts (retrieved 1 Oct 2026)</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[R4] Financial Conduct Authority (2026). Aggregate complaints data 2025 H2. fca.org.uk/data/complaints-data</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[R5] FIDReC (2025). FIDReC received a record 4,355 claims this fiscal year. fidrec.com.sg</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[R6] Call Centre Helper. 10 Things You Need to Know About Call Centres. callcentrehelper.com</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[R7] Taylor, J. W. (2012). Density forecasting of intraday call center arrivals. Management Science 58, 534–549</a:t>
            </a:r>
            <a:endParaRPr b="0" i="0" sz="950" u="none" cap="none" strike="noStrike">
              <a:solidFill>
                <a:schemeClr val="dk1"/>
              </a:solidFill>
              <a:latin typeface="Calibri"/>
              <a:ea typeface="Calibri"/>
              <a:cs typeface="Calibri"/>
              <a:sym typeface="Calibri"/>
            </a:endParaRPr>
          </a:p>
        </p:txBody>
      </p:sp>
      <p:sp>
        <p:nvSpPr>
          <p:cNvPr id="220" name="Google Shape;220;p12"/>
          <p:cNvSpPr txBox="1"/>
          <p:nvPr/>
        </p:nvSpPr>
        <p:spPr>
          <a:xfrm>
            <a:off x="4663440" y="86868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Software, model licences, acknowledgements</a:t>
            </a:r>
            <a:endParaRPr b="0" i="0" sz="1200" u="none" cap="none" strike="noStrike">
              <a:solidFill>
                <a:schemeClr val="dk1"/>
              </a:solidFill>
              <a:latin typeface="Calibri"/>
              <a:ea typeface="Calibri"/>
              <a:cs typeface="Calibri"/>
              <a:sym typeface="Calibri"/>
            </a:endParaRPr>
          </a:p>
        </p:txBody>
      </p:sp>
      <p:sp>
        <p:nvSpPr>
          <p:cNvPr id="221" name="Google Shape;221;p12"/>
          <p:cNvSpPr txBox="1"/>
          <p:nvPr/>
        </p:nvSpPr>
        <p:spPr>
          <a:xfrm>
            <a:off x="4663440" y="1188720"/>
            <a:ext cx="4023360" cy="3566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Ollama 0.12.3, MIT License. github.com/ollama/ollama</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Gemma 3 (Google DeepMind), Gemma Terms of Use. ai.google.dev/gemma/terms</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Qwen3-4B-Instruct-2507 (Alibaba Qwen), Apache License 2.0. huggingface.co/Qwen/Qwen3-4B-Instruct-2507</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Llama 3.1 8B Instruct (Meta), Llama 3.1 Community License. Built with Llama. huggingface.co/meta-llama/Llama-3.1-8B-Instruct</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Apache JMeter 5.6.3, Apache License 2.0 · PostgreSQL 16, PostgreSQL License · FastAPI, MIT</a:t>
            </a:r>
            <a:endParaRPr b="0" i="0" sz="9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950"/>
              <a:buFont typeface="Calibri"/>
              <a:buNone/>
            </a:pPr>
            <a:r>
              <a:rPr b="0" i="0" lang="en-US" sz="950" u="none" cap="none" strike="noStrike">
                <a:solidFill>
                  <a:schemeClr val="dk1"/>
                </a:solidFill>
                <a:latin typeface="Calibri"/>
                <a:ea typeface="Calibri"/>
                <a:cs typeface="Calibri"/>
                <a:sym typeface="Calibri"/>
              </a:rPr>
              <a:t>AI assistance: Claude Code (Anthropic) helped build the service and test tooling, as permitted by the brief. Labelling, test runs and judgements are the team's.</a:t>
            </a:r>
            <a:endParaRPr b="0" i="0" sz="950" u="none" cap="none" strike="noStrike">
              <a:solidFill>
                <a:schemeClr val="dk1"/>
              </a:solidFill>
              <a:latin typeface="Calibri"/>
              <a:ea typeface="Calibri"/>
              <a:cs typeface="Calibri"/>
              <a:sym typeface="Calibri"/>
            </a:endParaRPr>
          </a:p>
        </p:txBody>
      </p:sp>
      <p:sp>
        <p:nvSpPr>
          <p:cNvPr id="222" name="Google Shape;222;p12"/>
          <p:cNvSpPr txBox="1"/>
          <p:nvPr>
            <p:ph idx="4294967295" type="sldNum"/>
          </p:nvPr>
        </p:nvSpPr>
        <p:spPr>
          <a:xfrm>
            <a:off x="8229600" y="484632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E9AA3"/>
                </a:solidFill>
                <a:latin typeface="Calibri"/>
                <a:ea typeface="Calibri"/>
                <a:cs typeface="Calibri"/>
                <a:sym typeface="Calibri"/>
              </a:rPr>
              <a:t>‹#›</a:t>
            </a:fld>
            <a:endParaRPr b="0" i="0" sz="900" u="none" cap="none" strike="noStrike">
              <a:solidFill>
                <a:srgbClr val="8E9AA3"/>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riage Teal">
  <a:themeElements>
    <a:clrScheme name="Triage Teal">
      <a:dk1>
        <a:srgbClr val="1B2A30"/>
      </a:dk1>
      <a:lt1>
        <a:srgbClr val="FFFFFF"/>
      </a:lt1>
      <a:dk2>
        <a:srgbClr val="12343B"/>
      </a:dk2>
      <a:lt2>
        <a:srgbClr val="EEF3F4"/>
      </a:lt2>
      <a:accent1>
        <a:srgbClr val="2A9D8F"/>
      </a:accent1>
      <a:accent2>
        <a:srgbClr val="E07A1F"/>
      </a:accent2>
      <a:accent3>
        <a:srgbClr val="8E9AA3"/>
      </a:accent3>
      <a:accent4>
        <a:srgbClr val="C0392B"/>
      </a:accent4>
      <a:accent5>
        <a:srgbClr val="3D6B73"/>
      </a:accent5>
      <a:accent6>
        <a:srgbClr val="F2C14E"/>
      </a:accent6>
      <a:hlink>
        <a:srgbClr val="1F6F8B"/>
      </a:hlink>
      <a:folHlink>
        <a:srgbClr val="5B4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iage Teal">
  <a:themeElements>
    <a:clrScheme name="Triage Teal">
      <a:dk1>
        <a:srgbClr val="1B2A30"/>
      </a:dk1>
      <a:lt1>
        <a:srgbClr val="FFFFFF"/>
      </a:lt1>
      <a:dk2>
        <a:srgbClr val="12343B"/>
      </a:dk2>
      <a:lt2>
        <a:srgbClr val="EEF3F4"/>
      </a:lt2>
      <a:accent1>
        <a:srgbClr val="2A9D8F"/>
      </a:accent1>
      <a:accent2>
        <a:srgbClr val="E07A1F"/>
      </a:accent2>
      <a:accent3>
        <a:srgbClr val="8E9AA3"/>
      </a:accent3>
      <a:accent4>
        <a:srgbClr val="C0392B"/>
      </a:accent4>
      <a:accent5>
        <a:srgbClr val="3D6B73"/>
      </a:accent5>
      <a:accent6>
        <a:srgbClr val="F2C14E"/>
      </a:accent6>
      <a:hlink>
        <a:srgbClr val="1F6F8B"/>
      </a:hlink>
      <a:folHlink>
        <a:srgbClr val="5B4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2026-10-08T08:35:51Z</dcterms:created>
  <dc:creator>Group P1-9</dc:creator>
</cp:coreProperties>
</file>